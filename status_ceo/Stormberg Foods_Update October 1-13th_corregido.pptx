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10287000" cx="18288000"/>
  <p:notesSz cx="10287000" cy="18288000"/>
  <p:embeddedFontLst>
    <p:embeddedFont>
      <p:font typeface="Lato"/>
      <p:regular r:id="rId18"/>
      <p:bold r:id="rId19"/>
      <p:italic r:id="rId20"/>
      <p:boldItalic r:id="rId21"/>
    </p:embeddedFont>
    <p:embeddedFont>
      <p:font typeface="Spectral"/>
      <p:regular r:id="rId22"/>
      <p:bold r:id="rId23"/>
      <p:italic r:id="rId24"/>
      <p:boldItalic r:id="rId25"/>
    </p:embeddedFont>
    <p:embeddedFont>
      <p:font typeface="Arial Black"/>
      <p:regular r:id="rId26"/>
    </p:embeddedFont>
    <p:embeddedFont>
      <p:font typeface="Bricolage Grotesque"/>
      <p:regular r:id="rId27"/>
      <p:bold r:id="rId28"/>
    </p:embeddedFont>
    <p:embeddedFont>
      <p:font typeface="Oswald"/>
      <p:regular r:id="rId29"/>
      <p:bold r:id="rId30"/>
    </p:embeddedFont>
    <p:embeddedFont>
      <p:font typeface="Archiv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hxcjgCJVkdrFeAnnx0hzOTzUUO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22" Type="http://schemas.openxmlformats.org/officeDocument/2006/relationships/font" Target="fonts/Spectral-regular.fntdata"/><Relationship Id="rId21" Type="http://schemas.openxmlformats.org/officeDocument/2006/relationships/font" Target="fonts/Lato-boldItalic.fntdata"/><Relationship Id="rId24" Type="http://schemas.openxmlformats.org/officeDocument/2006/relationships/font" Target="fonts/Spectral-italic.fntdata"/><Relationship Id="rId23" Type="http://schemas.openxmlformats.org/officeDocument/2006/relationships/font" Target="fonts/Spectral-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rialBlack-regular.fntdata"/><Relationship Id="rId25" Type="http://schemas.openxmlformats.org/officeDocument/2006/relationships/font" Target="fonts/Spectral-boldItalic.fntdata"/><Relationship Id="rId28" Type="http://schemas.openxmlformats.org/officeDocument/2006/relationships/font" Target="fonts/BricolageGrotesque-bold.fntdata"/><Relationship Id="rId27" Type="http://schemas.openxmlformats.org/officeDocument/2006/relationships/font" Target="fonts/BricolageGrotesqu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Oswald-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Archivo-regular.fntdata"/><Relationship Id="rId30" Type="http://schemas.openxmlformats.org/officeDocument/2006/relationships/font" Target="fonts/Oswald-bold.fntdata"/><Relationship Id="rId11" Type="http://schemas.openxmlformats.org/officeDocument/2006/relationships/slide" Target="slides/slide7.xml"/><Relationship Id="rId33" Type="http://schemas.openxmlformats.org/officeDocument/2006/relationships/font" Target="fonts/Archivo-italic.fntdata"/><Relationship Id="rId10" Type="http://schemas.openxmlformats.org/officeDocument/2006/relationships/slide" Target="slides/slide6.xml"/><Relationship Id="rId32" Type="http://schemas.openxmlformats.org/officeDocument/2006/relationships/font" Target="fonts/Archivo-bold.fntdata"/><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font" Target="fonts/Archivo-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Lato-bold.fntdata"/><Relationship Id="rId18" Type="http://schemas.openxmlformats.org/officeDocument/2006/relationships/font" Target="fonts/La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14825" y="1371600"/>
            <a:ext cx="6858325" cy="6858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28700" y="8686800"/>
            <a:ext cx="8229600" cy="82296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Open by thanking him for his time. This is the follow-up to the October 1–9 email: what we did, what we see in the data, and what we'll do this week for each brand. We're not asking for decisions; we're sharing the plan and will report results in a week.</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First, how we work: we don't stop at what an AI tool says; we go into the dashboard and each platform to understand what drives every number. From that, there's one message per brand. Brooklyn: we held the margin while cutting investment by about 40%, and now the challenge is growing sales. Beg &amp; Barker: it's efficient, but competing in search is very hard, so we're shifting focus to new customers with promos and to Amazon. Ayoba: traffic is good, but the website converts poorly, so we propose testing toward Amazon.</a:t>
            </a:r>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Brooklyn is the brand responding best. From October 10 to 12 it sold $1,745 a day, nearly double the first nine days of the month, right as we turned Meta on. The adjusted flows now earn five times more per recipient than in September, Smile is growing since we started promoting it, and subscriptions are up. On Google, Brand is at a 4.69x ROAS and PMax at 2.12x, with Meta lifting them indirectly.</a:t>
            </a:r>
            <a:endParaRPr/>
          </a:p>
        </p:txBody>
      </p:sp>
      <p:sp>
        <p:nvSpPr>
          <p:cNvPr id="58" name="Google Shape;5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key point: we cut investment from $11K in May to $7.1K in September and a $6.3K trend in October, and the margin held at around 20%. Subscriptions and value per purchase went up. Conversion fell from 2.54% to 2.16% because of a campaign optimized for traffic, and sessions outside social dropped 11%. New customers went from 84 to 75, so acquisition is the next push. Meta retargeting does what it should, with an indirect lift on the other campaigns. In email we'll send more, more focused messages. The next step is growing sales, and it starts tomorrow with the Fast Sale.</a:t>
            </a:r>
            <a:endParaRPr/>
          </a:p>
        </p:txBody>
      </p:sp>
      <p:sp>
        <p:nvSpPr>
          <p:cNvPr id="113" name="Google Shape;11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Email and SMS are already driving repeat sales: $2,074 and 31 orders from October 1 to 14, 17 of them from automated flows. Game Day had a 60% open rate.</a:t>
            </a:r>
            <a:endParaRPr/>
          </a:p>
        </p:txBody>
      </p:sp>
      <p:sp>
        <p:nvSpPr>
          <p:cNvPr id="147" name="Google Shape;147;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Here is what's coming in email for Brooklyn. Each order moves the customer to the next flow, from the first order to the VIP Welcome and the anniversary, and if they stop buying they enter the right Win-Back. We're adding five new flows: Browse Abandonment, Replenishment timed to the pack, VIP Welcome at the third order with no discount, Anniversary, and Win-Back B for 2,493 lapsed repeat buyers. We're also moving to simultaneous hyper-segmented campaigns, with nobody getting two. We start this week, right after the Fast Sale.</a:t>
            </a:r>
            <a:endParaRPr/>
          </a:p>
        </p:txBody>
      </p:sp>
      <p:sp>
        <p:nvSpPr>
          <p:cNvPr id="185" name="Google Shape;18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Beg &amp; Barker has a solid base: $89.9K in sales this year, 44% from subscription renewals, steady month-to-month sales, and flows that earn 13 times more than campaigns. Brand search is Google's most profitable line.</a:t>
            </a:r>
            <a:endParaRPr/>
          </a:p>
        </p:txBody>
      </p:sp>
      <p:sp>
        <p:nvSpPr>
          <p:cNvPr id="230" name="Google Shape;23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To be transparent: sales are below last month, on 35% less investment. Efficiency is good, but investment is low, and new customers are hard to win because Amazon and our own brand compete for the same searches. So the focus is new-customer growth through promos, not brand, and shifting paid media toward Amazon while measuring its contribution. We're keeping the Meta budget for now, optimizing the active campaigns and monitoring their indirect return.</a:t>
            </a:r>
            <a:endParaRPr/>
          </a:p>
        </p:txBody>
      </p:sp>
      <p:sp>
        <p:nvSpPr>
          <p:cNvPr id="262" name="Google Shape;26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Ayoba has the highest ticket in the portfolio, $91 per order, a 60% gross margin, and $4.20 in sales for every dollar invested this year.</a:t>
            </a:r>
            <a:endParaRPr/>
          </a:p>
        </p:txBody>
      </p:sp>
      <p:sp>
        <p:nvSpPr>
          <p:cNvPr id="286" name="Google Shape;28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Ayoba sells very little on the website. Incoming traffic is good, but site layout and long product copy on pages like Beef Sticks and Gift Boxes hold conversion back; we are reviewing those changes. October is at $3.1K with a 3.6x blended return. 58% of customers are repeat buyers; the challenge is new-customer volume. The proposal is an A/B test: a brand campaign toward Amazon, with the goal of adding 10% to Amazon sales. We keep web spend low and optimized, and replicate Brooklyn's strategy.</a:t>
            </a:r>
            <a:endParaRPr/>
          </a:p>
        </p:txBody>
      </p:sp>
      <p:sp>
        <p:nvSpPr>
          <p:cNvPr id="318" name="Google Shape;31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Close with this week's plan by brand and the follow-up commitment: on October 21 we'll share the results of Brooklyn's Fast Sale and the first read of the Amazon tests. No decisions needed today.</a:t>
            </a:r>
            <a:endParaRPr/>
          </a:p>
        </p:txBody>
      </p:sp>
      <p:sp>
        <p:nvSpPr>
          <p:cNvPr id="341" name="Google Shape;34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Backup appendix: status of each commitment from the October 9 email. Use only if asked.</a:t>
            </a:r>
            <a:endParaRPr/>
          </a:p>
        </p:txBody>
      </p:sp>
      <p:sp>
        <p:nvSpPr>
          <p:cNvPr id="375" name="Google Shape;37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Backup appendix: Meta detail by brand. Use only if asked.</a:t>
            </a:r>
            <a:endParaRPr/>
          </a:p>
        </p:txBody>
      </p:sp>
      <p:sp>
        <p:nvSpPr>
          <p:cNvPr id="443" name="Google Shape;44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sp>
        <p:nvSpPr>
          <p:cNvPr id="12" name="Google Shape;12;p1"/>
          <p:cNvSpPr/>
          <p:nvPr/>
        </p:nvSpPr>
        <p:spPr>
          <a:xfrm>
            <a:off x="0" y="0"/>
            <a:ext cx="8191500" cy="10287000"/>
          </a:xfrm>
          <a:prstGeom prst="rect">
            <a:avLst/>
          </a:prstGeom>
          <a:solidFill>
            <a:srgbClr val="2B29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
          <p:cNvPicPr preferRelativeResize="0"/>
          <p:nvPr/>
        </p:nvPicPr>
        <p:blipFill rotWithShape="1">
          <a:blip r:embed="rId3">
            <a:alphaModFix/>
          </a:blip>
          <a:srcRect b="0" l="0" r="0" t="0"/>
          <a:stretch/>
        </p:blipFill>
        <p:spPr>
          <a:xfrm>
            <a:off x="0" y="1726142"/>
            <a:ext cx="8191500" cy="6834585"/>
          </a:xfrm>
          <a:prstGeom prst="rect">
            <a:avLst/>
          </a:prstGeom>
          <a:noFill/>
          <a:ln>
            <a:noFill/>
          </a:ln>
        </p:spPr>
      </p:pic>
      <p:sp>
        <p:nvSpPr>
          <p:cNvPr id="14" name="Google Shape;14;p1"/>
          <p:cNvSpPr/>
          <p:nvPr/>
        </p:nvSpPr>
        <p:spPr>
          <a:xfrm>
            <a:off x="9907031" y="1950905"/>
            <a:ext cx="6665436" cy="359833"/>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C4C4C"/>
              </a:buClr>
              <a:buSzPts val="2100"/>
              <a:buFont typeface="Lato"/>
              <a:buNone/>
            </a:pPr>
            <a:r>
              <a:rPr b="0" i="0" lang="en-US" sz="2100" u="none" cap="none" strike="noStrike">
                <a:solidFill>
                  <a:srgbClr val="4C4C4C"/>
                </a:solidFill>
                <a:latin typeface="Lato"/>
                <a:ea typeface="Lato"/>
                <a:cs typeface="Lato"/>
                <a:sym typeface="Lato"/>
              </a:rPr>
              <a:t>EXECUTIVE STATUS · OCTOBER 14, 2026</a:t>
            </a:r>
            <a:endParaRPr b="0" i="0" sz="2100" u="none" cap="none" strike="noStrike">
              <a:solidFill>
                <a:schemeClr val="dk1"/>
              </a:solidFill>
              <a:latin typeface="Calibri"/>
              <a:ea typeface="Calibri"/>
              <a:cs typeface="Calibri"/>
              <a:sym typeface="Calibri"/>
            </a:endParaRPr>
          </a:p>
        </p:txBody>
      </p:sp>
      <p:sp>
        <p:nvSpPr>
          <p:cNvPr id="15" name="Google Shape;15;p1"/>
          <p:cNvSpPr/>
          <p:nvPr/>
        </p:nvSpPr>
        <p:spPr>
          <a:xfrm>
            <a:off x="8923020" y="2558389"/>
            <a:ext cx="8633460" cy="2118254"/>
          </a:xfrm>
          <a:prstGeom prst="rect">
            <a:avLst/>
          </a:prstGeom>
          <a:noFill/>
          <a:ln>
            <a:noFill/>
          </a:ln>
        </p:spPr>
        <p:txBody>
          <a:bodyPr anchorCtr="0" anchor="t" bIns="25400" lIns="25400" spcFirstLastPara="1" rIns="25400" wrap="square" tIns="25400">
            <a:normAutofit/>
          </a:bodyPr>
          <a:lstStyle/>
          <a:p>
            <a:pPr indent="0" lvl="0" marL="0" marR="0" rtl="0" algn="ctr">
              <a:lnSpc>
                <a:spcPct val="69017"/>
              </a:lnSpc>
              <a:spcBef>
                <a:spcPts val="0"/>
              </a:spcBef>
              <a:spcAft>
                <a:spcPts val="0"/>
              </a:spcAft>
              <a:buClr>
                <a:srgbClr val="9C6B48"/>
              </a:buClr>
              <a:buSzPts val="7800"/>
              <a:buFont typeface="Spectral"/>
              <a:buNone/>
            </a:pPr>
            <a:r>
              <a:rPr b="1" i="0" lang="en-US" sz="7800" u="none" cap="none" strike="noStrike">
                <a:solidFill>
                  <a:srgbClr val="9C6B48"/>
                </a:solidFill>
                <a:latin typeface="Spectral"/>
                <a:ea typeface="Spectral"/>
                <a:cs typeface="Spectral"/>
                <a:sym typeface="Spectral"/>
              </a:rPr>
              <a:t>OCTOBER PROGRESS</a:t>
            </a:r>
            <a:endParaRPr b="0" i="0" sz="7800" u="none" cap="none" strike="noStrike">
              <a:solidFill>
                <a:schemeClr val="dk1"/>
              </a:solidFill>
              <a:latin typeface="Calibri"/>
              <a:ea typeface="Calibri"/>
              <a:cs typeface="Calibri"/>
              <a:sym typeface="Calibri"/>
            </a:endParaRPr>
          </a:p>
        </p:txBody>
      </p:sp>
      <p:sp>
        <p:nvSpPr>
          <p:cNvPr id="16" name="Google Shape;16;p1"/>
          <p:cNvSpPr/>
          <p:nvPr/>
        </p:nvSpPr>
        <p:spPr>
          <a:xfrm>
            <a:off x="9217343" y="4924293"/>
            <a:ext cx="8044815" cy="681567"/>
          </a:xfrm>
          <a:prstGeom prst="rect">
            <a:avLst/>
          </a:prstGeom>
          <a:noFill/>
          <a:ln>
            <a:noFill/>
          </a:ln>
        </p:spPr>
        <p:txBody>
          <a:bodyPr anchorCtr="0" anchor="t" bIns="25400" lIns="25400" spcFirstLastPara="1" rIns="25400" wrap="square" tIns="25400">
            <a:normAutofit/>
          </a:bodyPr>
          <a:lstStyle/>
          <a:p>
            <a:pPr indent="0" lvl="0" marL="0" marR="0" rtl="0" algn="ctr">
              <a:lnSpc>
                <a:spcPct val="90000"/>
              </a:lnSpc>
              <a:spcBef>
                <a:spcPts val="0"/>
              </a:spcBef>
              <a:spcAft>
                <a:spcPts val="0"/>
              </a:spcAft>
              <a:buClr>
                <a:srgbClr val="4C4C4C"/>
              </a:buClr>
              <a:buSzPts val="2100"/>
              <a:buFont typeface="Lato"/>
              <a:buNone/>
            </a:pPr>
            <a:r>
              <a:rPr b="0" i="0" lang="en-US" sz="2100" u="none" cap="none" strike="noStrike">
                <a:solidFill>
                  <a:srgbClr val="4C4C4C"/>
                </a:solidFill>
                <a:latin typeface="Lato"/>
                <a:ea typeface="Lato"/>
                <a:cs typeface="Lato"/>
                <a:sym typeface="Lato"/>
              </a:rPr>
              <a:t>FOLLOW-UP ON THE OCTOBER 1–9 UPDATE · DATA THROUGH OCTOBER 13</a:t>
            </a:r>
            <a:endParaRPr b="0" i="0" sz="2100" u="none" cap="none" strike="noStrike">
              <a:solidFill>
                <a:schemeClr val="dk1"/>
              </a:solidFill>
              <a:latin typeface="Calibri"/>
              <a:ea typeface="Calibri"/>
              <a:cs typeface="Calibri"/>
              <a:sym typeface="Calibri"/>
            </a:endParaRPr>
          </a:p>
        </p:txBody>
      </p:sp>
      <p:sp>
        <p:nvSpPr>
          <p:cNvPr id="17" name="Google Shape;17;p1"/>
          <p:cNvSpPr/>
          <p:nvPr/>
        </p:nvSpPr>
        <p:spPr>
          <a:xfrm>
            <a:off x="12973050" y="5929710"/>
            <a:ext cx="533400" cy="38100"/>
          </a:xfrm>
          <a:prstGeom prst="rect">
            <a:avLst/>
          </a:prstGeom>
          <a:solidFill>
            <a:srgbClr val="4C4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1"/>
          <p:cNvPicPr preferRelativeResize="0"/>
          <p:nvPr/>
        </p:nvPicPr>
        <p:blipFill rotWithShape="1">
          <a:blip r:embed="rId4">
            <a:alphaModFix/>
          </a:blip>
          <a:srcRect b="0" l="0" r="0" t="0"/>
          <a:stretch/>
        </p:blipFill>
        <p:spPr>
          <a:xfrm>
            <a:off x="9334500" y="6786960"/>
            <a:ext cx="7810500" cy="787135"/>
          </a:xfrm>
          <a:prstGeom prst="rect">
            <a:avLst/>
          </a:prstGeom>
          <a:noFill/>
          <a:ln>
            <a:noFill/>
          </a:ln>
        </p:spPr>
      </p:pic>
      <p:sp>
        <p:nvSpPr>
          <p:cNvPr id="19" name="Google Shape;19;p1"/>
          <p:cNvSpPr/>
          <p:nvPr/>
        </p:nvSpPr>
        <p:spPr>
          <a:xfrm>
            <a:off x="8191500" y="9144000"/>
            <a:ext cx="10096500" cy="1143000"/>
          </a:xfrm>
          <a:prstGeom prst="rect">
            <a:avLst/>
          </a:prstGeom>
          <a:solidFill>
            <a:srgbClr val="4C4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9036447" y="9554634"/>
            <a:ext cx="3327479"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2B38A"/>
              </a:buClr>
              <a:buSzPts val="2100"/>
              <a:buFont typeface="Lato"/>
              <a:buNone/>
            </a:pPr>
            <a:r>
              <a:rPr b="0" i="0" lang="en-US" sz="2100" u="none" cap="none" strike="noStrike">
                <a:solidFill>
                  <a:srgbClr val="E2B38A"/>
                </a:solidFill>
                <a:latin typeface="Lato"/>
                <a:ea typeface="Lato"/>
                <a:cs typeface="Lato"/>
                <a:sym typeface="Lato"/>
              </a:rPr>
              <a:t>BROOKLYN BILTONG</a:t>
            </a:r>
            <a:endParaRPr b="0" i="0" sz="2100" u="none" cap="none" strike="noStrike">
              <a:solidFill>
                <a:schemeClr val="dk1"/>
              </a:solidFill>
              <a:latin typeface="Calibri"/>
              <a:ea typeface="Calibri"/>
              <a:cs typeface="Calibri"/>
              <a:sym typeface="Calibri"/>
            </a:endParaRPr>
          </a:p>
        </p:txBody>
      </p:sp>
      <p:sp>
        <p:nvSpPr>
          <p:cNvPr id="21" name="Google Shape;21;p1"/>
          <p:cNvSpPr/>
          <p:nvPr/>
        </p:nvSpPr>
        <p:spPr>
          <a:xfrm>
            <a:off x="12594828" y="9554634"/>
            <a:ext cx="2361658"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2B38A"/>
              </a:buClr>
              <a:buSzPts val="2100"/>
              <a:buFont typeface="Lato"/>
              <a:buNone/>
            </a:pPr>
            <a:r>
              <a:rPr b="0" i="0" lang="en-US" sz="2100" u="none" cap="none" strike="noStrike">
                <a:solidFill>
                  <a:srgbClr val="E2B38A"/>
                </a:solidFill>
                <a:latin typeface="Lato"/>
                <a:ea typeface="Lato"/>
                <a:cs typeface="Lato"/>
                <a:sym typeface="Lato"/>
              </a:rPr>
              <a:t>AYOBA FOODS</a:t>
            </a:r>
            <a:endParaRPr b="0" i="0" sz="2100" u="none" cap="none" strike="noStrike">
              <a:solidFill>
                <a:schemeClr val="dk1"/>
              </a:solidFill>
              <a:latin typeface="Calibri"/>
              <a:ea typeface="Calibri"/>
              <a:cs typeface="Calibri"/>
              <a:sym typeface="Calibri"/>
            </a:endParaRPr>
          </a:p>
        </p:txBody>
      </p:sp>
      <p:sp>
        <p:nvSpPr>
          <p:cNvPr id="22" name="Google Shape;22;p1"/>
          <p:cNvSpPr/>
          <p:nvPr/>
        </p:nvSpPr>
        <p:spPr>
          <a:xfrm>
            <a:off x="15275190" y="9554634"/>
            <a:ext cx="2384650"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E2B38A"/>
              </a:buClr>
              <a:buSzPts val="2100"/>
              <a:buFont typeface="Lato"/>
              <a:buNone/>
            </a:pPr>
            <a:r>
              <a:rPr b="0" i="0" lang="en-US" sz="2100" u="none" cap="none" strike="noStrike">
                <a:solidFill>
                  <a:srgbClr val="E2B38A"/>
                </a:solidFill>
                <a:latin typeface="Lato"/>
                <a:ea typeface="Lato"/>
                <a:cs typeface="Lato"/>
                <a:sym typeface="Lato"/>
              </a:rPr>
              <a:t>BEG &amp; BARKER</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27" name="Shape 27"/>
        <p:cNvGrpSpPr/>
        <p:nvPr/>
      </p:nvGrpSpPr>
      <p:grpSpPr>
        <a:xfrm>
          <a:off x="0" y="0"/>
          <a:ext cx="0" cy="0"/>
          <a:chOff x="0" y="0"/>
          <a:chExt cx="0" cy="0"/>
        </a:xfrm>
      </p:grpSpPr>
      <p:sp>
        <p:nvSpPr>
          <p:cNvPr id="28" name="Google Shape;28;p2"/>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14E2C"/>
              </a:buClr>
              <a:buSzPts val="1950"/>
              <a:buFont typeface="Oswald"/>
              <a:buNone/>
            </a:pPr>
            <a:r>
              <a:rPr lang="en-US" sz="1950">
                <a:solidFill>
                  <a:srgbClr val="B14E2C"/>
                </a:solidFill>
                <a:latin typeface="Oswald"/>
                <a:ea typeface="Oswald"/>
                <a:cs typeface="Oswald"/>
                <a:sym typeface="Oswald"/>
              </a:rPr>
              <a:t>EXECUTIVE SUMMARY</a:t>
            </a:r>
            <a:endParaRPr sz="1950">
              <a:solidFill>
                <a:schemeClr val="dk1"/>
              </a:solidFill>
              <a:latin typeface="Calibri"/>
              <a:ea typeface="Calibri"/>
              <a:cs typeface="Calibri"/>
              <a:sym typeface="Calibri"/>
            </a:endParaRPr>
          </a:p>
        </p:txBody>
      </p:sp>
      <p:sp>
        <p:nvSpPr>
          <p:cNvPr id="29" name="Google Shape;29;p2"/>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76990"/>
              </a:lnSpc>
              <a:spcBef>
                <a:spcPts val="0"/>
              </a:spcBef>
              <a:spcAft>
                <a:spcPts val="0"/>
              </a:spcAft>
              <a:buClr>
                <a:srgbClr val="16211F"/>
              </a:buClr>
              <a:buSzPts val="4800"/>
              <a:buFont typeface="Arial Black"/>
              <a:buNone/>
            </a:pPr>
            <a:r>
              <a:rPr b="1" lang="en-US" sz="4800">
                <a:solidFill>
                  <a:srgbClr val="16211F"/>
                </a:solidFill>
                <a:latin typeface="Arial Black"/>
                <a:ea typeface="Arial Black"/>
                <a:cs typeface="Arial Black"/>
                <a:sym typeface="Arial Black"/>
              </a:rPr>
              <a:t>One focus: efficiency and profitable growth</a:t>
            </a:r>
            <a:endParaRPr sz="4800">
              <a:solidFill>
                <a:schemeClr val="dk1"/>
              </a:solidFill>
              <a:latin typeface="Calibri"/>
              <a:ea typeface="Calibri"/>
              <a:cs typeface="Calibri"/>
              <a:sym typeface="Calibri"/>
            </a:endParaRPr>
          </a:p>
        </p:txBody>
      </p:sp>
      <p:sp>
        <p:nvSpPr>
          <p:cNvPr id="30" name="Google Shape;30;p2"/>
          <p:cNvSpPr/>
          <p:nvPr/>
        </p:nvSpPr>
        <p:spPr>
          <a:xfrm>
            <a:off x="952500" y="2546350"/>
            <a:ext cx="5257800" cy="3217333"/>
          </a:xfrm>
          <a:prstGeom prst="roundRect">
            <a:avLst>
              <a:gd fmla="val 5329"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1371600" y="2889250"/>
            <a:ext cx="4861560" cy="952500"/>
          </a:xfrm>
          <a:prstGeom prst="rect">
            <a:avLst/>
          </a:prstGeom>
          <a:noFill/>
          <a:ln>
            <a:noFill/>
          </a:ln>
        </p:spPr>
        <p:txBody>
          <a:bodyPr anchorCtr="0" anchor="t" bIns="25400" lIns="25400" spcFirstLastPara="1" rIns="25400" wrap="square" tIns="25400">
            <a:normAutofit/>
          </a:bodyPr>
          <a:lstStyle/>
          <a:p>
            <a:pPr indent="0" lvl="0" marL="0" marR="0" rtl="0" algn="l">
              <a:lnSpc>
                <a:spcPct val="71053"/>
              </a:lnSpc>
              <a:spcBef>
                <a:spcPts val="0"/>
              </a:spcBef>
              <a:spcAft>
                <a:spcPts val="0"/>
              </a:spcAft>
              <a:buClr>
                <a:srgbClr val="9E4527"/>
              </a:buClr>
              <a:buSzPts val="7200"/>
              <a:buFont typeface="Arial Black"/>
              <a:buNone/>
            </a:pPr>
            <a:r>
              <a:rPr b="1" lang="en-US" sz="7200">
                <a:solidFill>
                  <a:srgbClr val="9E4527"/>
                </a:solidFill>
                <a:latin typeface="Arial Black"/>
                <a:ea typeface="Arial Black"/>
                <a:cs typeface="Arial Black"/>
                <a:sym typeface="Arial Black"/>
              </a:rPr>
              <a:t>+90%</a:t>
            </a:r>
            <a:endParaRPr sz="7200">
              <a:solidFill>
                <a:schemeClr val="dk1"/>
              </a:solidFill>
              <a:latin typeface="Calibri"/>
              <a:ea typeface="Calibri"/>
              <a:cs typeface="Calibri"/>
              <a:sym typeface="Calibri"/>
            </a:endParaRPr>
          </a:p>
        </p:txBody>
      </p:sp>
      <p:sp>
        <p:nvSpPr>
          <p:cNvPr id="32" name="Google Shape;32;p2"/>
          <p:cNvSpPr/>
          <p:nvPr/>
        </p:nvSpPr>
        <p:spPr>
          <a:xfrm>
            <a:off x="1371600" y="3879850"/>
            <a:ext cx="486156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Archivo"/>
              <a:buNone/>
            </a:pPr>
            <a:r>
              <a:rPr b="1" lang="en-US" sz="2100">
                <a:solidFill>
                  <a:srgbClr val="16211F"/>
                </a:solidFill>
                <a:latin typeface="Archivo"/>
                <a:ea typeface="Archivo"/>
                <a:cs typeface="Archivo"/>
                <a:sym typeface="Archivo"/>
              </a:rPr>
              <a:t>Brooklyn daily sales</a:t>
            </a:r>
            <a:endParaRPr sz="2100">
              <a:solidFill>
                <a:schemeClr val="dk1"/>
              </a:solidFill>
              <a:latin typeface="Calibri"/>
              <a:ea typeface="Calibri"/>
              <a:cs typeface="Calibri"/>
              <a:sym typeface="Calibri"/>
            </a:endParaRPr>
          </a:p>
        </p:txBody>
      </p:sp>
      <p:sp>
        <p:nvSpPr>
          <p:cNvPr id="33" name="Google Shape;33;p2"/>
          <p:cNvSpPr/>
          <p:nvPr/>
        </p:nvSpPr>
        <p:spPr>
          <a:xfrm>
            <a:off x="1371600" y="4252383"/>
            <a:ext cx="4861560"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Oct 10–12 vs. Oct 1–9</a:t>
            </a:r>
            <a:endParaRPr sz="1800">
              <a:solidFill>
                <a:schemeClr val="dk1"/>
              </a:solidFill>
              <a:latin typeface="Calibri"/>
              <a:ea typeface="Calibri"/>
              <a:cs typeface="Calibri"/>
              <a:sym typeface="Calibri"/>
            </a:endParaRPr>
          </a:p>
        </p:txBody>
      </p:sp>
      <p:sp>
        <p:nvSpPr>
          <p:cNvPr id="34" name="Google Shape;34;p2"/>
          <p:cNvSpPr/>
          <p:nvPr/>
        </p:nvSpPr>
        <p:spPr>
          <a:xfrm>
            <a:off x="6515100" y="2546350"/>
            <a:ext cx="5257800" cy="3217333"/>
          </a:xfrm>
          <a:prstGeom prst="roundRect">
            <a:avLst>
              <a:gd fmla="val 5329"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934200" y="2889250"/>
            <a:ext cx="4552188" cy="1866900"/>
          </a:xfrm>
          <a:prstGeom prst="rect">
            <a:avLst/>
          </a:prstGeom>
          <a:noFill/>
          <a:ln>
            <a:noFill/>
          </a:ln>
        </p:spPr>
        <p:txBody>
          <a:bodyPr anchorCtr="0" anchor="t" bIns="25400" lIns="25400" spcFirstLastPara="1" rIns="25400" wrap="square" tIns="25400">
            <a:normAutofit/>
          </a:bodyPr>
          <a:lstStyle/>
          <a:p>
            <a:pPr indent="0" lvl="0" marL="0" marR="0" rtl="0" algn="l">
              <a:lnSpc>
                <a:spcPct val="71053"/>
              </a:lnSpc>
              <a:spcBef>
                <a:spcPts val="0"/>
              </a:spcBef>
              <a:spcAft>
                <a:spcPts val="0"/>
              </a:spcAft>
              <a:buClr>
                <a:srgbClr val="9E4527"/>
              </a:buClr>
              <a:buSzPts val="7200"/>
              <a:buFont typeface="Arial Black"/>
              <a:buNone/>
            </a:pPr>
            <a:r>
              <a:rPr b="1" lang="en-US" sz="7200">
                <a:solidFill>
                  <a:srgbClr val="9E4527"/>
                </a:solidFill>
                <a:latin typeface="Arial Black"/>
                <a:ea typeface="Arial Black"/>
                <a:cs typeface="Arial Black"/>
                <a:sym typeface="Arial Black"/>
              </a:rPr>
              <a:t>$11K → $6.3K</a:t>
            </a:r>
            <a:endParaRPr sz="7200">
              <a:solidFill>
                <a:schemeClr val="dk1"/>
              </a:solidFill>
              <a:latin typeface="Calibri"/>
              <a:ea typeface="Calibri"/>
              <a:cs typeface="Calibri"/>
              <a:sym typeface="Calibri"/>
            </a:endParaRPr>
          </a:p>
        </p:txBody>
      </p:sp>
      <p:sp>
        <p:nvSpPr>
          <p:cNvPr id="36" name="Google Shape;36;p2"/>
          <p:cNvSpPr/>
          <p:nvPr/>
        </p:nvSpPr>
        <p:spPr>
          <a:xfrm>
            <a:off x="6934200" y="4794250"/>
            <a:ext cx="486156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Archivo"/>
              <a:buNone/>
            </a:pPr>
            <a:r>
              <a:rPr b="1" lang="en-US" sz="2100">
                <a:solidFill>
                  <a:srgbClr val="16211F"/>
                </a:solidFill>
                <a:latin typeface="Archivo"/>
                <a:ea typeface="Archivo"/>
                <a:cs typeface="Archivo"/>
                <a:sym typeface="Archivo"/>
              </a:rPr>
              <a:t>Brooklyn investment</a:t>
            </a:r>
            <a:endParaRPr sz="2100">
              <a:solidFill>
                <a:schemeClr val="dk1"/>
              </a:solidFill>
              <a:latin typeface="Calibri"/>
              <a:ea typeface="Calibri"/>
              <a:cs typeface="Calibri"/>
              <a:sym typeface="Calibri"/>
            </a:endParaRPr>
          </a:p>
        </p:txBody>
      </p:sp>
      <p:sp>
        <p:nvSpPr>
          <p:cNvPr id="37" name="Google Shape;37;p2"/>
          <p:cNvSpPr/>
          <p:nvPr/>
        </p:nvSpPr>
        <p:spPr>
          <a:xfrm>
            <a:off x="6934200" y="5166783"/>
            <a:ext cx="4861560"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May vs. Oct, steady margin</a:t>
            </a:r>
            <a:endParaRPr sz="1800">
              <a:solidFill>
                <a:schemeClr val="dk1"/>
              </a:solidFill>
              <a:latin typeface="Calibri"/>
              <a:ea typeface="Calibri"/>
              <a:cs typeface="Calibri"/>
              <a:sym typeface="Calibri"/>
            </a:endParaRPr>
          </a:p>
        </p:txBody>
      </p:sp>
      <p:sp>
        <p:nvSpPr>
          <p:cNvPr id="38" name="Google Shape;38;p2"/>
          <p:cNvSpPr/>
          <p:nvPr/>
        </p:nvSpPr>
        <p:spPr>
          <a:xfrm>
            <a:off x="12077700" y="2546350"/>
            <a:ext cx="5257800" cy="3217333"/>
          </a:xfrm>
          <a:prstGeom prst="roundRect">
            <a:avLst>
              <a:gd fmla="val 5329"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2496800" y="2889250"/>
            <a:ext cx="4861560" cy="952500"/>
          </a:xfrm>
          <a:prstGeom prst="rect">
            <a:avLst/>
          </a:prstGeom>
          <a:noFill/>
          <a:ln>
            <a:noFill/>
          </a:ln>
        </p:spPr>
        <p:txBody>
          <a:bodyPr anchorCtr="0" anchor="t" bIns="25400" lIns="25400" spcFirstLastPara="1" rIns="25400" wrap="square" tIns="25400">
            <a:normAutofit/>
          </a:bodyPr>
          <a:lstStyle/>
          <a:p>
            <a:pPr indent="0" lvl="0" marL="0" marR="0" rtl="0" algn="l">
              <a:lnSpc>
                <a:spcPct val="71053"/>
              </a:lnSpc>
              <a:spcBef>
                <a:spcPts val="0"/>
              </a:spcBef>
              <a:spcAft>
                <a:spcPts val="0"/>
              </a:spcAft>
              <a:buClr>
                <a:srgbClr val="285858"/>
              </a:buClr>
              <a:buSzPts val="7200"/>
              <a:buFont typeface="Arial Black"/>
              <a:buNone/>
            </a:pPr>
            <a:r>
              <a:rPr b="1" lang="en-US" sz="7200">
                <a:solidFill>
                  <a:srgbClr val="285858"/>
                </a:solidFill>
                <a:latin typeface="Arial Black"/>
                <a:ea typeface="Arial Black"/>
                <a:cs typeface="Arial Black"/>
                <a:sym typeface="Arial Black"/>
              </a:rPr>
              <a:t>58%</a:t>
            </a:r>
            <a:endParaRPr sz="7200">
              <a:solidFill>
                <a:schemeClr val="dk1"/>
              </a:solidFill>
              <a:latin typeface="Calibri"/>
              <a:ea typeface="Calibri"/>
              <a:cs typeface="Calibri"/>
              <a:sym typeface="Calibri"/>
            </a:endParaRPr>
          </a:p>
        </p:txBody>
      </p:sp>
      <p:sp>
        <p:nvSpPr>
          <p:cNvPr id="40" name="Google Shape;40;p2"/>
          <p:cNvSpPr/>
          <p:nvPr/>
        </p:nvSpPr>
        <p:spPr>
          <a:xfrm>
            <a:off x="12496800" y="3879850"/>
            <a:ext cx="4861560" cy="3344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Archivo"/>
              <a:buNone/>
            </a:pPr>
            <a:r>
              <a:rPr b="1" lang="en-US" sz="2100">
                <a:solidFill>
                  <a:srgbClr val="16211F"/>
                </a:solidFill>
                <a:latin typeface="Archivo"/>
                <a:ea typeface="Archivo"/>
                <a:cs typeface="Archivo"/>
                <a:sym typeface="Archivo"/>
              </a:rPr>
              <a:t>Of Ayoba's customers</a:t>
            </a:r>
            <a:endParaRPr sz="2100">
              <a:solidFill>
                <a:schemeClr val="dk1"/>
              </a:solidFill>
              <a:latin typeface="Calibri"/>
              <a:ea typeface="Calibri"/>
              <a:cs typeface="Calibri"/>
              <a:sym typeface="Calibri"/>
            </a:endParaRPr>
          </a:p>
        </p:txBody>
      </p:sp>
      <p:sp>
        <p:nvSpPr>
          <p:cNvPr id="41" name="Google Shape;41;p2"/>
          <p:cNvSpPr/>
          <p:nvPr/>
        </p:nvSpPr>
        <p:spPr>
          <a:xfrm>
            <a:off x="12496800" y="4252383"/>
            <a:ext cx="4861560"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are repeat customers</a:t>
            </a:r>
            <a:endParaRPr sz="1800">
              <a:solidFill>
                <a:schemeClr val="dk1"/>
              </a:solidFill>
              <a:latin typeface="Calibri"/>
              <a:ea typeface="Calibri"/>
              <a:cs typeface="Calibri"/>
              <a:sym typeface="Calibri"/>
            </a:endParaRPr>
          </a:p>
        </p:txBody>
      </p:sp>
      <p:sp>
        <p:nvSpPr>
          <p:cNvPr id="42" name="Google Shape;42;p2"/>
          <p:cNvSpPr/>
          <p:nvPr/>
        </p:nvSpPr>
        <p:spPr>
          <a:xfrm>
            <a:off x="952500" y="6182784"/>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950"/>
              <a:buFont typeface="Oswald"/>
              <a:buNone/>
            </a:pPr>
            <a:r>
              <a:rPr lang="en-US" sz="1950">
                <a:solidFill>
                  <a:srgbClr val="16211F"/>
                </a:solidFill>
                <a:latin typeface="Oswald"/>
                <a:ea typeface="Oswald"/>
                <a:cs typeface="Oswald"/>
                <a:sym typeface="Oswald"/>
              </a:rPr>
              <a:t>THE MESSAGE BY BRAND</a:t>
            </a:r>
            <a:endParaRPr sz="1950">
              <a:solidFill>
                <a:schemeClr val="dk1"/>
              </a:solidFill>
              <a:latin typeface="Calibri"/>
              <a:ea typeface="Calibri"/>
              <a:cs typeface="Calibri"/>
              <a:sym typeface="Calibri"/>
            </a:endParaRPr>
          </a:p>
        </p:txBody>
      </p:sp>
      <p:sp>
        <p:nvSpPr>
          <p:cNvPr id="43" name="Google Shape;43;p2"/>
          <p:cNvSpPr/>
          <p:nvPr/>
        </p:nvSpPr>
        <p:spPr>
          <a:xfrm>
            <a:off x="952500" y="6737350"/>
            <a:ext cx="5257800" cy="2336006"/>
          </a:xfrm>
          <a:prstGeom prst="roundRect">
            <a:avLst>
              <a:gd fmla="val 7339"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 name="Google Shape;44;p2"/>
          <p:cNvPicPr preferRelativeResize="0"/>
          <p:nvPr/>
        </p:nvPicPr>
        <p:blipFill rotWithShape="1">
          <a:blip r:embed="rId3">
            <a:alphaModFix/>
          </a:blip>
          <a:srcRect b="0" l="0" r="0" t="0"/>
          <a:stretch/>
        </p:blipFill>
        <p:spPr>
          <a:xfrm>
            <a:off x="1295400" y="7042150"/>
            <a:ext cx="914400" cy="914400"/>
          </a:xfrm>
          <a:prstGeom prst="rect">
            <a:avLst/>
          </a:prstGeom>
          <a:noFill/>
          <a:ln>
            <a:noFill/>
          </a:ln>
        </p:spPr>
      </p:pic>
      <p:sp>
        <p:nvSpPr>
          <p:cNvPr id="45" name="Google Shape;45;p2"/>
          <p:cNvSpPr/>
          <p:nvPr/>
        </p:nvSpPr>
        <p:spPr>
          <a:xfrm>
            <a:off x="2438400" y="7042150"/>
            <a:ext cx="3531870" cy="1419225"/>
          </a:xfrm>
          <a:prstGeom prst="rect">
            <a:avLst/>
          </a:prstGeom>
          <a:noFill/>
          <a:ln>
            <a:noFill/>
          </a:ln>
        </p:spPr>
        <p:txBody>
          <a:bodyPr anchorCtr="0" anchor="t" bIns="25400" lIns="25400" spcFirstLastPara="1" rIns="25400" wrap="square" tIns="25400">
            <a:normAutofit/>
          </a:bodyPr>
          <a:lstStyle/>
          <a:p>
            <a:pPr indent="0" lvl="0" marL="0" marR="0" rtl="0" algn="l">
              <a:lnSpc>
                <a:spcPct val="131552"/>
              </a:lnSpc>
              <a:spcBef>
                <a:spcPts val="0"/>
              </a:spcBef>
              <a:spcAft>
                <a:spcPts val="0"/>
              </a:spcAft>
              <a:buClr>
                <a:srgbClr val="FBF6EC"/>
              </a:buClr>
              <a:buSzPts val="1875"/>
              <a:buFont typeface="Archivo"/>
              <a:buNone/>
            </a:pPr>
            <a:r>
              <a:rPr lang="en-US" sz="1875">
                <a:solidFill>
                  <a:srgbClr val="FBF6EC"/>
                </a:solidFill>
                <a:latin typeface="Archivo"/>
                <a:ea typeface="Archivo"/>
                <a:cs typeface="Archivo"/>
                <a:sym typeface="Archivo"/>
              </a:rPr>
              <a:t>We cut investment by about 40% and the margin held. Now the focus is sales growth, starting with tomorrow's Fast Sale.</a:t>
            </a:r>
            <a:endParaRPr sz="1875">
              <a:solidFill>
                <a:schemeClr val="dk1"/>
              </a:solidFill>
              <a:latin typeface="Calibri"/>
              <a:ea typeface="Calibri"/>
              <a:cs typeface="Calibri"/>
              <a:sym typeface="Calibri"/>
            </a:endParaRPr>
          </a:p>
        </p:txBody>
      </p:sp>
      <p:sp>
        <p:nvSpPr>
          <p:cNvPr id="46" name="Google Shape;46;p2"/>
          <p:cNvSpPr/>
          <p:nvPr/>
        </p:nvSpPr>
        <p:spPr>
          <a:xfrm>
            <a:off x="6515100" y="6737350"/>
            <a:ext cx="5257800" cy="2336006"/>
          </a:xfrm>
          <a:prstGeom prst="roundRect">
            <a:avLst>
              <a:gd fmla="val 7339" name="adj"/>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858000" y="7042150"/>
            <a:ext cx="914400" cy="914400"/>
          </a:xfrm>
          <a:prstGeom prst="roundRect">
            <a:avLst>
              <a:gd fmla="val 1458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2"/>
          <p:cNvPicPr preferRelativeResize="0"/>
          <p:nvPr/>
        </p:nvPicPr>
        <p:blipFill rotWithShape="1">
          <a:blip r:embed="rId4">
            <a:alphaModFix/>
          </a:blip>
          <a:srcRect b="0" l="0" r="0" t="0"/>
          <a:stretch/>
        </p:blipFill>
        <p:spPr>
          <a:xfrm>
            <a:off x="6905625" y="7240720"/>
            <a:ext cx="819150" cy="517128"/>
          </a:xfrm>
          <a:prstGeom prst="rect">
            <a:avLst/>
          </a:prstGeom>
          <a:noFill/>
          <a:ln>
            <a:noFill/>
          </a:ln>
        </p:spPr>
      </p:pic>
      <p:sp>
        <p:nvSpPr>
          <p:cNvPr id="49" name="Google Shape;49;p2"/>
          <p:cNvSpPr/>
          <p:nvPr/>
        </p:nvSpPr>
        <p:spPr>
          <a:xfrm>
            <a:off x="8001000" y="7042150"/>
            <a:ext cx="3531870" cy="1764506"/>
          </a:xfrm>
          <a:prstGeom prst="rect">
            <a:avLst/>
          </a:prstGeom>
          <a:noFill/>
          <a:ln>
            <a:noFill/>
          </a:ln>
        </p:spPr>
        <p:txBody>
          <a:bodyPr anchorCtr="0" anchor="t" bIns="25400" lIns="25400" spcFirstLastPara="1" rIns="25400" wrap="square" tIns="25400">
            <a:normAutofit/>
          </a:bodyPr>
          <a:lstStyle/>
          <a:p>
            <a:pPr indent="0" lvl="0" marL="0" marR="0" rtl="0" algn="l">
              <a:lnSpc>
                <a:spcPct val="131552"/>
              </a:lnSpc>
              <a:spcBef>
                <a:spcPts val="0"/>
              </a:spcBef>
              <a:spcAft>
                <a:spcPts val="0"/>
              </a:spcAft>
              <a:buClr>
                <a:srgbClr val="FBF6EC"/>
              </a:buClr>
              <a:buSzPts val="1875"/>
              <a:buFont typeface="Archivo"/>
              <a:buNone/>
            </a:pPr>
            <a:r>
              <a:rPr lang="en-US" sz="1875">
                <a:solidFill>
                  <a:srgbClr val="FBF6EC"/>
                </a:solidFill>
                <a:latin typeface="Archivo"/>
                <a:ea typeface="Archivo"/>
                <a:cs typeface="Archivo"/>
                <a:sym typeface="Archivo"/>
              </a:rPr>
              <a:t>It's efficient, but search is very hard to compete in. We're focusing paid media on new customers with promos and on Amazon.</a:t>
            </a:r>
            <a:endParaRPr sz="1875">
              <a:solidFill>
                <a:schemeClr val="dk1"/>
              </a:solidFill>
              <a:latin typeface="Calibri"/>
              <a:ea typeface="Calibri"/>
              <a:cs typeface="Calibri"/>
              <a:sym typeface="Calibri"/>
            </a:endParaRPr>
          </a:p>
        </p:txBody>
      </p:sp>
      <p:sp>
        <p:nvSpPr>
          <p:cNvPr id="50" name="Google Shape;50;p2"/>
          <p:cNvSpPr/>
          <p:nvPr/>
        </p:nvSpPr>
        <p:spPr>
          <a:xfrm>
            <a:off x="12077700" y="6737350"/>
            <a:ext cx="5257800" cy="2336006"/>
          </a:xfrm>
          <a:prstGeom prst="roundRect">
            <a:avLst>
              <a:gd fmla="val 7339" name="adj"/>
            </a:avLst>
          </a:prstGeom>
          <a:solidFill>
            <a:srgbClr val="28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 name="Google Shape;51;p2"/>
          <p:cNvPicPr preferRelativeResize="0"/>
          <p:nvPr/>
        </p:nvPicPr>
        <p:blipFill rotWithShape="1">
          <a:blip r:embed="rId5">
            <a:alphaModFix/>
          </a:blip>
          <a:srcRect b="0" l="0" r="0" t="0"/>
          <a:stretch/>
        </p:blipFill>
        <p:spPr>
          <a:xfrm>
            <a:off x="12420600" y="7042150"/>
            <a:ext cx="914400" cy="914400"/>
          </a:xfrm>
          <a:prstGeom prst="rect">
            <a:avLst/>
          </a:prstGeom>
          <a:noFill/>
          <a:ln>
            <a:noFill/>
          </a:ln>
        </p:spPr>
      </p:pic>
      <p:sp>
        <p:nvSpPr>
          <p:cNvPr id="52" name="Google Shape;52;p2"/>
          <p:cNvSpPr/>
          <p:nvPr/>
        </p:nvSpPr>
        <p:spPr>
          <a:xfrm>
            <a:off x="13563600" y="7042150"/>
            <a:ext cx="3531870" cy="1419225"/>
          </a:xfrm>
          <a:prstGeom prst="rect">
            <a:avLst/>
          </a:prstGeom>
          <a:noFill/>
          <a:ln>
            <a:noFill/>
          </a:ln>
        </p:spPr>
        <p:txBody>
          <a:bodyPr anchorCtr="0" anchor="t" bIns="25400" lIns="25400" spcFirstLastPara="1" rIns="25400" wrap="square" tIns="25400">
            <a:normAutofit/>
          </a:bodyPr>
          <a:lstStyle/>
          <a:p>
            <a:pPr indent="0" lvl="0" marL="0" marR="0" rtl="0" algn="l">
              <a:lnSpc>
                <a:spcPct val="131552"/>
              </a:lnSpc>
              <a:spcBef>
                <a:spcPts val="0"/>
              </a:spcBef>
              <a:spcAft>
                <a:spcPts val="0"/>
              </a:spcAft>
              <a:buClr>
                <a:srgbClr val="FBF6EC"/>
              </a:buClr>
              <a:buSzPts val="1875"/>
              <a:buFont typeface="Archivo"/>
              <a:buNone/>
            </a:pPr>
            <a:r>
              <a:rPr lang="en-US" sz="1875">
                <a:solidFill>
                  <a:srgbClr val="FBF6EC"/>
                </a:solidFill>
                <a:latin typeface="Archivo"/>
                <a:ea typeface="Archivo"/>
                <a:cs typeface="Archivo"/>
                <a:sym typeface="Archivo"/>
              </a:rPr>
              <a:t>Traffic is good but the website converts poorly. We propose an Amazon test and replicating Brooklyn's strategy.</a:t>
            </a:r>
            <a:endParaRPr sz="1875">
              <a:solidFill>
                <a:schemeClr val="dk1"/>
              </a:solidFill>
              <a:latin typeface="Calibri"/>
              <a:ea typeface="Calibri"/>
              <a:cs typeface="Calibri"/>
              <a:sym typeface="Calibri"/>
            </a:endParaRPr>
          </a:p>
        </p:txBody>
      </p:sp>
      <p:sp>
        <p:nvSpPr>
          <p:cNvPr id="53" name="Google Shape;53;p2"/>
          <p:cNvSpPr/>
          <p:nvPr/>
        </p:nvSpPr>
        <p:spPr>
          <a:xfrm>
            <a:off x="952500" y="9529233"/>
            <a:ext cx="491758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STORMBERG FOODS · EXECUTIVE STATUS</a:t>
            </a:r>
            <a:endParaRPr sz="1800">
              <a:solidFill>
                <a:schemeClr val="dk1"/>
              </a:solidFill>
              <a:latin typeface="Calibri"/>
              <a:ea typeface="Calibri"/>
              <a:cs typeface="Calibri"/>
              <a:sym typeface="Calibri"/>
            </a:endParaRPr>
          </a:p>
        </p:txBody>
      </p:sp>
      <p:sp>
        <p:nvSpPr>
          <p:cNvPr id="54" name="Google Shape;54;p2"/>
          <p:cNvSpPr/>
          <p:nvPr/>
        </p:nvSpPr>
        <p:spPr>
          <a:xfrm>
            <a:off x="17043929" y="9529233"/>
            <a:ext cx="367771"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59" name="Shape 59"/>
        <p:cNvGrpSpPr/>
        <p:nvPr/>
      </p:nvGrpSpPr>
      <p:grpSpPr>
        <a:xfrm>
          <a:off x="0" y="0"/>
          <a:ext cx="0" cy="0"/>
          <a:chOff x="0" y="0"/>
          <a:chExt cx="0" cy="0"/>
        </a:xfrm>
      </p:grpSpPr>
      <p:pic>
        <p:nvPicPr>
          <p:cNvPr descr="preencoded.png" id="60" name="Google Shape;60;p3"/>
          <p:cNvPicPr preferRelativeResize="0"/>
          <p:nvPr/>
        </p:nvPicPr>
        <p:blipFill rotWithShape="1">
          <a:blip r:embed="rId3">
            <a:alphaModFix/>
          </a:blip>
          <a:srcRect b="0" l="0" r="0" t="0"/>
          <a:stretch/>
        </p:blipFill>
        <p:spPr>
          <a:xfrm>
            <a:off x="16192500" y="685800"/>
            <a:ext cx="1143000" cy="1143000"/>
          </a:xfrm>
          <a:prstGeom prst="rect">
            <a:avLst/>
          </a:prstGeom>
          <a:noFill/>
          <a:ln>
            <a:noFill/>
          </a:ln>
        </p:spPr>
      </p:pic>
      <p:sp>
        <p:nvSpPr>
          <p:cNvPr id="61" name="Google Shape;61;p3"/>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14E2C"/>
              </a:buClr>
              <a:buSzPts val="1950"/>
              <a:buFont typeface="Oswald"/>
              <a:buNone/>
            </a:pPr>
            <a:r>
              <a:rPr lang="en-US" sz="1950">
                <a:solidFill>
                  <a:srgbClr val="B14E2C"/>
                </a:solidFill>
                <a:latin typeface="Oswald"/>
                <a:ea typeface="Oswald"/>
                <a:cs typeface="Oswald"/>
                <a:sym typeface="Oswald"/>
              </a:rPr>
              <a:t>BROOKLYN BILTONG · LAST WEEK</a:t>
            </a:r>
            <a:endParaRPr sz="1950">
              <a:solidFill>
                <a:schemeClr val="dk1"/>
              </a:solidFill>
              <a:latin typeface="Calibri"/>
              <a:ea typeface="Calibri"/>
              <a:cs typeface="Calibri"/>
              <a:sym typeface="Calibri"/>
            </a:endParaRPr>
          </a:p>
        </p:txBody>
      </p:sp>
      <p:sp>
        <p:nvSpPr>
          <p:cNvPr id="62" name="Google Shape;62;p3"/>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Positive signals from the last week</a:t>
            </a:r>
            <a:endParaRPr sz="4800">
              <a:solidFill>
                <a:schemeClr val="dk1"/>
              </a:solidFill>
              <a:latin typeface="Calibri"/>
              <a:ea typeface="Calibri"/>
              <a:cs typeface="Calibri"/>
              <a:sym typeface="Calibri"/>
            </a:endParaRPr>
          </a:p>
        </p:txBody>
      </p:sp>
      <p:sp>
        <p:nvSpPr>
          <p:cNvPr id="63" name="Google Shape;63;p3"/>
          <p:cNvSpPr/>
          <p:nvPr/>
        </p:nvSpPr>
        <p:spPr>
          <a:xfrm>
            <a:off x="952500" y="2508250"/>
            <a:ext cx="9982200" cy="6540500"/>
          </a:xfrm>
          <a:prstGeom prst="roundRect">
            <a:avLst>
              <a:gd fmla="val 2621"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1371600" y="2851150"/>
            <a:ext cx="4308872"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STORE DAILY SALES (USD), OCTOBER</a:t>
            </a:r>
            <a:endParaRPr sz="1800">
              <a:solidFill>
                <a:schemeClr val="dk1"/>
              </a:solidFill>
              <a:latin typeface="Calibri"/>
              <a:ea typeface="Calibri"/>
              <a:cs typeface="Calibri"/>
              <a:sym typeface="Calibri"/>
            </a:endParaRPr>
          </a:p>
        </p:txBody>
      </p:sp>
      <p:sp>
        <p:nvSpPr>
          <p:cNvPr id="65" name="Google Shape;65;p3"/>
          <p:cNvSpPr/>
          <p:nvPr/>
        </p:nvSpPr>
        <p:spPr>
          <a:xfrm>
            <a:off x="8194146" y="2931583"/>
            <a:ext cx="190500" cy="190500"/>
          </a:xfrm>
          <a:prstGeom prst="roundRect">
            <a:avLst>
              <a:gd fmla="val 20000"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8479896" y="2899833"/>
            <a:ext cx="2111904" cy="292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Oct 10–12 · Meta on</a:t>
            </a:r>
            <a:endParaRPr sz="1800">
              <a:solidFill>
                <a:schemeClr val="dk1"/>
              </a:solidFill>
              <a:latin typeface="Calibri"/>
              <a:ea typeface="Calibri"/>
              <a:cs typeface="Calibri"/>
              <a:sym typeface="Calibri"/>
            </a:endParaRPr>
          </a:p>
        </p:txBody>
      </p:sp>
      <p:sp>
        <p:nvSpPr>
          <p:cNvPr id="67" name="Google Shape;67;p3"/>
          <p:cNvSpPr/>
          <p:nvPr/>
        </p:nvSpPr>
        <p:spPr>
          <a:xfrm>
            <a:off x="1371600" y="8396817"/>
            <a:ext cx="9144000" cy="16933"/>
          </a:xfrm>
          <a:prstGeom prst="rect">
            <a:avLst/>
          </a:prstGeom>
          <a:solidFill>
            <a:srgbClr val="BFC6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1371600" y="6072717"/>
            <a:ext cx="563695" cy="2324100"/>
          </a:xfrm>
          <a:custGeom>
            <a:rect b="b" l="l" r="r" t="t"/>
            <a:pathLst>
              <a:path extrusionOk="0" h="2324100" w="563695">
                <a:moveTo>
                  <a:pt x="57150" y="0"/>
                </a:moveTo>
                <a:lnTo>
                  <a:pt x="506545" y="0"/>
                </a:lnTo>
                <a:cubicBezTo>
                  <a:pt x="521702" y="0"/>
                  <a:pt x="536238" y="6021"/>
                  <a:pt x="546956" y="16739"/>
                </a:cubicBezTo>
                <a:cubicBezTo>
                  <a:pt x="557674" y="27457"/>
                  <a:pt x="563695" y="41993"/>
                  <a:pt x="563695" y="57150"/>
                </a:cubicBezTo>
                <a:lnTo>
                  <a:pt x="563695" y="2324100"/>
                </a:lnTo>
                <a:lnTo>
                  <a:pt x="0" y="2324100"/>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2068645" y="7510992"/>
            <a:ext cx="563827" cy="885825"/>
          </a:xfrm>
          <a:custGeom>
            <a:rect b="b" l="l" r="r" t="t"/>
            <a:pathLst>
              <a:path extrusionOk="0" h="885825" w="563827">
                <a:moveTo>
                  <a:pt x="57150" y="0"/>
                </a:moveTo>
                <a:lnTo>
                  <a:pt x="506677" y="0"/>
                </a:lnTo>
                <a:cubicBezTo>
                  <a:pt x="521834" y="0"/>
                  <a:pt x="536370" y="6021"/>
                  <a:pt x="547088" y="16739"/>
                </a:cubicBezTo>
                <a:cubicBezTo>
                  <a:pt x="557806" y="27457"/>
                  <a:pt x="563827" y="41993"/>
                  <a:pt x="563827" y="57150"/>
                </a:cubicBezTo>
                <a:lnTo>
                  <a:pt x="563827" y="885825"/>
                </a:lnTo>
                <a:lnTo>
                  <a:pt x="0" y="885825"/>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2765822" y="6958542"/>
            <a:ext cx="563695" cy="1438275"/>
          </a:xfrm>
          <a:custGeom>
            <a:rect b="b" l="l" r="r" t="t"/>
            <a:pathLst>
              <a:path extrusionOk="0" h="1438275" w="563695">
                <a:moveTo>
                  <a:pt x="57150" y="0"/>
                </a:moveTo>
                <a:lnTo>
                  <a:pt x="506545" y="0"/>
                </a:lnTo>
                <a:cubicBezTo>
                  <a:pt x="521702" y="0"/>
                  <a:pt x="536238" y="6021"/>
                  <a:pt x="546956" y="16739"/>
                </a:cubicBezTo>
                <a:cubicBezTo>
                  <a:pt x="557674" y="27457"/>
                  <a:pt x="563695" y="41993"/>
                  <a:pt x="563695" y="57150"/>
                </a:cubicBezTo>
                <a:lnTo>
                  <a:pt x="563695" y="1438275"/>
                </a:lnTo>
                <a:lnTo>
                  <a:pt x="0" y="1438275"/>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3462867" y="6825192"/>
            <a:ext cx="563827" cy="1571625"/>
          </a:xfrm>
          <a:custGeom>
            <a:rect b="b" l="l" r="r" t="t"/>
            <a:pathLst>
              <a:path extrusionOk="0" h="1571625" w="563827">
                <a:moveTo>
                  <a:pt x="57150" y="0"/>
                </a:moveTo>
                <a:lnTo>
                  <a:pt x="506677" y="0"/>
                </a:lnTo>
                <a:cubicBezTo>
                  <a:pt x="521834" y="0"/>
                  <a:pt x="536370" y="6021"/>
                  <a:pt x="547088" y="16739"/>
                </a:cubicBezTo>
                <a:cubicBezTo>
                  <a:pt x="557806" y="27457"/>
                  <a:pt x="563827" y="41993"/>
                  <a:pt x="563827" y="57150"/>
                </a:cubicBezTo>
                <a:lnTo>
                  <a:pt x="563827" y="1571625"/>
                </a:lnTo>
                <a:lnTo>
                  <a:pt x="0" y="1571625"/>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4160044" y="7215717"/>
            <a:ext cx="563695" cy="1181100"/>
          </a:xfrm>
          <a:custGeom>
            <a:rect b="b" l="l" r="r" t="t"/>
            <a:pathLst>
              <a:path extrusionOk="0" h="1181100" w="563695">
                <a:moveTo>
                  <a:pt x="57150" y="0"/>
                </a:moveTo>
                <a:lnTo>
                  <a:pt x="506545" y="0"/>
                </a:lnTo>
                <a:cubicBezTo>
                  <a:pt x="521702" y="0"/>
                  <a:pt x="536238" y="6021"/>
                  <a:pt x="546956" y="16739"/>
                </a:cubicBezTo>
                <a:cubicBezTo>
                  <a:pt x="557674" y="27457"/>
                  <a:pt x="563695" y="41993"/>
                  <a:pt x="563695" y="57150"/>
                </a:cubicBezTo>
                <a:lnTo>
                  <a:pt x="563695" y="1181100"/>
                </a:lnTo>
                <a:lnTo>
                  <a:pt x="0" y="1181100"/>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857089" y="5891742"/>
            <a:ext cx="563827" cy="2505075"/>
          </a:xfrm>
          <a:custGeom>
            <a:rect b="b" l="l" r="r" t="t"/>
            <a:pathLst>
              <a:path extrusionOk="0" h="2505075" w="563827">
                <a:moveTo>
                  <a:pt x="57150" y="0"/>
                </a:moveTo>
                <a:lnTo>
                  <a:pt x="506677" y="0"/>
                </a:lnTo>
                <a:cubicBezTo>
                  <a:pt x="521834" y="0"/>
                  <a:pt x="536370" y="6021"/>
                  <a:pt x="547088" y="16739"/>
                </a:cubicBezTo>
                <a:cubicBezTo>
                  <a:pt x="557806" y="27457"/>
                  <a:pt x="563827" y="41993"/>
                  <a:pt x="563827" y="57150"/>
                </a:cubicBezTo>
                <a:lnTo>
                  <a:pt x="563827" y="2505075"/>
                </a:lnTo>
                <a:lnTo>
                  <a:pt x="0" y="2505075"/>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5554266" y="7149042"/>
            <a:ext cx="563695" cy="1247775"/>
          </a:xfrm>
          <a:custGeom>
            <a:rect b="b" l="l" r="r" t="t"/>
            <a:pathLst>
              <a:path extrusionOk="0" h="1247775" w="563695">
                <a:moveTo>
                  <a:pt x="57150" y="0"/>
                </a:moveTo>
                <a:lnTo>
                  <a:pt x="506545" y="0"/>
                </a:lnTo>
                <a:cubicBezTo>
                  <a:pt x="521702" y="0"/>
                  <a:pt x="536238" y="6021"/>
                  <a:pt x="546956" y="16739"/>
                </a:cubicBezTo>
                <a:cubicBezTo>
                  <a:pt x="557674" y="27457"/>
                  <a:pt x="563695" y="41993"/>
                  <a:pt x="563695" y="57150"/>
                </a:cubicBezTo>
                <a:lnTo>
                  <a:pt x="563695" y="1247775"/>
                </a:lnTo>
                <a:lnTo>
                  <a:pt x="0" y="1247775"/>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251310" y="7082367"/>
            <a:ext cx="563695" cy="1314450"/>
          </a:xfrm>
          <a:custGeom>
            <a:rect b="b" l="l" r="r" t="t"/>
            <a:pathLst>
              <a:path extrusionOk="0" h="1314450" w="563695">
                <a:moveTo>
                  <a:pt x="57150" y="0"/>
                </a:moveTo>
                <a:lnTo>
                  <a:pt x="506545" y="0"/>
                </a:lnTo>
                <a:cubicBezTo>
                  <a:pt x="521702" y="0"/>
                  <a:pt x="536238" y="6021"/>
                  <a:pt x="546956" y="16739"/>
                </a:cubicBezTo>
                <a:cubicBezTo>
                  <a:pt x="557674" y="27457"/>
                  <a:pt x="563695" y="41993"/>
                  <a:pt x="563695" y="57150"/>
                </a:cubicBezTo>
                <a:lnTo>
                  <a:pt x="563695" y="1314450"/>
                </a:lnTo>
                <a:lnTo>
                  <a:pt x="0" y="1314450"/>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948356" y="6901392"/>
            <a:ext cx="563695" cy="1495425"/>
          </a:xfrm>
          <a:custGeom>
            <a:rect b="b" l="l" r="r" t="t"/>
            <a:pathLst>
              <a:path extrusionOk="0" h="1495425" w="563695">
                <a:moveTo>
                  <a:pt x="57150" y="0"/>
                </a:moveTo>
                <a:lnTo>
                  <a:pt x="506545" y="0"/>
                </a:lnTo>
                <a:cubicBezTo>
                  <a:pt x="521702" y="0"/>
                  <a:pt x="536238" y="6021"/>
                  <a:pt x="546956" y="16739"/>
                </a:cubicBezTo>
                <a:cubicBezTo>
                  <a:pt x="557674" y="27457"/>
                  <a:pt x="563695" y="41993"/>
                  <a:pt x="563695" y="57150"/>
                </a:cubicBezTo>
                <a:lnTo>
                  <a:pt x="563695" y="1495425"/>
                </a:lnTo>
                <a:lnTo>
                  <a:pt x="0" y="1495425"/>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7645400" y="5418667"/>
            <a:ext cx="711729"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$1.6K</a:t>
            </a:r>
            <a:endParaRPr sz="1800">
              <a:solidFill>
                <a:schemeClr val="dk1"/>
              </a:solidFill>
              <a:latin typeface="Calibri"/>
              <a:ea typeface="Calibri"/>
              <a:cs typeface="Calibri"/>
              <a:sym typeface="Calibri"/>
            </a:endParaRPr>
          </a:p>
        </p:txBody>
      </p:sp>
      <p:sp>
        <p:nvSpPr>
          <p:cNvPr id="78" name="Google Shape;78;p3"/>
          <p:cNvSpPr/>
          <p:nvPr/>
        </p:nvSpPr>
        <p:spPr>
          <a:xfrm>
            <a:off x="7645400" y="5748867"/>
            <a:ext cx="635529" cy="2647950"/>
          </a:xfrm>
          <a:custGeom>
            <a:rect b="b" l="l" r="r" t="t"/>
            <a:pathLst>
              <a:path extrusionOk="0" h="2647950" w="635529">
                <a:moveTo>
                  <a:pt x="57150" y="0"/>
                </a:moveTo>
                <a:lnTo>
                  <a:pt x="578379" y="0"/>
                </a:lnTo>
                <a:cubicBezTo>
                  <a:pt x="593536" y="0"/>
                  <a:pt x="608072" y="6021"/>
                  <a:pt x="618790" y="16739"/>
                </a:cubicBezTo>
                <a:cubicBezTo>
                  <a:pt x="629508" y="27457"/>
                  <a:pt x="635529" y="41993"/>
                  <a:pt x="635529" y="57150"/>
                </a:cubicBezTo>
                <a:lnTo>
                  <a:pt x="635529" y="2647950"/>
                </a:lnTo>
                <a:lnTo>
                  <a:pt x="0" y="2647950"/>
                </a:lnTo>
                <a:lnTo>
                  <a:pt x="0" y="57150"/>
                </a:lnTo>
                <a:cubicBezTo>
                  <a:pt x="0" y="25587"/>
                  <a:pt x="25587" y="0"/>
                  <a:pt x="57150" y="0"/>
                </a:cubicBezTo>
                <a:close/>
              </a:path>
            </a:pathLst>
          </a:cu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414279" y="5304367"/>
            <a:ext cx="711729"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$1.6K</a:t>
            </a:r>
            <a:endParaRPr sz="1800">
              <a:solidFill>
                <a:schemeClr val="dk1"/>
              </a:solidFill>
              <a:latin typeface="Calibri"/>
              <a:ea typeface="Calibri"/>
              <a:cs typeface="Calibri"/>
              <a:sym typeface="Calibri"/>
            </a:endParaRPr>
          </a:p>
        </p:txBody>
      </p:sp>
      <p:sp>
        <p:nvSpPr>
          <p:cNvPr id="80" name="Google Shape;80;p3"/>
          <p:cNvSpPr/>
          <p:nvPr/>
        </p:nvSpPr>
        <p:spPr>
          <a:xfrm>
            <a:off x="8414279" y="5634567"/>
            <a:ext cx="635529" cy="2762250"/>
          </a:xfrm>
          <a:custGeom>
            <a:rect b="b" l="l" r="r" t="t"/>
            <a:pathLst>
              <a:path extrusionOk="0" h="2762250" w="635529">
                <a:moveTo>
                  <a:pt x="57150" y="0"/>
                </a:moveTo>
                <a:lnTo>
                  <a:pt x="578379" y="0"/>
                </a:lnTo>
                <a:cubicBezTo>
                  <a:pt x="593536" y="0"/>
                  <a:pt x="608072" y="6021"/>
                  <a:pt x="618790" y="16739"/>
                </a:cubicBezTo>
                <a:cubicBezTo>
                  <a:pt x="629508" y="27457"/>
                  <a:pt x="635529" y="41993"/>
                  <a:pt x="635529" y="57150"/>
                </a:cubicBezTo>
                <a:lnTo>
                  <a:pt x="635529" y="2762250"/>
                </a:lnTo>
                <a:lnTo>
                  <a:pt x="0" y="2762250"/>
                </a:lnTo>
                <a:lnTo>
                  <a:pt x="0" y="57150"/>
                </a:lnTo>
                <a:cubicBezTo>
                  <a:pt x="0" y="25587"/>
                  <a:pt x="25587" y="0"/>
                  <a:pt x="57150" y="0"/>
                </a:cubicBezTo>
                <a:close/>
              </a:path>
            </a:pathLst>
          </a:cu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9183159" y="4637617"/>
            <a:ext cx="711597"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$2.0K</a:t>
            </a:r>
            <a:endParaRPr sz="1800">
              <a:solidFill>
                <a:schemeClr val="dk1"/>
              </a:solidFill>
              <a:latin typeface="Calibri"/>
              <a:ea typeface="Calibri"/>
              <a:cs typeface="Calibri"/>
              <a:sym typeface="Calibri"/>
            </a:endParaRPr>
          </a:p>
        </p:txBody>
      </p:sp>
      <p:sp>
        <p:nvSpPr>
          <p:cNvPr id="82" name="Google Shape;82;p3"/>
          <p:cNvSpPr/>
          <p:nvPr/>
        </p:nvSpPr>
        <p:spPr>
          <a:xfrm>
            <a:off x="9183159" y="4967817"/>
            <a:ext cx="635397" cy="3429000"/>
          </a:xfrm>
          <a:custGeom>
            <a:rect b="b" l="l" r="r" t="t"/>
            <a:pathLst>
              <a:path extrusionOk="0" h="3429000" w="635397">
                <a:moveTo>
                  <a:pt x="57150" y="0"/>
                </a:moveTo>
                <a:lnTo>
                  <a:pt x="578247" y="0"/>
                </a:lnTo>
                <a:cubicBezTo>
                  <a:pt x="593404" y="0"/>
                  <a:pt x="607940" y="6021"/>
                  <a:pt x="618658" y="16739"/>
                </a:cubicBezTo>
                <a:cubicBezTo>
                  <a:pt x="629376" y="27457"/>
                  <a:pt x="635397" y="41993"/>
                  <a:pt x="635397" y="57150"/>
                </a:cubicBezTo>
                <a:lnTo>
                  <a:pt x="635397" y="3429000"/>
                </a:lnTo>
                <a:lnTo>
                  <a:pt x="0" y="3429000"/>
                </a:lnTo>
                <a:lnTo>
                  <a:pt x="0" y="57150"/>
                </a:lnTo>
                <a:cubicBezTo>
                  <a:pt x="0" y="25587"/>
                  <a:pt x="25587" y="0"/>
                  <a:pt x="57150" y="0"/>
                </a:cubicBezTo>
                <a:close/>
              </a:path>
            </a:pathLst>
          </a:cu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9951905" y="6929967"/>
            <a:ext cx="563695" cy="1466850"/>
          </a:xfrm>
          <a:custGeom>
            <a:rect b="b" l="l" r="r" t="t"/>
            <a:pathLst>
              <a:path extrusionOk="0" h="1466850" w="563695">
                <a:moveTo>
                  <a:pt x="57150" y="0"/>
                </a:moveTo>
                <a:lnTo>
                  <a:pt x="506545" y="0"/>
                </a:lnTo>
                <a:cubicBezTo>
                  <a:pt x="521702" y="0"/>
                  <a:pt x="536238" y="6021"/>
                  <a:pt x="546956" y="16739"/>
                </a:cubicBezTo>
                <a:cubicBezTo>
                  <a:pt x="557674" y="27457"/>
                  <a:pt x="563695" y="41993"/>
                  <a:pt x="563695" y="57150"/>
                </a:cubicBezTo>
                <a:lnTo>
                  <a:pt x="563695" y="1466850"/>
                </a:lnTo>
                <a:lnTo>
                  <a:pt x="0" y="1466850"/>
                </a:lnTo>
                <a:lnTo>
                  <a:pt x="0" y="57150"/>
                </a:lnTo>
                <a:cubicBezTo>
                  <a:pt x="0" y="25587"/>
                  <a:pt x="25587" y="0"/>
                  <a:pt x="571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1333500" y="8528050"/>
            <a:ext cx="656431"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1</a:t>
            </a:r>
            <a:endParaRPr sz="1800">
              <a:solidFill>
                <a:schemeClr val="dk1"/>
              </a:solidFill>
              <a:latin typeface="Calibri"/>
              <a:ea typeface="Calibri"/>
              <a:cs typeface="Calibri"/>
              <a:sym typeface="Calibri"/>
            </a:endParaRPr>
          </a:p>
        </p:txBody>
      </p:sp>
      <p:sp>
        <p:nvSpPr>
          <p:cNvPr id="85" name="Google Shape;85;p3"/>
          <p:cNvSpPr/>
          <p:nvPr/>
        </p:nvSpPr>
        <p:spPr>
          <a:xfrm>
            <a:off x="2047081" y="8528050"/>
            <a:ext cx="656564"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2</a:t>
            </a:r>
            <a:endParaRPr sz="1800">
              <a:solidFill>
                <a:schemeClr val="dk1"/>
              </a:solidFill>
              <a:latin typeface="Calibri"/>
              <a:ea typeface="Calibri"/>
              <a:cs typeface="Calibri"/>
              <a:sym typeface="Calibri"/>
            </a:endParaRPr>
          </a:p>
        </p:txBody>
      </p:sp>
      <p:sp>
        <p:nvSpPr>
          <p:cNvPr id="86" name="Google Shape;86;p3"/>
          <p:cNvSpPr/>
          <p:nvPr/>
        </p:nvSpPr>
        <p:spPr>
          <a:xfrm>
            <a:off x="2760795" y="8528050"/>
            <a:ext cx="656431"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3</a:t>
            </a:r>
            <a:endParaRPr sz="1800">
              <a:solidFill>
                <a:schemeClr val="dk1"/>
              </a:solidFill>
              <a:latin typeface="Calibri"/>
              <a:ea typeface="Calibri"/>
              <a:cs typeface="Calibri"/>
              <a:sym typeface="Calibri"/>
            </a:endParaRPr>
          </a:p>
        </p:txBody>
      </p:sp>
      <p:sp>
        <p:nvSpPr>
          <p:cNvPr id="87" name="Google Shape;87;p3"/>
          <p:cNvSpPr/>
          <p:nvPr/>
        </p:nvSpPr>
        <p:spPr>
          <a:xfrm>
            <a:off x="3474376" y="8528050"/>
            <a:ext cx="656564"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4</a:t>
            </a:r>
            <a:endParaRPr sz="1800">
              <a:solidFill>
                <a:schemeClr val="dk1"/>
              </a:solidFill>
              <a:latin typeface="Calibri"/>
              <a:ea typeface="Calibri"/>
              <a:cs typeface="Calibri"/>
              <a:sym typeface="Calibri"/>
            </a:endParaRPr>
          </a:p>
        </p:txBody>
      </p:sp>
      <p:sp>
        <p:nvSpPr>
          <p:cNvPr id="88" name="Google Shape;88;p3"/>
          <p:cNvSpPr/>
          <p:nvPr/>
        </p:nvSpPr>
        <p:spPr>
          <a:xfrm>
            <a:off x="4188090" y="8528050"/>
            <a:ext cx="656431"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5</a:t>
            </a:r>
            <a:endParaRPr sz="1800">
              <a:solidFill>
                <a:schemeClr val="dk1"/>
              </a:solidFill>
              <a:latin typeface="Calibri"/>
              <a:ea typeface="Calibri"/>
              <a:cs typeface="Calibri"/>
              <a:sym typeface="Calibri"/>
            </a:endParaRPr>
          </a:p>
        </p:txBody>
      </p:sp>
      <p:sp>
        <p:nvSpPr>
          <p:cNvPr id="89" name="Google Shape;89;p3"/>
          <p:cNvSpPr/>
          <p:nvPr/>
        </p:nvSpPr>
        <p:spPr>
          <a:xfrm>
            <a:off x="4901671" y="8528050"/>
            <a:ext cx="656564"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6</a:t>
            </a:r>
            <a:endParaRPr sz="1800">
              <a:solidFill>
                <a:schemeClr val="dk1"/>
              </a:solidFill>
              <a:latin typeface="Calibri"/>
              <a:ea typeface="Calibri"/>
              <a:cs typeface="Calibri"/>
              <a:sym typeface="Calibri"/>
            </a:endParaRPr>
          </a:p>
        </p:txBody>
      </p:sp>
      <p:sp>
        <p:nvSpPr>
          <p:cNvPr id="90" name="Google Shape;90;p3"/>
          <p:cNvSpPr/>
          <p:nvPr/>
        </p:nvSpPr>
        <p:spPr>
          <a:xfrm>
            <a:off x="5615385" y="8528050"/>
            <a:ext cx="656431"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7</a:t>
            </a:r>
            <a:endParaRPr sz="1800">
              <a:solidFill>
                <a:schemeClr val="dk1"/>
              </a:solidFill>
              <a:latin typeface="Calibri"/>
              <a:ea typeface="Calibri"/>
              <a:cs typeface="Calibri"/>
              <a:sym typeface="Calibri"/>
            </a:endParaRPr>
          </a:p>
        </p:txBody>
      </p:sp>
      <p:sp>
        <p:nvSpPr>
          <p:cNvPr id="91" name="Google Shape;91;p3"/>
          <p:cNvSpPr/>
          <p:nvPr/>
        </p:nvSpPr>
        <p:spPr>
          <a:xfrm>
            <a:off x="6328965" y="8528050"/>
            <a:ext cx="656564"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8</a:t>
            </a:r>
            <a:endParaRPr sz="1800">
              <a:solidFill>
                <a:schemeClr val="dk1"/>
              </a:solidFill>
              <a:latin typeface="Calibri"/>
              <a:ea typeface="Calibri"/>
              <a:cs typeface="Calibri"/>
              <a:sym typeface="Calibri"/>
            </a:endParaRPr>
          </a:p>
        </p:txBody>
      </p:sp>
      <p:sp>
        <p:nvSpPr>
          <p:cNvPr id="92" name="Google Shape;92;p3"/>
          <p:cNvSpPr/>
          <p:nvPr/>
        </p:nvSpPr>
        <p:spPr>
          <a:xfrm>
            <a:off x="7042679" y="8528050"/>
            <a:ext cx="656431"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9</a:t>
            </a:r>
            <a:endParaRPr sz="1800">
              <a:solidFill>
                <a:schemeClr val="dk1"/>
              </a:solidFill>
              <a:latin typeface="Calibri"/>
              <a:ea typeface="Calibri"/>
              <a:cs typeface="Calibri"/>
              <a:sym typeface="Calibri"/>
            </a:endParaRPr>
          </a:p>
        </p:txBody>
      </p:sp>
      <p:sp>
        <p:nvSpPr>
          <p:cNvPr id="93" name="Google Shape;93;p3"/>
          <p:cNvSpPr/>
          <p:nvPr/>
        </p:nvSpPr>
        <p:spPr>
          <a:xfrm>
            <a:off x="7756260" y="8528050"/>
            <a:ext cx="656564"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10</a:t>
            </a:r>
            <a:endParaRPr sz="1800">
              <a:solidFill>
                <a:schemeClr val="dk1"/>
              </a:solidFill>
              <a:latin typeface="Calibri"/>
              <a:ea typeface="Calibri"/>
              <a:cs typeface="Calibri"/>
              <a:sym typeface="Calibri"/>
            </a:endParaRPr>
          </a:p>
        </p:txBody>
      </p:sp>
      <p:sp>
        <p:nvSpPr>
          <p:cNvPr id="94" name="Google Shape;94;p3"/>
          <p:cNvSpPr/>
          <p:nvPr/>
        </p:nvSpPr>
        <p:spPr>
          <a:xfrm>
            <a:off x="8469974" y="8528050"/>
            <a:ext cx="656431"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11</a:t>
            </a:r>
            <a:endParaRPr sz="1800">
              <a:solidFill>
                <a:schemeClr val="dk1"/>
              </a:solidFill>
              <a:latin typeface="Calibri"/>
              <a:ea typeface="Calibri"/>
              <a:cs typeface="Calibri"/>
              <a:sym typeface="Calibri"/>
            </a:endParaRPr>
          </a:p>
        </p:txBody>
      </p:sp>
      <p:sp>
        <p:nvSpPr>
          <p:cNvPr id="95" name="Google Shape;95;p3"/>
          <p:cNvSpPr/>
          <p:nvPr/>
        </p:nvSpPr>
        <p:spPr>
          <a:xfrm>
            <a:off x="9183555" y="8528050"/>
            <a:ext cx="656564"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12</a:t>
            </a:r>
            <a:endParaRPr sz="1800">
              <a:solidFill>
                <a:schemeClr val="dk1"/>
              </a:solidFill>
              <a:latin typeface="Calibri"/>
              <a:ea typeface="Calibri"/>
              <a:cs typeface="Calibri"/>
              <a:sym typeface="Calibri"/>
            </a:endParaRPr>
          </a:p>
        </p:txBody>
      </p:sp>
      <p:sp>
        <p:nvSpPr>
          <p:cNvPr id="96" name="Google Shape;96;p3"/>
          <p:cNvSpPr/>
          <p:nvPr/>
        </p:nvSpPr>
        <p:spPr>
          <a:xfrm>
            <a:off x="9897269" y="8528050"/>
            <a:ext cx="656431"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13</a:t>
            </a:r>
            <a:endParaRPr sz="1800">
              <a:solidFill>
                <a:schemeClr val="dk1"/>
              </a:solidFill>
              <a:latin typeface="Calibri"/>
              <a:ea typeface="Calibri"/>
              <a:cs typeface="Calibri"/>
              <a:sym typeface="Calibri"/>
            </a:endParaRPr>
          </a:p>
        </p:txBody>
      </p:sp>
      <p:sp>
        <p:nvSpPr>
          <p:cNvPr id="97" name="Google Shape;97;p3"/>
          <p:cNvSpPr/>
          <p:nvPr/>
        </p:nvSpPr>
        <p:spPr>
          <a:xfrm>
            <a:off x="11239500" y="2508250"/>
            <a:ext cx="6096000" cy="1916377"/>
          </a:xfrm>
          <a:prstGeom prst="roundRect">
            <a:avLst>
              <a:gd fmla="val 8947"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11582400" y="2774950"/>
            <a:ext cx="5951220" cy="723900"/>
          </a:xfrm>
          <a:prstGeom prst="rect">
            <a:avLst/>
          </a:prstGeom>
          <a:noFill/>
          <a:ln>
            <a:noFill/>
          </a:ln>
        </p:spPr>
        <p:txBody>
          <a:bodyPr anchorCtr="0" anchor="t" bIns="25400" lIns="25400" spcFirstLastPara="1" rIns="25400" wrap="square" tIns="25400">
            <a:normAutofit/>
          </a:bodyPr>
          <a:lstStyle/>
          <a:p>
            <a:pPr indent="0" lvl="0" marL="0" marR="0" rtl="0" algn="l">
              <a:lnSpc>
                <a:spcPct val="83505"/>
              </a:lnSpc>
              <a:spcBef>
                <a:spcPts val="0"/>
              </a:spcBef>
              <a:spcAft>
                <a:spcPts val="0"/>
              </a:spcAft>
              <a:buClr>
                <a:srgbClr val="FBF6EC"/>
              </a:buClr>
              <a:buSzPts val="5400"/>
              <a:buFont typeface="Bricolage Grotesque"/>
              <a:buNone/>
            </a:pPr>
            <a:r>
              <a:rPr b="1" lang="en-US" sz="5400">
                <a:solidFill>
                  <a:srgbClr val="FBF6EC"/>
                </a:solidFill>
                <a:latin typeface="Bricolage Grotesque"/>
                <a:ea typeface="Bricolage Grotesque"/>
                <a:cs typeface="Bricolage Grotesque"/>
                <a:sym typeface="Bricolage Grotesque"/>
              </a:rPr>
              <a:t>$4.5–5K</a:t>
            </a:r>
            <a:endParaRPr sz="5400">
              <a:solidFill>
                <a:schemeClr val="dk1"/>
              </a:solidFill>
              <a:latin typeface="Calibri"/>
              <a:ea typeface="Calibri"/>
              <a:cs typeface="Calibri"/>
              <a:sym typeface="Calibri"/>
            </a:endParaRPr>
          </a:p>
        </p:txBody>
      </p:sp>
      <p:sp>
        <p:nvSpPr>
          <p:cNvPr id="99" name="Google Shape;99;p3"/>
          <p:cNvSpPr/>
          <p:nvPr/>
        </p:nvSpPr>
        <p:spPr>
          <a:xfrm>
            <a:off x="11582400" y="3517900"/>
            <a:ext cx="5572506"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1800"/>
              <a:buFont typeface="Archivo"/>
              <a:buNone/>
            </a:pPr>
            <a:r>
              <a:rPr lang="en-US" sz="1800">
                <a:solidFill>
                  <a:srgbClr val="FBF6EC"/>
                </a:solidFill>
                <a:latin typeface="Archivo"/>
                <a:ea typeface="Archivo"/>
                <a:cs typeface="Archivo"/>
                <a:sym typeface="Archivo"/>
              </a:rPr>
              <a:t>in steady monthly profit since May, on about 40% less media investment</a:t>
            </a:r>
            <a:endParaRPr sz="1800">
              <a:solidFill>
                <a:schemeClr val="dk1"/>
              </a:solidFill>
              <a:latin typeface="Calibri"/>
              <a:ea typeface="Calibri"/>
              <a:cs typeface="Calibri"/>
              <a:sym typeface="Calibri"/>
            </a:endParaRPr>
          </a:p>
        </p:txBody>
      </p:sp>
      <p:sp>
        <p:nvSpPr>
          <p:cNvPr id="100" name="Google Shape;100;p3"/>
          <p:cNvSpPr/>
          <p:nvPr/>
        </p:nvSpPr>
        <p:spPr>
          <a:xfrm>
            <a:off x="11239500" y="4653227"/>
            <a:ext cx="6705600"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More profitable flows</a:t>
            </a:r>
            <a:endParaRPr sz="2100">
              <a:solidFill>
                <a:schemeClr val="dk1"/>
              </a:solidFill>
              <a:latin typeface="Calibri"/>
              <a:ea typeface="Calibri"/>
              <a:cs typeface="Calibri"/>
              <a:sym typeface="Calibri"/>
            </a:endParaRPr>
          </a:p>
        </p:txBody>
      </p:sp>
      <p:sp>
        <p:nvSpPr>
          <p:cNvPr id="101" name="Google Shape;101;p3"/>
          <p:cNvSpPr/>
          <p:nvPr/>
        </p:nvSpPr>
        <p:spPr>
          <a:xfrm>
            <a:off x="11239500" y="4994010"/>
            <a:ext cx="6278880"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$1.04 per recipient (vs. $0.21 in September) and $80 a day (+40%)</a:t>
            </a:r>
            <a:endParaRPr sz="1800">
              <a:solidFill>
                <a:schemeClr val="dk1"/>
              </a:solidFill>
              <a:latin typeface="Calibri"/>
              <a:ea typeface="Calibri"/>
              <a:cs typeface="Calibri"/>
              <a:sym typeface="Calibri"/>
            </a:endParaRPr>
          </a:p>
        </p:txBody>
      </p:sp>
      <p:sp>
        <p:nvSpPr>
          <p:cNvPr id="102" name="Google Shape;102;p3"/>
          <p:cNvSpPr/>
          <p:nvPr/>
        </p:nvSpPr>
        <p:spPr>
          <a:xfrm>
            <a:off x="11239500" y="5992151"/>
            <a:ext cx="6705600"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Smile is growing</a:t>
            </a:r>
            <a:endParaRPr sz="2100">
              <a:solidFill>
                <a:schemeClr val="dk1"/>
              </a:solidFill>
              <a:latin typeface="Calibri"/>
              <a:ea typeface="Calibri"/>
              <a:cs typeface="Calibri"/>
              <a:sym typeface="Calibri"/>
            </a:endParaRPr>
          </a:p>
        </p:txBody>
      </p:sp>
      <p:sp>
        <p:nvSpPr>
          <p:cNvPr id="103" name="Google Shape;103;p3"/>
          <p:cNvSpPr/>
          <p:nvPr/>
        </p:nvSpPr>
        <p:spPr>
          <a:xfrm>
            <a:off x="11239500" y="6332934"/>
            <a:ext cx="6278880"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Customers earning points: 74 → 82 a week (+11%) since paid media began</a:t>
            </a:r>
            <a:endParaRPr sz="1800">
              <a:solidFill>
                <a:schemeClr val="dk1"/>
              </a:solidFill>
              <a:latin typeface="Calibri"/>
              <a:ea typeface="Calibri"/>
              <a:cs typeface="Calibri"/>
              <a:sym typeface="Calibri"/>
            </a:endParaRPr>
          </a:p>
        </p:txBody>
      </p:sp>
      <p:sp>
        <p:nvSpPr>
          <p:cNvPr id="104" name="Google Shape;104;p3"/>
          <p:cNvSpPr/>
          <p:nvPr/>
        </p:nvSpPr>
        <p:spPr>
          <a:xfrm>
            <a:off x="11239500" y="7330943"/>
            <a:ext cx="6705600"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Subscriptions up</a:t>
            </a:r>
            <a:endParaRPr sz="2100">
              <a:solidFill>
                <a:schemeClr val="dk1"/>
              </a:solidFill>
              <a:latin typeface="Calibri"/>
              <a:ea typeface="Calibri"/>
              <a:cs typeface="Calibri"/>
              <a:sym typeface="Calibri"/>
            </a:endParaRPr>
          </a:p>
        </p:txBody>
      </p:sp>
      <p:sp>
        <p:nvSpPr>
          <p:cNvPr id="105" name="Google Shape;105;p3"/>
          <p:cNvSpPr/>
          <p:nvPr/>
        </p:nvSpPr>
        <p:spPr>
          <a:xfrm>
            <a:off x="11239500" y="7671726"/>
            <a:ext cx="6705600"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Subscribe &amp; Save flow live since Oct 7</a:t>
            </a:r>
            <a:endParaRPr sz="1800">
              <a:solidFill>
                <a:schemeClr val="dk1"/>
              </a:solidFill>
              <a:latin typeface="Calibri"/>
              <a:ea typeface="Calibri"/>
              <a:cs typeface="Calibri"/>
              <a:sym typeface="Calibri"/>
            </a:endParaRPr>
          </a:p>
        </p:txBody>
      </p:sp>
      <p:sp>
        <p:nvSpPr>
          <p:cNvPr id="106" name="Google Shape;106;p3"/>
          <p:cNvSpPr/>
          <p:nvPr/>
        </p:nvSpPr>
        <p:spPr>
          <a:xfrm>
            <a:off x="11239500" y="8349853"/>
            <a:ext cx="6705600"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Google: Brand and PMax</a:t>
            </a:r>
            <a:endParaRPr sz="2100">
              <a:solidFill>
                <a:schemeClr val="dk1"/>
              </a:solidFill>
              <a:latin typeface="Calibri"/>
              <a:ea typeface="Calibri"/>
              <a:cs typeface="Calibri"/>
              <a:sym typeface="Calibri"/>
            </a:endParaRPr>
          </a:p>
        </p:txBody>
      </p:sp>
      <p:sp>
        <p:nvSpPr>
          <p:cNvPr id="107" name="Google Shape;107;p3"/>
          <p:cNvSpPr/>
          <p:nvPr/>
        </p:nvSpPr>
        <p:spPr>
          <a:xfrm>
            <a:off x="11239500" y="8690636"/>
            <a:ext cx="6705600"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Brand ROAS 4.69× and PMax 2.12×, lifted indirectly by Meta</a:t>
            </a:r>
            <a:endParaRPr sz="1800">
              <a:solidFill>
                <a:schemeClr val="dk1"/>
              </a:solidFill>
              <a:latin typeface="Calibri"/>
              <a:ea typeface="Calibri"/>
              <a:cs typeface="Calibri"/>
              <a:sym typeface="Calibri"/>
            </a:endParaRPr>
          </a:p>
        </p:txBody>
      </p:sp>
      <p:sp>
        <p:nvSpPr>
          <p:cNvPr id="108" name="Google Shape;108;p3"/>
          <p:cNvSpPr/>
          <p:nvPr/>
        </p:nvSpPr>
        <p:spPr>
          <a:xfrm>
            <a:off x="952500" y="9529233"/>
            <a:ext cx="8843738"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SOURCE: KLAVIYO, BROOKLYN FINANCIAL ANALYSIS, PLATFORM REPORTS</a:t>
            </a:r>
            <a:endParaRPr sz="1800">
              <a:solidFill>
                <a:schemeClr val="dk1"/>
              </a:solidFill>
              <a:latin typeface="Calibri"/>
              <a:ea typeface="Calibri"/>
              <a:cs typeface="Calibri"/>
              <a:sym typeface="Calibri"/>
            </a:endParaRPr>
          </a:p>
        </p:txBody>
      </p:sp>
      <p:sp>
        <p:nvSpPr>
          <p:cNvPr id="109" name="Google Shape;109;p3"/>
          <p:cNvSpPr/>
          <p:nvPr/>
        </p:nvSpPr>
        <p:spPr>
          <a:xfrm>
            <a:off x="17044193" y="9529233"/>
            <a:ext cx="36750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114" name="Shape 114"/>
        <p:cNvGrpSpPr/>
        <p:nvPr/>
      </p:nvGrpSpPr>
      <p:grpSpPr>
        <a:xfrm>
          <a:off x="0" y="0"/>
          <a:ext cx="0" cy="0"/>
          <a:chOff x="0" y="0"/>
          <a:chExt cx="0" cy="0"/>
        </a:xfrm>
      </p:grpSpPr>
      <p:pic>
        <p:nvPicPr>
          <p:cNvPr descr="preencoded.png" id="115" name="Google Shape;115;p4"/>
          <p:cNvPicPr preferRelativeResize="0"/>
          <p:nvPr/>
        </p:nvPicPr>
        <p:blipFill rotWithShape="1">
          <a:blip r:embed="rId3">
            <a:alphaModFix/>
          </a:blip>
          <a:srcRect b="0" l="0" r="0" t="0"/>
          <a:stretch/>
        </p:blipFill>
        <p:spPr>
          <a:xfrm>
            <a:off x="16192500" y="685800"/>
            <a:ext cx="1143000" cy="1143000"/>
          </a:xfrm>
          <a:prstGeom prst="rect">
            <a:avLst/>
          </a:prstGeom>
          <a:noFill/>
          <a:ln>
            <a:noFill/>
          </a:ln>
        </p:spPr>
      </p:pic>
      <p:sp>
        <p:nvSpPr>
          <p:cNvPr id="116" name="Google Shape;116;p4"/>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14E2C"/>
              </a:buClr>
              <a:buSzPts val="1950"/>
              <a:buFont typeface="Oswald"/>
              <a:buNone/>
            </a:pPr>
            <a:r>
              <a:rPr lang="en-US" sz="1950">
                <a:solidFill>
                  <a:srgbClr val="B14E2C"/>
                </a:solidFill>
                <a:latin typeface="Oswald"/>
                <a:ea typeface="Oswald"/>
                <a:cs typeface="Oswald"/>
                <a:sym typeface="Oswald"/>
              </a:rPr>
              <a:t>BROOKLYN BILTONG · EFFICIENCY</a:t>
            </a:r>
            <a:endParaRPr sz="1950">
              <a:solidFill>
                <a:schemeClr val="dk1"/>
              </a:solidFill>
              <a:latin typeface="Calibri"/>
              <a:ea typeface="Calibri"/>
              <a:cs typeface="Calibri"/>
              <a:sym typeface="Calibri"/>
            </a:endParaRPr>
          </a:p>
        </p:txBody>
      </p:sp>
      <p:sp>
        <p:nvSpPr>
          <p:cNvPr id="117" name="Google Shape;117;p4"/>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Less investment, same margin</a:t>
            </a:r>
            <a:endParaRPr sz="4800">
              <a:solidFill>
                <a:schemeClr val="dk1"/>
              </a:solidFill>
              <a:latin typeface="Calibri"/>
              <a:ea typeface="Calibri"/>
              <a:cs typeface="Calibri"/>
              <a:sym typeface="Calibri"/>
            </a:endParaRPr>
          </a:p>
        </p:txBody>
      </p:sp>
      <p:sp>
        <p:nvSpPr>
          <p:cNvPr id="118" name="Google Shape;118;p4"/>
          <p:cNvSpPr/>
          <p:nvPr/>
        </p:nvSpPr>
        <p:spPr>
          <a:xfrm>
            <a:off x="952500" y="2508250"/>
            <a:ext cx="6858000" cy="6540500"/>
          </a:xfrm>
          <a:prstGeom prst="roundRect">
            <a:avLst>
              <a:gd fmla="val 2621"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1409700" y="2851150"/>
            <a:ext cx="6537960"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MONTHLY MEDIA INVESTMENT (USD)</a:t>
            </a:r>
            <a:endParaRPr sz="1800">
              <a:solidFill>
                <a:schemeClr val="dk1"/>
              </a:solidFill>
              <a:latin typeface="Calibri"/>
              <a:ea typeface="Calibri"/>
              <a:cs typeface="Calibri"/>
              <a:sym typeface="Calibri"/>
            </a:endParaRPr>
          </a:p>
        </p:txBody>
      </p:sp>
      <p:sp>
        <p:nvSpPr>
          <p:cNvPr id="120" name="Google Shape;120;p4"/>
          <p:cNvSpPr/>
          <p:nvPr/>
        </p:nvSpPr>
        <p:spPr>
          <a:xfrm>
            <a:off x="1409700" y="8396817"/>
            <a:ext cx="5943600" cy="16933"/>
          </a:xfrm>
          <a:prstGeom prst="rect">
            <a:avLst/>
          </a:prstGeom>
          <a:solidFill>
            <a:srgbClr val="BFC6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1663832" y="5085048"/>
            <a:ext cx="1244335" cy="495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3000"/>
              <a:buFont typeface="Bricolage Grotesque"/>
              <a:buNone/>
            </a:pPr>
            <a:r>
              <a:rPr b="1" lang="en-US" sz="3000">
                <a:solidFill>
                  <a:srgbClr val="55615D"/>
                </a:solidFill>
                <a:latin typeface="Bricolage Grotesque"/>
                <a:ea typeface="Bricolage Grotesque"/>
                <a:cs typeface="Bricolage Grotesque"/>
                <a:sym typeface="Bricolage Grotesque"/>
              </a:rPr>
              <a:t>$11.0K</a:t>
            </a:r>
            <a:endParaRPr sz="3000">
              <a:solidFill>
                <a:schemeClr val="dk1"/>
              </a:solidFill>
              <a:latin typeface="Calibri"/>
              <a:ea typeface="Calibri"/>
              <a:cs typeface="Calibri"/>
              <a:sym typeface="Calibri"/>
            </a:endParaRPr>
          </a:p>
        </p:txBody>
      </p:sp>
      <p:sp>
        <p:nvSpPr>
          <p:cNvPr id="122" name="Google Shape;122;p4"/>
          <p:cNvSpPr/>
          <p:nvPr/>
        </p:nvSpPr>
        <p:spPr>
          <a:xfrm>
            <a:off x="1409700" y="5656548"/>
            <a:ext cx="1676400" cy="2740269"/>
          </a:xfrm>
          <a:custGeom>
            <a:rect b="b" l="l" r="r" t="t"/>
            <a:pathLst>
              <a:path extrusionOk="0" h="3238500" w="1676400">
                <a:moveTo>
                  <a:pt x="95250" y="0"/>
                </a:moveTo>
                <a:lnTo>
                  <a:pt x="1581150" y="0"/>
                </a:lnTo>
                <a:cubicBezTo>
                  <a:pt x="1606412" y="0"/>
                  <a:pt x="1630639" y="10035"/>
                  <a:pt x="1648502" y="27898"/>
                </a:cubicBezTo>
                <a:cubicBezTo>
                  <a:pt x="1666365" y="45761"/>
                  <a:pt x="1676400" y="69988"/>
                  <a:pt x="1676400" y="95250"/>
                </a:cubicBezTo>
                <a:lnTo>
                  <a:pt x="1676400" y="3238500"/>
                </a:lnTo>
                <a:lnTo>
                  <a:pt x="0" y="3238500"/>
                </a:lnTo>
                <a:lnTo>
                  <a:pt x="0" y="95250"/>
                </a:lnTo>
                <a:cubicBezTo>
                  <a:pt x="0" y="42645"/>
                  <a:pt x="42645" y="0"/>
                  <a:pt x="9525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3954330" y="6053667"/>
            <a:ext cx="930540" cy="495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E4527"/>
              </a:buClr>
              <a:buSzPts val="3000"/>
              <a:buFont typeface="Bricolage Grotesque"/>
              <a:buNone/>
            </a:pPr>
            <a:r>
              <a:rPr b="1" lang="en-US" sz="3000">
                <a:solidFill>
                  <a:srgbClr val="9E4527"/>
                </a:solidFill>
                <a:latin typeface="Bricolage Grotesque"/>
                <a:ea typeface="Bricolage Grotesque"/>
                <a:cs typeface="Bricolage Grotesque"/>
                <a:sym typeface="Bricolage Grotesque"/>
              </a:rPr>
              <a:t>$7.1K</a:t>
            </a:r>
            <a:endParaRPr sz="3000">
              <a:solidFill>
                <a:schemeClr val="dk1"/>
              </a:solidFill>
              <a:latin typeface="Calibri"/>
              <a:ea typeface="Calibri"/>
              <a:cs typeface="Calibri"/>
              <a:sym typeface="Calibri"/>
            </a:endParaRPr>
          </a:p>
        </p:txBody>
      </p:sp>
      <p:sp>
        <p:nvSpPr>
          <p:cNvPr id="124" name="Google Shape;124;p4"/>
          <p:cNvSpPr/>
          <p:nvPr/>
        </p:nvSpPr>
        <p:spPr>
          <a:xfrm>
            <a:off x="3543300" y="6625167"/>
            <a:ext cx="1676400" cy="1771650"/>
          </a:xfrm>
          <a:custGeom>
            <a:rect b="b" l="l" r="r" t="t"/>
            <a:pathLst>
              <a:path extrusionOk="0" h="1771650" w="1676400">
                <a:moveTo>
                  <a:pt x="95250" y="0"/>
                </a:moveTo>
                <a:lnTo>
                  <a:pt x="1581150" y="0"/>
                </a:lnTo>
                <a:cubicBezTo>
                  <a:pt x="1606412" y="0"/>
                  <a:pt x="1630639" y="10035"/>
                  <a:pt x="1648502" y="27898"/>
                </a:cubicBezTo>
                <a:cubicBezTo>
                  <a:pt x="1666365" y="45761"/>
                  <a:pt x="1676400" y="69988"/>
                  <a:pt x="1676400" y="95250"/>
                </a:cubicBezTo>
                <a:lnTo>
                  <a:pt x="1676400" y="1771650"/>
                </a:lnTo>
                <a:lnTo>
                  <a:pt x="0" y="1771650"/>
                </a:lnTo>
                <a:lnTo>
                  <a:pt x="0" y="95250"/>
                </a:lnTo>
                <a:cubicBezTo>
                  <a:pt x="0" y="42645"/>
                  <a:pt x="42645" y="0"/>
                  <a:pt x="95250" y="0"/>
                </a:cubicBezTo>
                <a:close/>
              </a:path>
            </a:pathLst>
          </a:custGeom>
          <a:solidFill>
            <a:srgbClr val="DD95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5991490" y="6253692"/>
            <a:ext cx="1123421" cy="495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E4527"/>
              </a:buClr>
              <a:buSzPts val="3000"/>
              <a:buFont typeface="Bricolage Grotesque"/>
              <a:buNone/>
            </a:pPr>
            <a:r>
              <a:rPr b="1" lang="en-US" sz="3000">
                <a:solidFill>
                  <a:srgbClr val="9E4527"/>
                </a:solidFill>
                <a:latin typeface="Bricolage Grotesque"/>
                <a:ea typeface="Bricolage Grotesque"/>
                <a:cs typeface="Bricolage Grotesque"/>
                <a:sym typeface="Bricolage Grotesque"/>
              </a:rPr>
              <a:t>$6.3K</a:t>
            </a:r>
            <a:endParaRPr sz="3000">
              <a:solidFill>
                <a:schemeClr val="dk1"/>
              </a:solidFill>
              <a:latin typeface="Calibri"/>
              <a:ea typeface="Calibri"/>
              <a:cs typeface="Calibri"/>
              <a:sym typeface="Calibri"/>
            </a:endParaRPr>
          </a:p>
        </p:txBody>
      </p:sp>
      <p:sp>
        <p:nvSpPr>
          <p:cNvPr id="126" name="Google Shape;126;p4"/>
          <p:cNvSpPr/>
          <p:nvPr/>
        </p:nvSpPr>
        <p:spPr>
          <a:xfrm>
            <a:off x="5676900" y="6825192"/>
            <a:ext cx="1676400" cy="1571625"/>
          </a:xfrm>
          <a:custGeom>
            <a:rect b="b" l="l" r="r" t="t"/>
            <a:pathLst>
              <a:path extrusionOk="0" h="1571625" w="1676400">
                <a:moveTo>
                  <a:pt x="95250" y="0"/>
                </a:moveTo>
                <a:lnTo>
                  <a:pt x="1581150" y="0"/>
                </a:lnTo>
                <a:cubicBezTo>
                  <a:pt x="1606412" y="0"/>
                  <a:pt x="1630639" y="10035"/>
                  <a:pt x="1648502" y="27898"/>
                </a:cubicBezTo>
                <a:cubicBezTo>
                  <a:pt x="1666365" y="45761"/>
                  <a:pt x="1676400" y="69988"/>
                  <a:pt x="1676400" y="95250"/>
                </a:cubicBezTo>
                <a:lnTo>
                  <a:pt x="1676400" y="1571625"/>
                </a:lnTo>
                <a:lnTo>
                  <a:pt x="0" y="1571625"/>
                </a:lnTo>
                <a:lnTo>
                  <a:pt x="0" y="95250"/>
                </a:lnTo>
                <a:cubicBezTo>
                  <a:pt x="0" y="42645"/>
                  <a:pt x="42645" y="0"/>
                  <a:pt x="95250" y="0"/>
                </a:cubicBezTo>
                <a:close/>
              </a:path>
            </a:pathLst>
          </a:cu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1325880" y="8528050"/>
            <a:ext cx="1844040"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May</a:t>
            </a:r>
            <a:endParaRPr sz="1800">
              <a:solidFill>
                <a:schemeClr val="dk1"/>
              </a:solidFill>
              <a:latin typeface="Calibri"/>
              <a:ea typeface="Calibri"/>
              <a:cs typeface="Calibri"/>
              <a:sym typeface="Calibri"/>
            </a:endParaRPr>
          </a:p>
        </p:txBody>
      </p:sp>
      <p:sp>
        <p:nvSpPr>
          <p:cNvPr id="128" name="Google Shape;128;p4"/>
          <p:cNvSpPr/>
          <p:nvPr/>
        </p:nvSpPr>
        <p:spPr>
          <a:xfrm>
            <a:off x="3459480" y="8528050"/>
            <a:ext cx="1844040"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September</a:t>
            </a:r>
            <a:endParaRPr sz="1800">
              <a:solidFill>
                <a:schemeClr val="dk1"/>
              </a:solidFill>
              <a:latin typeface="Calibri"/>
              <a:ea typeface="Calibri"/>
              <a:cs typeface="Calibri"/>
              <a:sym typeface="Calibri"/>
            </a:endParaRPr>
          </a:p>
        </p:txBody>
      </p:sp>
      <p:sp>
        <p:nvSpPr>
          <p:cNvPr id="129" name="Google Shape;129;p4"/>
          <p:cNvSpPr/>
          <p:nvPr/>
        </p:nvSpPr>
        <p:spPr>
          <a:xfrm>
            <a:off x="5593080" y="8528050"/>
            <a:ext cx="1844040"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October</a:t>
            </a:r>
            <a:endParaRPr sz="1800">
              <a:solidFill>
                <a:schemeClr val="dk1"/>
              </a:solidFill>
              <a:latin typeface="Calibri"/>
              <a:ea typeface="Calibri"/>
              <a:cs typeface="Calibri"/>
              <a:sym typeface="Calibri"/>
            </a:endParaRPr>
          </a:p>
        </p:txBody>
      </p:sp>
      <p:sp>
        <p:nvSpPr>
          <p:cNvPr id="130" name="Google Shape;130;p4"/>
          <p:cNvSpPr/>
          <p:nvPr/>
        </p:nvSpPr>
        <p:spPr>
          <a:xfrm>
            <a:off x="8343900" y="2508250"/>
            <a:ext cx="989076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950"/>
              <a:buFont typeface="Oswald"/>
              <a:buNone/>
            </a:pPr>
            <a:r>
              <a:rPr lang="en-US" sz="1950">
                <a:solidFill>
                  <a:srgbClr val="16211F"/>
                </a:solidFill>
                <a:latin typeface="Oswald"/>
                <a:ea typeface="Oswald"/>
                <a:cs typeface="Oswald"/>
                <a:sym typeface="Oswald"/>
              </a:rPr>
              <a:t>WHAT WE SEE IN THE DATA</a:t>
            </a:r>
            <a:endParaRPr sz="1950">
              <a:solidFill>
                <a:schemeClr val="dk1"/>
              </a:solidFill>
              <a:latin typeface="Calibri"/>
              <a:ea typeface="Calibri"/>
              <a:cs typeface="Calibri"/>
              <a:sym typeface="Calibri"/>
            </a:endParaRPr>
          </a:p>
        </p:txBody>
      </p:sp>
      <p:sp>
        <p:nvSpPr>
          <p:cNvPr id="131" name="Google Shape;131;p4"/>
          <p:cNvSpPr/>
          <p:nvPr/>
        </p:nvSpPr>
        <p:spPr>
          <a:xfrm>
            <a:off x="8343900" y="3389577"/>
            <a:ext cx="133350" cy="133350"/>
          </a:xfrm>
          <a:prstGeom prst="ellipse">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8763000" y="3251994"/>
            <a:ext cx="942975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Subscriptions and value per purchase are rising</a:t>
            </a:r>
            <a:endParaRPr sz="2100">
              <a:solidFill>
                <a:schemeClr val="dk1"/>
              </a:solidFill>
              <a:latin typeface="Calibri"/>
              <a:ea typeface="Calibri"/>
              <a:cs typeface="Calibri"/>
              <a:sym typeface="Calibri"/>
            </a:endParaRPr>
          </a:p>
        </p:txBody>
      </p:sp>
      <p:sp>
        <p:nvSpPr>
          <p:cNvPr id="133" name="Google Shape;133;p4"/>
          <p:cNvSpPr/>
          <p:nvPr/>
        </p:nvSpPr>
        <p:spPr>
          <a:xfrm>
            <a:off x="8343900" y="4522391"/>
            <a:ext cx="133350" cy="133350"/>
          </a:xfrm>
          <a:prstGeom prst="ellipse">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8763000" y="4384807"/>
            <a:ext cx="8829675"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Conversion moved from 2.54% to 2.16% due to a traffic-objective campaign; sessions outside social fell 11%</a:t>
            </a:r>
            <a:endParaRPr sz="2100">
              <a:solidFill>
                <a:schemeClr val="dk1"/>
              </a:solidFill>
              <a:latin typeface="Calibri"/>
              <a:ea typeface="Calibri"/>
              <a:cs typeface="Calibri"/>
              <a:sym typeface="Calibri"/>
            </a:endParaRPr>
          </a:p>
        </p:txBody>
      </p:sp>
      <p:sp>
        <p:nvSpPr>
          <p:cNvPr id="135" name="Google Shape;135;p4"/>
          <p:cNvSpPr/>
          <p:nvPr/>
        </p:nvSpPr>
        <p:spPr>
          <a:xfrm>
            <a:off x="8343900" y="6028399"/>
            <a:ext cx="133350" cy="133350"/>
          </a:xfrm>
          <a:prstGeom prst="ellipse">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8763000" y="5890815"/>
            <a:ext cx="942975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Meta retargeting does its job: it indirectly lifts the other campaigns</a:t>
            </a:r>
            <a:endParaRPr sz="2100">
              <a:solidFill>
                <a:schemeClr val="dk1"/>
              </a:solidFill>
              <a:latin typeface="Calibri"/>
              <a:ea typeface="Calibri"/>
              <a:cs typeface="Calibri"/>
              <a:sym typeface="Calibri"/>
            </a:endParaRPr>
          </a:p>
        </p:txBody>
      </p:sp>
      <p:sp>
        <p:nvSpPr>
          <p:cNvPr id="137" name="Google Shape;137;p4"/>
          <p:cNvSpPr/>
          <p:nvPr/>
        </p:nvSpPr>
        <p:spPr>
          <a:xfrm>
            <a:off x="8343900" y="7161212"/>
            <a:ext cx="133350" cy="133350"/>
          </a:xfrm>
          <a:prstGeom prst="ellipse">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8763000" y="7023629"/>
            <a:ext cx="942975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Email: more sends, more focused, with themed flows</a:t>
            </a:r>
            <a:endParaRPr sz="2100">
              <a:solidFill>
                <a:schemeClr val="dk1"/>
              </a:solidFill>
              <a:latin typeface="Calibri"/>
              <a:ea typeface="Calibri"/>
              <a:cs typeface="Calibri"/>
              <a:sym typeface="Calibri"/>
            </a:endParaRPr>
          </a:p>
        </p:txBody>
      </p:sp>
      <p:sp>
        <p:nvSpPr>
          <p:cNvPr id="139" name="Google Shape;139;p4"/>
          <p:cNvSpPr/>
          <p:nvPr/>
        </p:nvSpPr>
        <p:spPr>
          <a:xfrm>
            <a:off x="8343900" y="7776633"/>
            <a:ext cx="8991600" cy="1272117"/>
          </a:xfrm>
          <a:prstGeom prst="roundRect">
            <a:avLst>
              <a:gd fmla="val 13478"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8667750" y="8024283"/>
            <a:ext cx="9178290"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D65E"/>
              </a:buClr>
              <a:buSzPts val="1800"/>
              <a:buFont typeface="Oswald"/>
              <a:buNone/>
            </a:pPr>
            <a:r>
              <a:rPr lang="en-US" sz="1800">
                <a:solidFill>
                  <a:srgbClr val="F4D65E"/>
                </a:solidFill>
                <a:latin typeface="Oswald"/>
                <a:ea typeface="Oswald"/>
                <a:cs typeface="Oswald"/>
                <a:sym typeface="Oswald"/>
              </a:rPr>
              <a:t>NEXT STEP: GROW SALES</a:t>
            </a:r>
            <a:endParaRPr sz="1800">
              <a:solidFill>
                <a:schemeClr val="dk1"/>
              </a:solidFill>
              <a:latin typeface="Calibri"/>
              <a:ea typeface="Calibri"/>
              <a:cs typeface="Calibri"/>
              <a:sym typeface="Calibri"/>
            </a:endParaRPr>
          </a:p>
        </p:txBody>
      </p:sp>
      <p:sp>
        <p:nvSpPr>
          <p:cNvPr id="141" name="Google Shape;141;p4"/>
          <p:cNvSpPr/>
          <p:nvPr/>
        </p:nvSpPr>
        <p:spPr>
          <a:xfrm>
            <a:off x="8667750" y="8420100"/>
            <a:ext cx="9178290" cy="419100"/>
          </a:xfrm>
          <a:prstGeom prst="rect">
            <a:avLst/>
          </a:prstGeom>
          <a:noFill/>
          <a:ln>
            <a:noFill/>
          </a:ln>
        </p:spPr>
        <p:txBody>
          <a:bodyPr anchorCtr="0" anchor="t" bIns="25400" lIns="25400" spcFirstLastPara="1" rIns="25400" wrap="square" tIns="25400">
            <a:normAutofit/>
          </a:bodyPr>
          <a:lstStyle/>
          <a:p>
            <a:pPr indent="0" lvl="0" marL="0" marR="0" rtl="0" algn="l">
              <a:lnSpc>
                <a:spcPct val="104651"/>
              </a:lnSpc>
              <a:spcBef>
                <a:spcPts val="0"/>
              </a:spcBef>
              <a:spcAft>
                <a:spcPts val="0"/>
              </a:spcAft>
              <a:buClr>
                <a:srgbClr val="FBF6EC"/>
              </a:buClr>
              <a:buSzPts val="2400"/>
              <a:buFont typeface="Bricolage Grotesque"/>
              <a:buNone/>
            </a:pPr>
            <a:r>
              <a:rPr b="1" lang="en-US" sz="2400">
                <a:solidFill>
                  <a:srgbClr val="FBF6EC"/>
                </a:solidFill>
                <a:latin typeface="Bricolage Grotesque"/>
                <a:ea typeface="Bricolage Grotesque"/>
                <a:cs typeface="Bricolage Grotesque"/>
                <a:sym typeface="Bricolage Grotesque"/>
              </a:rPr>
              <a:t>The Fast Sale starts tomorrow, October 15.</a:t>
            </a:r>
            <a:endParaRPr sz="2400">
              <a:solidFill>
                <a:schemeClr val="dk1"/>
              </a:solidFill>
              <a:latin typeface="Calibri"/>
              <a:ea typeface="Calibri"/>
              <a:cs typeface="Calibri"/>
              <a:sym typeface="Calibri"/>
            </a:endParaRPr>
          </a:p>
        </p:txBody>
      </p:sp>
      <p:sp>
        <p:nvSpPr>
          <p:cNvPr id="142" name="Google Shape;142;p4"/>
          <p:cNvSpPr/>
          <p:nvPr/>
        </p:nvSpPr>
        <p:spPr>
          <a:xfrm>
            <a:off x="952500" y="9529233"/>
            <a:ext cx="7320862"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SOURCE: BROOKLYN DASHBOARD AND PLATFORM ANALYTICS</a:t>
            </a:r>
            <a:endParaRPr sz="1800">
              <a:solidFill>
                <a:schemeClr val="dk1"/>
              </a:solidFill>
              <a:latin typeface="Calibri"/>
              <a:ea typeface="Calibri"/>
              <a:cs typeface="Calibri"/>
              <a:sym typeface="Calibri"/>
            </a:endParaRPr>
          </a:p>
        </p:txBody>
      </p:sp>
      <p:sp>
        <p:nvSpPr>
          <p:cNvPr id="143" name="Google Shape;143;p4"/>
          <p:cNvSpPr/>
          <p:nvPr/>
        </p:nvSpPr>
        <p:spPr>
          <a:xfrm>
            <a:off x="17042871" y="9529233"/>
            <a:ext cx="368829"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148" name="Shape 148"/>
        <p:cNvGrpSpPr/>
        <p:nvPr/>
      </p:nvGrpSpPr>
      <p:grpSpPr>
        <a:xfrm>
          <a:off x="0" y="0"/>
          <a:ext cx="0" cy="0"/>
          <a:chOff x="0" y="0"/>
          <a:chExt cx="0" cy="0"/>
        </a:xfrm>
      </p:grpSpPr>
      <p:pic>
        <p:nvPicPr>
          <p:cNvPr descr="preencoded.png" id="149" name="Google Shape;149;p5"/>
          <p:cNvPicPr preferRelativeResize="0"/>
          <p:nvPr/>
        </p:nvPicPr>
        <p:blipFill rotWithShape="1">
          <a:blip r:embed="rId3">
            <a:alphaModFix/>
          </a:blip>
          <a:srcRect b="0" l="0" r="0" t="0"/>
          <a:stretch/>
        </p:blipFill>
        <p:spPr>
          <a:xfrm>
            <a:off x="16192500" y="685800"/>
            <a:ext cx="1143000" cy="1143000"/>
          </a:xfrm>
          <a:prstGeom prst="rect">
            <a:avLst/>
          </a:prstGeom>
          <a:noFill/>
          <a:ln>
            <a:noFill/>
          </a:ln>
        </p:spPr>
      </p:pic>
      <p:sp>
        <p:nvSpPr>
          <p:cNvPr id="150" name="Google Shape;150;p5"/>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14E2C"/>
              </a:buClr>
              <a:buSzPts val="1950"/>
              <a:buFont typeface="Oswald"/>
              <a:buNone/>
            </a:pPr>
            <a:r>
              <a:rPr lang="en-US" sz="1950">
                <a:solidFill>
                  <a:srgbClr val="B14E2C"/>
                </a:solidFill>
                <a:latin typeface="Oswald"/>
                <a:ea typeface="Oswald"/>
                <a:cs typeface="Oswald"/>
                <a:sym typeface="Oswald"/>
              </a:rPr>
              <a:t>BROOKLYN BILTONG · EMAIL &amp; SMS</a:t>
            </a:r>
            <a:endParaRPr sz="1950">
              <a:solidFill>
                <a:schemeClr val="dk1"/>
              </a:solidFill>
              <a:latin typeface="Calibri"/>
              <a:ea typeface="Calibri"/>
              <a:cs typeface="Calibri"/>
              <a:sym typeface="Calibri"/>
            </a:endParaRPr>
          </a:p>
        </p:txBody>
      </p:sp>
      <p:sp>
        <p:nvSpPr>
          <p:cNvPr id="151" name="Google Shape;151;p5"/>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Email and SMS are driving repeat sales</a:t>
            </a:r>
            <a:endParaRPr sz="4800">
              <a:solidFill>
                <a:schemeClr val="dk1"/>
              </a:solidFill>
              <a:latin typeface="Calibri"/>
              <a:ea typeface="Calibri"/>
              <a:cs typeface="Calibri"/>
              <a:sym typeface="Calibri"/>
            </a:endParaRPr>
          </a:p>
        </p:txBody>
      </p:sp>
      <p:sp>
        <p:nvSpPr>
          <p:cNvPr id="152" name="Google Shape;152;p5"/>
          <p:cNvSpPr/>
          <p:nvPr/>
        </p:nvSpPr>
        <p:spPr>
          <a:xfrm>
            <a:off x="952500" y="2508250"/>
            <a:ext cx="5334000" cy="3117850"/>
          </a:xfrm>
          <a:prstGeom prst="roundRect">
            <a:avLst>
              <a:gd fmla="val 5499"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1371600" y="3074723"/>
            <a:ext cx="4945380" cy="1181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FBF6EC"/>
              </a:buClr>
              <a:buSzPts val="9000"/>
              <a:buFont typeface="Bricolage Grotesque"/>
              <a:buNone/>
            </a:pPr>
            <a:r>
              <a:rPr b="1" lang="en-US" sz="9000">
                <a:solidFill>
                  <a:srgbClr val="FBF6EC"/>
                </a:solidFill>
                <a:latin typeface="Bricolage Grotesque"/>
                <a:ea typeface="Bricolage Grotesque"/>
                <a:cs typeface="Bricolage Grotesque"/>
                <a:sym typeface="Bricolage Grotesque"/>
              </a:rPr>
              <a:t>$2,074</a:t>
            </a:r>
            <a:endParaRPr sz="9000">
              <a:solidFill>
                <a:schemeClr val="dk1"/>
              </a:solidFill>
              <a:latin typeface="Calibri"/>
              <a:ea typeface="Calibri"/>
              <a:cs typeface="Calibri"/>
              <a:sym typeface="Calibri"/>
            </a:endParaRPr>
          </a:p>
        </p:txBody>
      </p:sp>
      <p:sp>
        <p:nvSpPr>
          <p:cNvPr id="154" name="Google Shape;154;p5"/>
          <p:cNvSpPr/>
          <p:nvPr/>
        </p:nvSpPr>
        <p:spPr>
          <a:xfrm>
            <a:off x="1371600" y="4312973"/>
            <a:ext cx="4630674"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lang="en-US" sz="2100">
                <a:solidFill>
                  <a:srgbClr val="FBF6EC"/>
                </a:solidFill>
                <a:latin typeface="Archivo"/>
                <a:ea typeface="Archivo"/>
                <a:cs typeface="Archivo"/>
                <a:sym typeface="Archivo"/>
              </a:rPr>
              <a:t>in email and SMS-attributed sales, Oct 1–14</a:t>
            </a:r>
            <a:endParaRPr sz="2100">
              <a:solidFill>
                <a:schemeClr val="dk1"/>
              </a:solidFill>
              <a:latin typeface="Calibri"/>
              <a:ea typeface="Calibri"/>
              <a:cs typeface="Calibri"/>
              <a:sym typeface="Calibri"/>
            </a:endParaRPr>
          </a:p>
        </p:txBody>
      </p:sp>
      <p:sp>
        <p:nvSpPr>
          <p:cNvPr id="155" name="Google Shape;155;p5"/>
          <p:cNvSpPr/>
          <p:nvPr/>
        </p:nvSpPr>
        <p:spPr>
          <a:xfrm>
            <a:off x="952500" y="5930900"/>
            <a:ext cx="5334000" cy="3117850"/>
          </a:xfrm>
          <a:prstGeom prst="roundRect">
            <a:avLst>
              <a:gd fmla="val 5499"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1371600" y="6497373"/>
            <a:ext cx="4945380" cy="1181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16211F"/>
              </a:buClr>
              <a:buSzPts val="9000"/>
              <a:buFont typeface="Bricolage Grotesque"/>
              <a:buNone/>
            </a:pPr>
            <a:r>
              <a:rPr b="1" lang="en-US" sz="9000">
                <a:solidFill>
                  <a:srgbClr val="16211F"/>
                </a:solidFill>
                <a:latin typeface="Bricolage Grotesque"/>
                <a:ea typeface="Bricolage Grotesque"/>
                <a:cs typeface="Bricolage Grotesque"/>
                <a:sym typeface="Bricolage Grotesque"/>
              </a:rPr>
              <a:t>31</a:t>
            </a:r>
            <a:endParaRPr sz="9000">
              <a:solidFill>
                <a:schemeClr val="dk1"/>
              </a:solidFill>
              <a:latin typeface="Calibri"/>
              <a:ea typeface="Calibri"/>
              <a:cs typeface="Calibri"/>
              <a:sym typeface="Calibri"/>
            </a:endParaRPr>
          </a:p>
        </p:txBody>
      </p:sp>
      <p:sp>
        <p:nvSpPr>
          <p:cNvPr id="157" name="Google Shape;157;p5"/>
          <p:cNvSpPr/>
          <p:nvPr/>
        </p:nvSpPr>
        <p:spPr>
          <a:xfrm>
            <a:off x="1371600" y="7735623"/>
            <a:ext cx="4630674"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orders; 17 came in automatically through flows</a:t>
            </a:r>
            <a:endParaRPr sz="2100">
              <a:solidFill>
                <a:schemeClr val="dk1"/>
              </a:solidFill>
              <a:latin typeface="Calibri"/>
              <a:ea typeface="Calibri"/>
              <a:cs typeface="Calibri"/>
              <a:sym typeface="Calibri"/>
            </a:endParaRPr>
          </a:p>
        </p:txBody>
      </p:sp>
      <p:sp>
        <p:nvSpPr>
          <p:cNvPr id="158" name="Google Shape;158;p5"/>
          <p:cNvSpPr/>
          <p:nvPr/>
        </p:nvSpPr>
        <p:spPr>
          <a:xfrm>
            <a:off x="6591300" y="2508250"/>
            <a:ext cx="10744200" cy="6540500"/>
          </a:xfrm>
          <a:prstGeom prst="roundRect">
            <a:avLst>
              <a:gd fmla="val 2621"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7048500" y="2851150"/>
            <a:ext cx="10812780"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SALES BY PROGRAM (USD)</a:t>
            </a:r>
            <a:endParaRPr sz="1800">
              <a:solidFill>
                <a:schemeClr val="dk1"/>
              </a:solidFill>
              <a:latin typeface="Calibri"/>
              <a:ea typeface="Calibri"/>
              <a:cs typeface="Calibri"/>
              <a:sym typeface="Calibri"/>
            </a:endParaRPr>
          </a:p>
        </p:txBody>
      </p:sp>
      <p:sp>
        <p:nvSpPr>
          <p:cNvPr id="160" name="Google Shape;160;p5"/>
          <p:cNvSpPr/>
          <p:nvPr/>
        </p:nvSpPr>
        <p:spPr>
          <a:xfrm>
            <a:off x="7048500" y="3597672"/>
            <a:ext cx="335280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950"/>
              <a:buFont typeface="Archivo"/>
              <a:buNone/>
            </a:pPr>
            <a:r>
              <a:rPr lang="en-US" sz="1950">
                <a:solidFill>
                  <a:srgbClr val="16211F"/>
                </a:solidFill>
                <a:latin typeface="Archivo"/>
                <a:ea typeface="Archivo"/>
                <a:cs typeface="Archivo"/>
                <a:sym typeface="Archivo"/>
              </a:rPr>
              <a:t>First-purchase flow</a:t>
            </a:r>
            <a:endParaRPr sz="1950">
              <a:solidFill>
                <a:schemeClr val="dk1"/>
              </a:solidFill>
              <a:latin typeface="Calibri"/>
              <a:ea typeface="Calibri"/>
              <a:cs typeface="Calibri"/>
              <a:sym typeface="Calibri"/>
            </a:endParaRPr>
          </a:p>
        </p:txBody>
      </p:sp>
      <p:sp>
        <p:nvSpPr>
          <p:cNvPr id="161" name="Google Shape;161;p5"/>
          <p:cNvSpPr/>
          <p:nvPr/>
        </p:nvSpPr>
        <p:spPr>
          <a:xfrm>
            <a:off x="10287000" y="3542639"/>
            <a:ext cx="5543550" cy="381000"/>
          </a:xfrm>
          <a:custGeom>
            <a:rect b="b" l="l" r="r" t="t"/>
            <a:pathLst>
              <a:path extrusionOk="0" h="381000" w="5543550">
                <a:moveTo>
                  <a:pt x="0" y="0"/>
                </a:moveTo>
                <a:lnTo>
                  <a:pt x="5467350" y="0"/>
                </a:lnTo>
                <a:cubicBezTo>
                  <a:pt x="5487559" y="0"/>
                  <a:pt x="5506941" y="8028"/>
                  <a:pt x="5521232" y="22318"/>
                </a:cubicBezTo>
                <a:cubicBezTo>
                  <a:pt x="5535522" y="36609"/>
                  <a:pt x="5543550" y="55991"/>
                  <a:pt x="5543550" y="76200"/>
                </a:cubicBezTo>
                <a:lnTo>
                  <a:pt x="5543550" y="304800"/>
                </a:lnTo>
                <a:cubicBezTo>
                  <a:pt x="5543550" y="346884"/>
                  <a:pt x="5509434" y="381000"/>
                  <a:pt x="5467350" y="381000"/>
                </a:cubicBezTo>
                <a:lnTo>
                  <a:pt x="0" y="381000"/>
                </a:lnTo>
                <a:lnTo>
                  <a:pt x="0" y="0"/>
                </a:lnTo>
                <a:close/>
              </a:path>
            </a:pathLst>
          </a:cu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16021050" y="3597672"/>
            <a:ext cx="93345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950"/>
              <a:buFont typeface="Archivo"/>
              <a:buNone/>
            </a:pPr>
            <a:r>
              <a:rPr b="1" lang="en-US" sz="1950">
                <a:solidFill>
                  <a:srgbClr val="16211F"/>
                </a:solidFill>
                <a:latin typeface="Archivo"/>
                <a:ea typeface="Archivo"/>
                <a:cs typeface="Archivo"/>
                <a:sym typeface="Archivo"/>
              </a:rPr>
              <a:t>$647</a:t>
            </a:r>
            <a:endParaRPr sz="1950">
              <a:solidFill>
                <a:schemeClr val="dk1"/>
              </a:solidFill>
              <a:latin typeface="Calibri"/>
              <a:ea typeface="Calibri"/>
              <a:cs typeface="Calibri"/>
              <a:sym typeface="Calibri"/>
            </a:endParaRPr>
          </a:p>
        </p:txBody>
      </p:sp>
      <p:sp>
        <p:nvSpPr>
          <p:cNvPr id="163" name="Google Shape;163;p5"/>
          <p:cNvSpPr/>
          <p:nvPr/>
        </p:nvSpPr>
        <p:spPr>
          <a:xfrm>
            <a:off x="7048500" y="4379780"/>
            <a:ext cx="335280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950"/>
              <a:buFont typeface="Archivo"/>
              <a:buNone/>
            </a:pPr>
            <a:r>
              <a:rPr lang="en-US" sz="1950">
                <a:solidFill>
                  <a:srgbClr val="16211F"/>
                </a:solidFill>
                <a:latin typeface="Archivo"/>
                <a:ea typeface="Archivo"/>
                <a:cs typeface="Archivo"/>
                <a:sym typeface="Archivo"/>
              </a:rPr>
              <a:t>Game Day (email + SMS)</a:t>
            </a:r>
            <a:endParaRPr sz="1950">
              <a:solidFill>
                <a:schemeClr val="dk1"/>
              </a:solidFill>
              <a:latin typeface="Calibri"/>
              <a:ea typeface="Calibri"/>
              <a:cs typeface="Calibri"/>
              <a:sym typeface="Calibri"/>
            </a:endParaRPr>
          </a:p>
        </p:txBody>
      </p:sp>
      <p:sp>
        <p:nvSpPr>
          <p:cNvPr id="164" name="Google Shape;164;p5"/>
          <p:cNvSpPr/>
          <p:nvPr/>
        </p:nvSpPr>
        <p:spPr>
          <a:xfrm>
            <a:off x="10287000" y="4324747"/>
            <a:ext cx="4989116" cy="381000"/>
          </a:xfrm>
          <a:custGeom>
            <a:rect b="b" l="l" r="r" t="t"/>
            <a:pathLst>
              <a:path extrusionOk="0" h="381000" w="4989116">
                <a:moveTo>
                  <a:pt x="0" y="0"/>
                </a:moveTo>
                <a:lnTo>
                  <a:pt x="4912916" y="0"/>
                </a:lnTo>
                <a:cubicBezTo>
                  <a:pt x="4933125" y="0"/>
                  <a:pt x="4952507" y="8028"/>
                  <a:pt x="4966798" y="22318"/>
                </a:cubicBezTo>
                <a:cubicBezTo>
                  <a:pt x="4981088" y="36609"/>
                  <a:pt x="4989116" y="55991"/>
                  <a:pt x="4989116" y="76200"/>
                </a:cubicBezTo>
                <a:lnTo>
                  <a:pt x="4989116" y="304800"/>
                </a:lnTo>
                <a:cubicBezTo>
                  <a:pt x="4989116" y="346884"/>
                  <a:pt x="4955000" y="381000"/>
                  <a:pt x="4912916" y="381000"/>
                </a:cubicBezTo>
                <a:lnTo>
                  <a:pt x="0" y="381000"/>
                </a:lnTo>
                <a:lnTo>
                  <a:pt x="0" y="0"/>
                </a:lnTo>
                <a:close/>
              </a:path>
            </a:pathLst>
          </a:cu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16021050" y="4379780"/>
            <a:ext cx="93345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950"/>
              <a:buFont typeface="Archivo"/>
              <a:buNone/>
            </a:pPr>
            <a:r>
              <a:rPr b="1" lang="en-US" sz="1950">
                <a:solidFill>
                  <a:srgbClr val="16211F"/>
                </a:solidFill>
                <a:latin typeface="Archivo"/>
                <a:ea typeface="Archivo"/>
                <a:cs typeface="Archivo"/>
                <a:sym typeface="Archivo"/>
              </a:rPr>
              <a:t>$585</a:t>
            </a:r>
            <a:endParaRPr sz="1950">
              <a:solidFill>
                <a:schemeClr val="dk1"/>
              </a:solidFill>
              <a:latin typeface="Calibri"/>
              <a:ea typeface="Calibri"/>
              <a:cs typeface="Calibri"/>
              <a:sym typeface="Calibri"/>
            </a:endParaRPr>
          </a:p>
        </p:txBody>
      </p:sp>
      <p:sp>
        <p:nvSpPr>
          <p:cNvPr id="166" name="Google Shape;166;p5"/>
          <p:cNvSpPr/>
          <p:nvPr/>
        </p:nvSpPr>
        <p:spPr>
          <a:xfrm>
            <a:off x="7048500" y="5161756"/>
            <a:ext cx="335280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lang="en-US" sz="1950">
                <a:solidFill>
                  <a:srgbClr val="33413E"/>
                </a:solidFill>
                <a:latin typeface="Archivo"/>
                <a:ea typeface="Archivo"/>
                <a:cs typeface="Archivo"/>
                <a:sym typeface="Archivo"/>
              </a:rPr>
              <a:t>Other flows and sends</a:t>
            </a:r>
            <a:endParaRPr sz="1950">
              <a:solidFill>
                <a:schemeClr val="dk1"/>
              </a:solidFill>
              <a:latin typeface="Calibri"/>
              <a:ea typeface="Calibri"/>
              <a:cs typeface="Calibri"/>
              <a:sym typeface="Calibri"/>
            </a:endParaRPr>
          </a:p>
        </p:txBody>
      </p:sp>
      <p:sp>
        <p:nvSpPr>
          <p:cNvPr id="167" name="Google Shape;167;p5"/>
          <p:cNvSpPr/>
          <p:nvPr/>
        </p:nvSpPr>
        <p:spPr>
          <a:xfrm>
            <a:off x="10287000" y="5106723"/>
            <a:ext cx="2272771" cy="381000"/>
          </a:xfrm>
          <a:custGeom>
            <a:rect b="b" l="l" r="r" t="t"/>
            <a:pathLst>
              <a:path extrusionOk="0" h="381000" w="2272771">
                <a:moveTo>
                  <a:pt x="0" y="0"/>
                </a:moveTo>
                <a:lnTo>
                  <a:pt x="2196571" y="0"/>
                </a:lnTo>
                <a:cubicBezTo>
                  <a:pt x="2216780" y="0"/>
                  <a:pt x="2236162" y="8028"/>
                  <a:pt x="2250453" y="22318"/>
                </a:cubicBezTo>
                <a:cubicBezTo>
                  <a:pt x="2264743" y="36609"/>
                  <a:pt x="2272771" y="55991"/>
                  <a:pt x="2272771" y="76200"/>
                </a:cubicBezTo>
                <a:lnTo>
                  <a:pt x="2272771" y="304800"/>
                </a:lnTo>
                <a:cubicBezTo>
                  <a:pt x="2272771" y="346884"/>
                  <a:pt x="2238655" y="381000"/>
                  <a:pt x="2196571" y="381000"/>
                </a:cubicBezTo>
                <a:lnTo>
                  <a:pt x="0" y="381000"/>
                </a:lnTo>
                <a:lnTo>
                  <a:pt x="0" y="0"/>
                </a:lnTo>
                <a:close/>
              </a:path>
            </a:pathLst>
          </a:custGeom>
          <a:solidFill>
            <a:srgbClr val="DD95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16021050" y="5161756"/>
            <a:ext cx="93345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b="1" lang="en-US" sz="1950">
                <a:solidFill>
                  <a:srgbClr val="33413E"/>
                </a:solidFill>
                <a:latin typeface="Archivo"/>
                <a:ea typeface="Archivo"/>
                <a:cs typeface="Archivo"/>
                <a:sym typeface="Archivo"/>
              </a:rPr>
              <a:t>$266</a:t>
            </a:r>
            <a:endParaRPr sz="1950">
              <a:solidFill>
                <a:schemeClr val="dk1"/>
              </a:solidFill>
              <a:latin typeface="Calibri"/>
              <a:ea typeface="Calibri"/>
              <a:cs typeface="Calibri"/>
              <a:sym typeface="Calibri"/>
            </a:endParaRPr>
          </a:p>
        </p:txBody>
      </p:sp>
      <p:sp>
        <p:nvSpPr>
          <p:cNvPr id="169" name="Google Shape;169;p5"/>
          <p:cNvSpPr/>
          <p:nvPr/>
        </p:nvSpPr>
        <p:spPr>
          <a:xfrm>
            <a:off x="7048500" y="5943865"/>
            <a:ext cx="335280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lang="en-US" sz="1950">
                <a:solidFill>
                  <a:srgbClr val="33413E"/>
                </a:solidFill>
                <a:latin typeface="Archivo"/>
                <a:ea typeface="Archivo"/>
                <a:cs typeface="Archivo"/>
                <a:sym typeface="Archivo"/>
              </a:rPr>
              <a:t>SMS Welcome</a:t>
            </a:r>
            <a:endParaRPr sz="1950">
              <a:solidFill>
                <a:schemeClr val="dk1"/>
              </a:solidFill>
              <a:latin typeface="Calibri"/>
              <a:ea typeface="Calibri"/>
              <a:cs typeface="Calibri"/>
              <a:sym typeface="Calibri"/>
            </a:endParaRPr>
          </a:p>
        </p:txBody>
      </p:sp>
      <p:sp>
        <p:nvSpPr>
          <p:cNvPr id="170" name="Google Shape;170;p5"/>
          <p:cNvSpPr/>
          <p:nvPr/>
        </p:nvSpPr>
        <p:spPr>
          <a:xfrm>
            <a:off x="10287000" y="5888831"/>
            <a:ext cx="2272771" cy="381000"/>
          </a:xfrm>
          <a:custGeom>
            <a:rect b="b" l="l" r="r" t="t"/>
            <a:pathLst>
              <a:path extrusionOk="0" h="381000" w="2272771">
                <a:moveTo>
                  <a:pt x="0" y="0"/>
                </a:moveTo>
                <a:lnTo>
                  <a:pt x="2196571" y="0"/>
                </a:lnTo>
                <a:cubicBezTo>
                  <a:pt x="2216780" y="0"/>
                  <a:pt x="2236162" y="8028"/>
                  <a:pt x="2250453" y="22318"/>
                </a:cubicBezTo>
                <a:cubicBezTo>
                  <a:pt x="2264743" y="36609"/>
                  <a:pt x="2272771" y="55991"/>
                  <a:pt x="2272771" y="76200"/>
                </a:cubicBezTo>
                <a:lnTo>
                  <a:pt x="2272771" y="304800"/>
                </a:lnTo>
                <a:cubicBezTo>
                  <a:pt x="2272771" y="346884"/>
                  <a:pt x="2238655" y="381000"/>
                  <a:pt x="2196571" y="381000"/>
                </a:cubicBezTo>
                <a:lnTo>
                  <a:pt x="0" y="381000"/>
                </a:lnTo>
                <a:lnTo>
                  <a:pt x="0" y="0"/>
                </a:lnTo>
                <a:close/>
              </a:path>
            </a:pathLst>
          </a:custGeom>
          <a:solidFill>
            <a:srgbClr val="DD95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16021050" y="5943865"/>
            <a:ext cx="93345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b="1" lang="en-US" sz="1950">
                <a:solidFill>
                  <a:srgbClr val="33413E"/>
                </a:solidFill>
                <a:latin typeface="Archivo"/>
                <a:ea typeface="Archivo"/>
                <a:cs typeface="Archivo"/>
                <a:sym typeface="Archivo"/>
              </a:rPr>
              <a:t>$265</a:t>
            </a:r>
            <a:endParaRPr sz="1950">
              <a:solidFill>
                <a:schemeClr val="dk1"/>
              </a:solidFill>
              <a:latin typeface="Calibri"/>
              <a:ea typeface="Calibri"/>
              <a:cs typeface="Calibri"/>
              <a:sym typeface="Calibri"/>
            </a:endParaRPr>
          </a:p>
        </p:txBody>
      </p:sp>
      <p:sp>
        <p:nvSpPr>
          <p:cNvPr id="172" name="Google Shape;172;p5"/>
          <p:cNvSpPr/>
          <p:nvPr/>
        </p:nvSpPr>
        <p:spPr>
          <a:xfrm>
            <a:off x="7048500" y="6725841"/>
            <a:ext cx="335280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lang="en-US" sz="1950">
                <a:solidFill>
                  <a:srgbClr val="33413E"/>
                </a:solidFill>
                <a:latin typeface="Archivo"/>
                <a:ea typeface="Archivo"/>
                <a:cs typeface="Archivo"/>
                <a:sym typeface="Archivo"/>
              </a:rPr>
              <a:t>Win-back</a:t>
            </a:r>
            <a:endParaRPr sz="1950">
              <a:solidFill>
                <a:schemeClr val="dk1"/>
              </a:solidFill>
              <a:latin typeface="Calibri"/>
              <a:ea typeface="Calibri"/>
              <a:cs typeface="Calibri"/>
              <a:sym typeface="Calibri"/>
            </a:endParaRPr>
          </a:p>
        </p:txBody>
      </p:sp>
      <p:sp>
        <p:nvSpPr>
          <p:cNvPr id="173" name="Google Shape;173;p5"/>
          <p:cNvSpPr/>
          <p:nvPr/>
        </p:nvSpPr>
        <p:spPr>
          <a:xfrm>
            <a:off x="10287000" y="6670807"/>
            <a:ext cx="1441318" cy="381000"/>
          </a:xfrm>
          <a:custGeom>
            <a:rect b="b" l="l" r="r" t="t"/>
            <a:pathLst>
              <a:path extrusionOk="0" h="381000" w="1441318">
                <a:moveTo>
                  <a:pt x="0" y="0"/>
                </a:moveTo>
                <a:lnTo>
                  <a:pt x="1365118" y="0"/>
                </a:lnTo>
                <a:cubicBezTo>
                  <a:pt x="1385327" y="0"/>
                  <a:pt x="1404709" y="8028"/>
                  <a:pt x="1419000" y="22318"/>
                </a:cubicBezTo>
                <a:cubicBezTo>
                  <a:pt x="1433290" y="36609"/>
                  <a:pt x="1441318" y="55991"/>
                  <a:pt x="1441318" y="76200"/>
                </a:cubicBezTo>
                <a:lnTo>
                  <a:pt x="1441318" y="304800"/>
                </a:lnTo>
                <a:cubicBezTo>
                  <a:pt x="1441318" y="346884"/>
                  <a:pt x="1407202" y="381000"/>
                  <a:pt x="1365118" y="381000"/>
                </a:cubicBezTo>
                <a:lnTo>
                  <a:pt x="0" y="381000"/>
                </a:lnTo>
                <a:lnTo>
                  <a:pt x="0" y="0"/>
                </a:lnTo>
                <a:close/>
              </a:path>
            </a:pathLst>
          </a:custGeom>
          <a:solidFill>
            <a:srgbClr val="DD95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16021050" y="6725841"/>
            <a:ext cx="93345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b="1" lang="en-US" sz="1950">
                <a:solidFill>
                  <a:srgbClr val="33413E"/>
                </a:solidFill>
                <a:latin typeface="Archivo"/>
                <a:ea typeface="Archivo"/>
                <a:cs typeface="Archivo"/>
                <a:sym typeface="Archivo"/>
              </a:rPr>
              <a:t>$166</a:t>
            </a:r>
            <a:endParaRPr sz="1950">
              <a:solidFill>
                <a:schemeClr val="dk1"/>
              </a:solidFill>
              <a:latin typeface="Calibri"/>
              <a:ea typeface="Calibri"/>
              <a:cs typeface="Calibri"/>
              <a:sym typeface="Calibri"/>
            </a:endParaRPr>
          </a:p>
        </p:txBody>
      </p:sp>
      <p:sp>
        <p:nvSpPr>
          <p:cNvPr id="175" name="Google Shape;175;p5"/>
          <p:cNvSpPr/>
          <p:nvPr/>
        </p:nvSpPr>
        <p:spPr>
          <a:xfrm>
            <a:off x="7048500" y="7507949"/>
            <a:ext cx="335280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lang="en-US" sz="1950">
                <a:solidFill>
                  <a:srgbClr val="33413E"/>
                </a:solidFill>
                <a:latin typeface="Archivo"/>
                <a:ea typeface="Archivo"/>
                <a:cs typeface="Archivo"/>
                <a:sym typeface="Archivo"/>
              </a:rPr>
              <a:t>$10-off reminder</a:t>
            </a:r>
            <a:endParaRPr sz="1950">
              <a:solidFill>
                <a:schemeClr val="dk1"/>
              </a:solidFill>
              <a:latin typeface="Calibri"/>
              <a:ea typeface="Calibri"/>
              <a:cs typeface="Calibri"/>
              <a:sym typeface="Calibri"/>
            </a:endParaRPr>
          </a:p>
        </p:txBody>
      </p:sp>
      <p:sp>
        <p:nvSpPr>
          <p:cNvPr id="176" name="Google Shape;176;p5"/>
          <p:cNvSpPr/>
          <p:nvPr/>
        </p:nvSpPr>
        <p:spPr>
          <a:xfrm>
            <a:off x="10287000" y="7452915"/>
            <a:ext cx="1219465" cy="381000"/>
          </a:xfrm>
          <a:custGeom>
            <a:rect b="b" l="l" r="r" t="t"/>
            <a:pathLst>
              <a:path extrusionOk="0" h="381000" w="1219465">
                <a:moveTo>
                  <a:pt x="0" y="0"/>
                </a:moveTo>
                <a:lnTo>
                  <a:pt x="1143265" y="0"/>
                </a:lnTo>
                <a:cubicBezTo>
                  <a:pt x="1163474" y="0"/>
                  <a:pt x="1182856" y="8028"/>
                  <a:pt x="1197147" y="22318"/>
                </a:cubicBezTo>
                <a:cubicBezTo>
                  <a:pt x="1211437" y="36609"/>
                  <a:pt x="1219465" y="55991"/>
                  <a:pt x="1219465" y="76200"/>
                </a:cubicBezTo>
                <a:lnTo>
                  <a:pt x="1219465" y="304800"/>
                </a:lnTo>
                <a:cubicBezTo>
                  <a:pt x="1219465" y="346884"/>
                  <a:pt x="1185349" y="381000"/>
                  <a:pt x="1143265" y="381000"/>
                </a:cubicBezTo>
                <a:lnTo>
                  <a:pt x="0" y="381000"/>
                </a:lnTo>
                <a:lnTo>
                  <a:pt x="0" y="0"/>
                </a:lnTo>
                <a:close/>
              </a:path>
            </a:pathLst>
          </a:custGeom>
          <a:solidFill>
            <a:srgbClr val="DD95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16021050" y="7507949"/>
            <a:ext cx="933450"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b="1" lang="en-US" sz="1950">
                <a:solidFill>
                  <a:srgbClr val="33413E"/>
                </a:solidFill>
                <a:latin typeface="Archivo"/>
                <a:ea typeface="Archivo"/>
                <a:cs typeface="Archivo"/>
                <a:sym typeface="Archivo"/>
              </a:rPr>
              <a:t>$145</a:t>
            </a:r>
            <a:endParaRPr sz="1950">
              <a:solidFill>
                <a:schemeClr val="dk1"/>
              </a:solidFill>
              <a:latin typeface="Calibri"/>
              <a:ea typeface="Calibri"/>
              <a:cs typeface="Calibri"/>
              <a:sym typeface="Calibri"/>
            </a:endParaRPr>
          </a:p>
        </p:txBody>
      </p:sp>
      <p:sp>
        <p:nvSpPr>
          <p:cNvPr id="178" name="Google Shape;178;p5"/>
          <p:cNvSpPr/>
          <p:nvPr/>
        </p:nvSpPr>
        <p:spPr>
          <a:xfrm>
            <a:off x="7048500" y="8186870"/>
            <a:ext cx="98298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7048500" y="8385837"/>
            <a:ext cx="10124694"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Game Day had a </a:t>
            </a:r>
            <a:r>
              <a:rPr b="1" lang="en-US" sz="1800">
                <a:solidFill>
                  <a:srgbClr val="9E4527"/>
                </a:solidFill>
                <a:latin typeface="Archivo"/>
                <a:ea typeface="Archivo"/>
                <a:cs typeface="Archivo"/>
                <a:sym typeface="Archivo"/>
              </a:rPr>
              <a:t>60% open rate</a:t>
            </a:r>
            <a:r>
              <a:rPr lang="en-US" sz="1800">
                <a:solidFill>
                  <a:srgbClr val="33413E"/>
                </a:solidFill>
                <a:latin typeface="Archivo"/>
                <a:ea typeface="Archivo"/>
                <a:cs typeface="Archivo"/>
                <a:sym typeface="Archivo"/>
              </a:rPr>
              <a:t>. Subscribe &amp; Save and Second Order flows live since Oct 7.</a:t>
            </a:r>
            <a:endParaRPr sz="1800">
              <a:solidFill>
                <a:schemeClr val="dk1"/>
              </a:solidFill>
              <a:latin typeface="Calibri"/>
              <a:ea typeface="Calibri"/>
              <a:cs typeface="Calibri"/>
              <a:sym typeface="Calibri"/>
            </a:endParaRPr>
          </a:p>
        </p:txBody>
      </p:sp>
      <p:sp>
        <p:nvSpPr>
          <p:cNvPr id="180" name="Google Shape;180;p5"/>
          <p:cNvSpPr/>
          <p:nvPr/>
        </p:nvSpPr>
        <p:spPr>
          <a:xfrm>
            <a:off x="952500" y="9529233"/>
            <a:ext cx="6231493"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SOURCE: KLAVIYO, PLATFORM-ATTRIBUTED ORDERS</a:t>
            </a:r>
            <a:endParaRPr sz="1800">
              <a:solidFill>
                <a:schemeClr val="dk1"/>
              </a:solidFill>
              <a:latin typeface="Calibri"/>
              <a:ea typeface="Calibri"/>
              <a:cs typeface="Calibri"/>
              <a:sym typeface="Calibri"/>
            </a:endParaRPr>
          </a:p>
        </p:txBody>
      </p:sp>
      <p:sp>
        <p:nvSpPr>
          <p:cNvPr id="181" name="Google Shape;181;p5"/>
          <p:cNvSpPr/>
          <p:nvPr/>
        </p:nvSpPr>
        <p:spPr>
          <a:xfrm>
            <a:off x="17044458" y="9529233"/>
            <a:ext cx="367242"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186" name="Shape 186"/>
        <p:cNvGrpSpPr/>
        <p:nvPr/>
      </p:nvGrpSpPr>
      <p:grpSpPr>
        <a:xfrm>
          <a:off x="0" y="0"/>
          <a:ext cx="0" cy="0"/>
          <a:chOff x="0" y="0"/>
          <a:chExt cx="0" cy="0"/>
        </a:xfrm>
      </p:grpSpPr>
      <p:pic>
        <p:nvPicPr>
          <p:cNvPr descr="preencoded.png" id="187" name="Google Shape;187;p6"/>
          <p:cNvPicPr preferRelativeResize="0"/>
          <p:nvPr/>
        </p:nvPicPr>
        <p:blipFill rotWithShape="1">
          <a:blip r:embed="rId3">
            <a:alphaModFix/>
          </a:blip>
          <a:srcRect b="0" l="0" r="0" t="0"/>
          <a:stretch/>
        </p:blipFill>
        <p:spPr>
          <a:xfrm>
            <a:off x="16192500" y="685800"/>
            <a:ext cx="1143000" cy="1143000"/>
          </a:xfrm>
          <a:prstGeom prst="rect">
            <a:avLst/>
          </a:prstGeom>
          <a:noFill/>
          <a:ln>
            <a:noFill/>
          </a:ln>
        </p:spPr>
      </p:pic>
      <p:sp>
        <p:nvSpPr>
          <p:cNvPr id="188" name="Google Shape;188;p6"/>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14E2C"/>
              </a:buClr>
              <a:buSzPts val="1950"/>
              <a:buFont typeface="Oswald"/>
              <a:buNone/>
            </a:pPr>
            <a:r>
              <a:rPr lang="en-US" sz="1950">
                <a:solidFill>
                  <a:srgbClr val="B14E2C"/>
                </a:solidFill>
                <a:latin typeface="Oswald"/>
                <a:ea typeface="Oswald"/>
                <a:cs typeface="Oswald"/>
                <a:sym typeface="Oswald"/>
              </a:rPr>
              <a:t>BROOKLYN BILTONG · WHAT'S NEXT IN EMAIL</a:t>
            </a:r>
            <a:endParaRPr sz="1950">
              <a:solidFill>
                <a:schemeClr val="dk1"/>
              </a:solidFill>
              <a:latin typeface="Calibri"/>
              <a:ea typeface="Calibri"/>
              <a:cs typeface="Calibri"/>
              <a:sym typeface="Calibri"/>
            </a:endParaRPr>
          </a:p>
        </p:txBody>
      </p:sp>
      <p:sp>
        <p:nvSpPr>
          <p:cNvPr id="189" name="Google Shape;189;p6"/>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The new email program</a:t>
            </a:r>
            <a:endParaRPr sz="4800">
              <a:solidFill>
                <a:schemeClr val="dk1"/>
              </a:solidFill>
              <a:latin typeface="Calibri"/>
              <a:ea typeface="Calibri"/>
              <a:cs typeface="Calibri"/>
              <a:sym typeface="Calibri"/>
            </a:endParaRPr>
          </a:p>
        </p:txBody>
      </p:sp>
      <p:sp>
        <p:nvSpPr>
          <p:cNvPr id="190" name="Google Shape;190;p6"/>
          <p:cNvSpPr/>
          <p:nvPr/>
        </p:nvSpPr>
        <p:spPr>
          <a:xfrm>
            <a:off x="952500" y="2432050"/>
            <a:ext cx="16383000" cy="2046817"/>
          </a:xfrm>
          <a:prstGeom prst="roundRect">
            <a:avLst>
              <a:gd fmla="val 8376"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1295400" y="2698750"/>
            <a:ext cx="1461029" cy="529167"/>
          </a:xfrm>
          <a:prstGeom prst="roundRect">
            <a:avLst>
              <a:gd fmla="val 50000"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1485900" y="2794000"/>
            <a:ext cx="1156229"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BF6EC"/>
              </a:buClr>
              <a:buSzPts val="1800"/>
              <a:buFont typeface="Oswald"/>
              <a:buNone/>
            </a:pPr>
            <a:r>
              <a:rPr lang="en-US" sz="1800">
                <a:solidFill>
                  <a:srgbClr val="FBF6EC"/>
                </a:solidFill>
                <a:latin typeface="Oswald"/>
                <a:ea typeface="Oswald"/>
                <a:cs typeface="Oswald"/>
                <a:sym typeface="Oswald"/>
              </a:rPr>
              <a:t>1ST ORDER</a:t>
            </a:r>
            <a:endParaRPr sz="1800">
              <a:solidFill>
                <a:schemeClr val="dk1"/>
              </a:solidFill>
              <a:latin typeface="Calibri"/>
              <a:ea typeface="Calibri"/>
              <a:cs typeface="Calibri"/>
              <a:sym typeface="Calibri"/>
            </a:endParaRPr>
          </a:p>
        </p:txBody>
      </p:sp>
      <p:sp>
        <p:nvSpPr>
          <p:cNvPr id="193" name="Google Shape;193;p6"/>
          <p:cNvSpPr/>
          <p:nvPr/>
        </p:nvSpPr>
        <p:spPr>
          <a:xfrm>
            <a:off x="2889779" y="2836333"/>
            <a:ext cx="157427"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E7A75"/>
              </a:buClr>
              <a:buSzPts val="1800"/>
              <a:buFont typeface="Archivo"/>
              <a:buNone/>
            </a:pPr>
            <a:r>
              <a:rPr lang="en-US" sz="1800">
                <a:solidFill>
                  <a:srgbClr val="6E7A75"/>
                </a:solidFill>
                <a:latin typeface="Archivo"/>
                <a:ea typeface="Archivo"/>
                <a:cs typeface="Archivo"/>
                <a:sym typeface="Archivo"/>
              </a:rPr>
              <a:t>›</a:t>
            </a:r>
            <a:endParaRPr sz="1800">
              <a:solidFill>
                <a:schemeClr val="dk1"/>
              </a:solidFill>
              <a:latin typeface="Calibri"/>
              <a:ea typeface="Calibri"/>
              <a:cs typeface="Calibri"/>
              <a:sym typeface="Calibri"/>
            </a:endParaRPr>
          </a:p>
        </p:txBody>
      </p:sp>
      <p:sp>
        <p:nvSpPr>
          <p:cNvPr id="194" name="Google Shape;194;p6"/>
          <p:cNvSpPr/>
          <p:nvPr/>
        </p:nvSpPr>
        <p:spPr>
          <a:xfrm>
            <a:off x="3104356" y="2741083"/>
            <a:ext cx="3474244" cy="444500"/>
          </a:xfrm>
          <a:prstGeom prst="roundRect">
            <a:avLst>
              <a:gd fmla="val 50000" name="adj"/>
            </a:avLst>
          </a:prstGeom>
          <a:solidFill>
            <a:srgbClr val="F7E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3294856" y="2836333"/>
            <a:ext cx="3197471"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First Purchase + Bounce-Back</a:t>
            </a:r>
            <a:endParaRPr sz="1800">
              <a:solidFill>
                <a:schemeClr val="dk1"/>
              </a:solidFill>
              <a:latin typeface="Calibri"/>
              <a:ea typeface="Calibri"/>
              <a:cs typeface="Calibri"/>
              <a:sym typeface="Calibri"/>
            </a:endParaRPr>
          </a:p>
        </p:txBody>
      </p:sp>
      <p:sp>
        <p:nvSpPr>
          <p:cNvPr id="196" name="Google Shape;196;p6"/>
          <p:cNvSpPr/>
          <p:nvPr/>
        </p:nvSpPr>
        <p:spPr>
          <a:xfrm>
            <a:off x="6711950" y="2836333"/>
            <a:ext cx="157427"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E7A75"/>
              </a:buClr>
              <a:buSzPts val="1800"/>
              <a:buFont typeface="Archivo"/>
              <a:buNone/>
            </a:pPr>
            <a:r>
              <a:rPr lang="en-US" sz="1800">
                <a:solidFill>
                  <a:srgbClr val="6E7A75"/>
                </a:solidFill>
                <a:latin typeface="Archivo"/>
                <a:ea typeface="Archivo"/>
                <a:cs typeface="Archivo"/>
                <a:sym typeface="Archivo"/>
              </a:rPr>
              <a:t>›</a:t>
            </a:r>
            <a:endParaRPr sz="1800">
              <a:solidFill>
                <a:schemeClr val="dk1"/>
              </a:solidFill>
              <a:latin typeface="Calibri"/>
              <a:ea typeface="Calibri"/>
              <a:cs typeface="Calibri"/>
              <a:sym typeface="Calibri"/>
            </a:endParaRPr>
          </a:p>
        </p:txBody>
      </p:sp>
      <p:sp>
        <p:nvSpPr>
          <p:cNvPr id="197" name="Google Shape;197;p6"/>
          <p:cNvSpPr/>
          <p:nvPr/>
        </p:nvSpPr>
        <p:spPr>
          <a:xfrm>
            <a:off x="6926527" y="2698750"/>
            <a:ext cx="1522412" cy="529167"/>
          </a:xfrm>
          <a:prstGeom prst="roundRect">
            <a:avLst>
              <a:gd fmla="val 50000"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7117027" y="2794000"/>
            <a:ext cx="1217612"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BF6EC"/>
              </a:buClr>
              <a:buSzPts val="1800"/>
              <a:buFont typeface="Oswald"/>
              <a:buNone/>
            </a:pPr>
            <a:r>
              <a:rPr lang="en-US" sz="1800">
                <a:solidFill>
                  <a:srgbClr val="FBF6EC"/>
                </a:solidFill>
                <a:latin typeface="Oswald"/>
                <a:ea typeface="Oswald"/>
                <a:cs typeface="Oswald"/>
                <a:sym typeface="Oswald"/>
              </a:rPr>
              <a:t>2ND ORDER</a:t>
            </a:r>
            <a:endParaRPr sz="1800">
              <a:solidFill>
                <a:schemeClr val="dk1"/>
              </a:solidFill>
              <a:latin typeface="Calibri"/>
              <a:ea typeface="Calibri"/>
              <a:cs typeface="Calibri"/>
              <a:sym typeface="Calibri"/>
            </a:endParaRPr>
          </a:p>
        </p:txBody>
      </p:sp>
      <p:sp>
        <p:nvSpPr>
          <p:cNvPr id="199" name="Google Shape;199;p6"/>
          <p:cNvSpPr/>
          <p:nvPr/>
        </p:nvSpPr>
        <p:spPr>
          <a:xfrm>
            <a:off x="8582290" y="2836333"/>
            <a:ext cx="157427"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E7A75"/>
              </a:buClr>
              <a:buSzPts val="1800"/>
              <a:buFont typeface="Archivo"/>
              <a:buNone/>
            </a:pPr>
            <a:r>
              <a:rPr lang="en-US" sz="1800">
                <a:solidFill>
                  <a:srgbClr val="6E7A75"/>
                </a:solidFill>
                <a:latin typeface="Archivo"/>
                <a:ea typeface="Archivo"/>
                <a:cs typeface="Archivo"/>
                <a:sym typeface="Archivo"/>
              </a:rPr>
              <a:t>›</a:t>
            </a:r>
            <a:endParaRPr sz="1800">
              <a:solidFill>
                <a:schemeClr val="dk1"/>
              </a:solidFill>
              <a:latin typeface="Calibri"/>
              <a:ea typeface="Calibri"/>
              <a:cs typeface="Calibri"/>
              <a:sym typeface="Calibri"/>
            </a:endParaRPr>
          </a:p>
        </p:txBody>
      </p:sp>
      <p:sp>
        <p:nvSpPr>
          <p:cNvPr id="200" name="Google Shape;200;p6"/>
          <p:cNvSpPr/>
          <p:nvPr/>
        </p:nvSpPr>
        <p:spPr>
          <a:xfrm>
            <a:off x="8796867" y="2741083"/>
            <a:ext cx="3959886" cy="444500"/>
          </a:xfrm>
          <a:prstGeom prst="roundRect">
            <a:avLst>
              <a:gd fmla="val 50000" name="adj"/>
            </a:avLst>
          </a:prstGeom>
          <a:solidFill>
            <a:srgbClr val="F7E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8987367" y="2836333"/>
            <a:ext cx="3697683"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Subscribe &amp; Save + Replenishment</a:t>
            </a:r>
            <a:endParaRPr sz="1800">
              <a:solidFill>
                <a:schemeClr val="dk1"/>
              </a:solidFill>
              <a:latin typeface="Calibri"/>
              <a:ea typeface="Calibri"/>
              <a:cs typeface="Calibri"/>
              <a:sym typeface="Calibri"/>
            </a:endParaRPr>
          </a:p>
        </p:txBody>
      </p:sp>
      <p:sp>
        <p:nvSpPr>
          <p:cNvPr id="202" name="Google Shape;202;p6"/>
          <p:cNvSpPr/>
          <p:nvPr/>
        </p:nvSpPr>
        <p:spPr>
          <a:xfrm>
            <a:off x="12890103" y="2836333"/>
            <a:ext cx="157427"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E7A75"/>
              </a:buClr>
              <a:buSzPts val="1800"/>
              <a:buFont typeface="Archivo"/>
              <a:buNone/>
            </a:pPr>
            <a:r>
              <a:rPr lang="en-US" sz="1800">
                <a:solidFill>
                  <a:srgbClr val="6E7A75"/>
                </a:solidFill>
                <a:latin typeface="Archivo"/>
                <a:ea typeface="Archivo"/>
                <a:cs typeface="Archivo"/>
                <a:sym typeface="Archivo"/>
              </a:rPr>
              <a:t>›</a:t>
            </a:r>
            <a:endParaRPr sz="1800">
              <a:solidFill>
                <a:schemeClr val="dk1"/>
              </a:solidFill>
              <a:latin typeface="Calibri"/>
              <a:ea typeface="Calibri"/>
              <a:cs typeface="Calibri"/>
              <a:sym typeface="Calibri"/>
            </a:endParaRPr>
          </a:p>
        </p:txBody>
      </p:sp>
      <p:sp>
        <p:nvSpPr>
          <p:cNvPr id="203" name="Google Shape;203;p6"/>
          <p:cNvSpPr/>
          <p:nvPr/>
        </p:nvSpPr>
        <p:spPr>
          <a:xfrm>
            <a:off x="13104680" y="2698750"/>
            <a:ext cx="1520164" cy="529167"/>
          </a:xfrm>
          <a:prstGeom prst="roundRect">
            <a:avLst>
              <a:gd fmla="val 50000"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13295180" y="2794000"/>
            <a:ext cx="1215364"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BF6EC"/>
              </a:buClr>
              <a:buSzPts val="1800"/>
              <a:buFont typeface="Oswald"/>
              <a:buNone/>
            </a:pPr>
            <a:r>
              <a:rPr lang="en-US" sz="1800">
                <a:solidFill>
                  <a:srgbClr val="FBF6EC"/>
                </a:solidFill>
                <a:latin typeface="Oswald"/>
                <a:ea typeface="Oswald"/>
                <a:cs typeface="Oswald"/>
                <a:sym typeface="Oswald"/>
              </a:rPr>
              <a:t>3RD ORDER</a:t>
            </a:r>
            <a:endParaRPr sz="1800">
              <a:solidFill>
                <a:schemeClr val="dk1"/>
              </a:solidFill>
              <a:latin typeface="Calibri"/>
              <a:ea typeface="Calibri"/>
              <a:cs typeface="Calibri"/>
              <a:sym typeface="Calibri"/>
            </a:endParaRPr>
          </a:p>
        </p:txBody>
      </p:sp>
      <p:sp>
        <p:nvSpPr>
          <p:cNvPr id="205" name="Google Shape;205;p6"/>
          <p:cNvSpPr/>
          <p:nvPr/>
        </p:nvSpPr>
        <p:spPr>
          <a:xfrm>
            <a:off x="14758193" y="2836333"/>
            <a:ext cx="157427"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E7A75"/>
              </a:buClr>
              <a:buSzPts val="1800"/>
              <a:buFont typeface="Archivo"/>
              <a:buNone/>
            </a:pPr>
            <a:r>
              <a:rPr lang="en-US" sz="1800">
                <a:solidFill>
                  <a:srgbClr val="6E7A75"/>
                </a:solidFill>
                <a:latin typeface="Archivo"/>
                <a:ea typeface="Archivo"/>
                <a:cs typeface="Archivo"/>
                <a:sym typeface="Archivo"/>
              </a:rPr>
              <a:t>›</a:t>
            </a:r>
            <a:endParaRPr sz="1800">
              <a:solidFill>
                <a:schemeClr val="dk1"/>
              </a:solidFill>
              <a:latin typeface="Calibri"/>
              <a:ea typeface="Calibri"/>
              <a:cs typeface="Calibri"/>
              <a:sym typeface="Calibri"/>
            </a:endParaRPr>
          </a:p>
        </p:txBody>
      </p:sp>
      <p:sp>
        <p:nvSpPr>
          <p:cNvPr id="206" name="Google Shape;206;p6"/>
          <p:cNvSpPr/>
          <p:nvPr/>
        </p:nvSpPr>
        <p:spPr>
          <a:xfrm>
            <a:off x="14972771" y="2741083"/>
            <a:ext cx="1727994" cy="444500"/>
          </a:xfrm>
          <a:prstGeom prst="roundRect">
            <a:avLst>
              <a:gd fmla="val 50000" name="adj"/>
            </a:avLst>
          </a:prstGeom>
          <a:solidFill>
            <a:srgbClr val="F7E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15163271" y="2836333"/>
            <a:ext cx="1423194"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VIP Welcome</a:t>
            </a:r>
            <a:endParaRPr sz="1800">
              <a:solidFill>
                <a:schemeClr val="dk1"/>
              </a:solidFill>
              <a:latin typeface="Calibri"/>
              <a:ea typeface="Calibri"/>
              <a:cs typeface="Calibri"/>
              <a:sym typeface="Calibri"/>
            </a:endParaRPr>
          </a:p>
        </p:txBody>
      </p:sp>
      <p:sp>
        <p:nvSpPr>
          <p:cNvPr id="208" name="Google Shape;208;p6"/>
          <p:cNvSpPr/>
          <p:nvPr/>
        </p:nvSpPr>
        <p:spPr>
          <a:xfrm>
            <a:off x="16834114" y="2836333"/>
            <a:ext cx="157427"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E7A75"/>
              </a:buClr>
              <a:buSzPts val="1800"/>
              <a:buFont typeface="Archivo"/>
              <a:buNone/>
            </a:pPr>
            <a:r>
              <a:rPr lang="en-US" sz="1800">
                <a:solidFill>
                  <a:srgbClr val="6E7A75"/>
                </a:solidFill>
                <a:latin typeface="Archivo"/>
                <a:ea typeface="Archivo"/>
                <a:cs typeface="Archivo"/>
                <a:sym typeface="Archivo"/>
              </a:rPr>
              <a:t>›</a:t>
            </a:r>
            <a:endParaRPr sz="1800">
              <a:solidFill>
                <a:schemeClr val="dk1"/>
              </a:solidFill>
              <a:latin typeface="Calibri"/>
              <a:ea typeface="Calibri"/>
              <a:cs typeface="Calibri"/>
              <a:sym typeface="Calibri"/>
            </a:endParaRPr>
          </a:p>
        </p:txBody>
      </p:sp>
      <p:sp>
        <p:nvSpPr>
          <p:cNvPr id="209" name="Google Shape;209;p6"/>
          <p:cNvSpPr/>
          <p:nvPr/>
        </p:nvSpPr>
        <p:spPr>
          <a:xfrm>
            <a:off x="1295400" y="3361267"/>
            <a:ext cx="1593453" cy="444500"/>
          </a:xfrm>
          <a:prstGeom prst="roundRect">
            <a:avLst>
              <a:gd fmla="val 50000" name="adj"/>
            </a:avLst>
          </a:prstGeom>
          <a:solidFill>
            <a:srgbClr val="F7EF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1485900" y="3456517"/>
            <a:ext cx="1288653"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Anniversary</a:t>
            </a:r>
            <a:endParaRPr sz="1800">
              <a:solidFill>
                <a:schemeClr val="dk1"/>
              </a:solidFill>
              <a:latin typeface="Calibri"/>
              <a:ea typeface="Calibri"/>
              <a:cs typeface="Calibri"/>
              <a:sym typeface="Calibri"/>
            </a:endParaRPr>
          </a:p>
        </p:txBody>
      </p:sp>
      <p:sp>
        <p:nvSpPr>
          <p:cNvPr id="211" name="Google Shape;211;p6"/>
          <p:cNvSpPr/>
          <p:nvPr/>
        </p:nvSpPr>
        <p:spPr>
          <a:xfrm>
            <a:off x="1295400" y="3958167"/>
            <a:ext cx="17266920" cy="292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Archivo"/>
              <a:buNone/>
            </a:pPr>
            <a:r>
              <a:rPr lang="en-US" sz="1800">
                <a:solidFill>
                  <a:srgbClr val="55615D"/>
                </a:solidFill>
                <a:latin typeface="Archivo"/>
                <a:ea typeface="Archivo"/>
                <a:cs typeface="Archivo"/>
                <a:sym typeface="Archivo"/>
              </a:rPr>
              <a:t>If they stop buying: Win-Back A (one order) or Win-Back B (two or more orders)</a:t>
            </a:r>
            <a:endParaRPr sz="1800">
              <a:solidFill>
                <a:schemeClr val="dk1"/>
              </a:solidFill>
              <a:latin typeface="Calibri"/>
              <a:ea typeface="Calibri"/>
              <a:cs typeface="Calibri"/>
              <a:sym typeface="Calibri"/>
            </a:endParaRPr>
          </a:p>
        </p:txBody>
      </p:sp>
      <p:sp>
        <p:nvSpPr>
          <p:cNvPr id="212" name="Google Shape;212;p6"/>
          <p:cNvSpPr/>
          <p:nvPr/>
        </p:nvSpPr>
        <p:spPr>
          <a:xfrm>
            <a:off x="952500" y="4745567"/>
            <a:ext cx="103517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93150"/>
              </a:lnSpc>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NEW FLOWS</a:t>
            </a:r>
            <a:endParaRPr sz="1800">
              <a:solidFill>
                <a:schemeClr val="dk1"/>
              </a:solidFill>
              <a:latin typeface="Calibri"/>
              <a:ea typeface="Calibri"/>
              <a:cs typeface="Calibri"/>
              <a:sym typeface="Calibri"/>
            </a:endParaRPr>
          </a:p>
        </p:txBody>
      </p:sp>
      <p:sp>
        <p:nvSpPr>
          <p:cNvPr id="213" name="Google Shape;213;p6"/>
          <p:cNvSpPr/>
          <p:nvPr/>
        </p:nvSpPr>
        <p:spPr>
          <a:xfrm>
            <a:off x="952500" y="5194300"/>
            <a:ext cx="103517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Browse Abandonment: </a:t>
            </a:r>
            <a:r>
              <a:rPr lang="en-US" sz="1800">
                <a:solidFill>
                  <a:srgbClr val="33413E"/>
                </a:solidFill>
                <a:latin typeface="Archivo"/>
                <a:ea typeface="Archivo"/>
                <a:cs typeface="Archivo"/>
                <a:sym typeface="Archivo"/>
              </a:rPr>
              <a:t>for people who view a product but don't add it to cart</a:t>
            </a:r>
            <a:endParaRPr sz="1800">
              <a:solidFill>
                <a:schemeClr val="dk1"/>
              </a:solidFill>
              <a:latin typeface="Calibri"/>
              <a:ea typeface="Calibri"/>
              <a:cs typeface="Calibri"/>
              <a:sym typeface="Calibri"/>
            </a:endParaRPr>
          </a:p>
        </p:txBody>
      </p:sp>
      <p:sp>
        <p:nvSpPr>
          <p:cNvPr id="214" name="Google Shape;214;p6"/>
          <p:cNvSpPr/>
          <p:nvPr/>
        </p:nvSpPr>
        <p:spPr>
          <a:xfrm>
            <a:off x="952500" y="5643033"/>
            <a:ext cx="103517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Replenishment: </a:t>
            </a:r>
            <a:r>
              <a:rPr lang="en-US" sz="1800">
                <a:solidFill>
                  <a:srgbClr val="33413E"/>
                </a:solidFill>
                <a:latin typeface="Archivo"/>
                <a:ea typeface="Archivo"/>
                <a:cs typeface="Archivo"/>
                <a:sym typeface="Archivo"/>
              </a:rPr>
              <a:t>"running low?" timed to the pack (3 bags at 21 days, 5 at 30, 7 at 40)</a:t>
            </a:r>
            <a:endParaRPr sz="1800">
              <a:solidFill>
                <a:schemeClr val="dk1"/>
              </a:solidFill>
              <a:latin typeface="Calibri"/>
              <a:ea typeface="Calibri"/>
              <a:cs typeface="Calibri"/>
              <a:sym typeface="Calibri"/>
            </a:endParaRPr>
          </a:p>
        </p:txBody>
      </p:sp>
      <p:sp>
        <p:nvSpPr>
          <p:cNvPr id="215" name="Google Shape;215;p6"/>
          <p:cNvSpPr/>
          <p:nvPr/>
        </p:nvSpPr>
        <p:spPr>
          <a:xfrm>
            <a:off x="952500" y="6091767"/>
            <a:ext cx="103517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VIP Welcome: </a:t>
            </a:r>
            <a:r>
              <a:rPr lang="en-US" sz="1800">
                <a:solidFill>
                  <a:srgbClr val="33413E"/>
                </a:solidFill>
                <a:latin typeface="Archivo"/>
                <a:ea typeface="Archivo"/>
                <a:cs typeface="Archivo"/>
                <a:sym typeface="Archivo"/>
              </a:rPr>
              <a:t>at the 3rd order, no discount: status, early access and a new flavor</a:t>
            </a:r>
            <a:endParaRPr sz="1800">
              <a:solidFill>
                <a:schemeClr val="dk1"/>
              </a:solidFill>
              <a:latin typeface="Calibri"/>
              <a:ea typeface="Calibri"/>
              <a:cs typeface="Calibri"/>
              <a:sym typeface="Calibri"/>
            </a:endParaRPr>
          </a:p>
        </p:txBody>
      </p:sp>
      <p:sp>
        <p:nvSpPr>
          <p:cNvPr id="216" name="Google Shape;216;p6"/>
          <p:cNvSpPr/>
          <p:nvPr/>
        </p:nvSpPr>
        <p:spPr>
          <a:xfrm>
            <a:off x="952500" y="6540500"/>
            <a:ext cx="103517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Anniversary: </a:t>
            </a:r>
            <a:r>
              <a:rPr lang="en-US" sz="1800">
                <a:solidFill>
                  <a:srgbClr val="33413E"/>
                </a:solidFill>
                <a:latin typeface="Archivo"/>
                <a:ea typeface="Archivo"/>
                <a:cs typeface="Archivo"/>
                <a:sym typeface="Archivo"/>
              </a:rPr>
              <a:t>one year after the first order</a:t>
            </a:r>
            <a:endParaRPr sz="1800">
              <a:solidFill>
                <a:schemeClr val="dk1"/>
              </a:solidFill>
              <a:latin typeface="Calibri"/>
              <a:ea typeface="Calibri"/>
              <a:cs typeface="Calibri"/>
              <a:sym typeface="Calibri"/>
            </a:endParaRPr>
          </a:p>
        </p:txBody>
      </p:sp>
      <p:sp>
        <p:nvSpPr>
          <p:cNvPr id="217" name="Google Shape;217;p6"/>
          <p:cNvSpPr/>
          <p:nvPr/>
        </p:nvSpPr>
        <p:spPr>
          <a:xfrm>
            <a:off x="952500" y="6989233"/>
            <a:ext cx="103517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Win-Back B: </a:t>
            </a:r>
            <a:r>
              <a:rPr lang="en-US" sz="1800">
                <a:solidFill>
                  <a:srgbClr val="33413E"/>
                </a:solidFill>
                <a:latin typeface="Archivo"/>
                <a:ea typeface="Archivo"/>
                <a:cs typeface="Archivo"/>
                <a:sym typeface="Archivo"/>
              </a:rPr>
              <a:t>reactivate 2,493 lapsed repeat buyers</a:t>
            </a:r>
            <a:endParaRPr sz="1800">
              <a:solidFill>
                <a:schemeClr val="dk1"/>
              </a:solidFill>
              <a:latin typeface="Calibri"/>
              <a:ea typeface="Calibri"/>
              <a:cs typeface="Calibri"/>
              <a:sym typeface="Calibri"/>
            </a:endParaRPr>
          </a:p>
        </p:txBody>
      </p:sp>
      <p:sp>
        <p:nvSpPr>
          <p:cNvPr id="218" name="Google Shape;218;p6"/>
          <p:cNvSpPr/>
          <p:nvPr/>
        </p:nvSpPr>
        <p:spPr>
          <a:xfrm>
            <a:off x="10668000" y="4745567"/>
            <a:ext cx="6667500" cy="4303183"/>
          </a:xfrm>
          <a:prstGeom prst="roundRect">
            <a:avLst>
              <a:gd fmla="val 3984" name="adj"/>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11010900" y="5012267"/>
            <a:ext cx="65798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93150"/>
              </a:lnSpc>
              <a:spcBef>
                <a:spcPts val="0"/>
              </a:spcBef>
              <a:spcAft>
                <a:spcPts val="0"/>
              </a:spcAft>
              <a:buClr>
                <a:srgbClr val="F4D65E"/>
              </a:buClr>
              <a:buSzPts val="1800"/>
              <a:buFont typeface="Oswald"/>
              <a:buNone/>
            </a:pPr>
            <a:r>
              <a:rPr lang="en-US" sz="1800">
                <a:solidFill>
                  <a:srgbClr val="F4D65E"/>
                </a:solidFill>
                <a:latin typeface="Oswald"/>
                <a:ea typeface="Oswald"/>
                <a:cs typeface="Oswald"/>
                <a:sym typeface="Oswald"/>
              </a:rPr>
              <a:t>SIMULTANEOUS HYPER-SEGMENTED CAMPAIGNS</a:t>
            </a:r>
            <a:endParaRPr sz="1800">
              <a:solidFill>
                <a:schemeClr val="dk1"/>
              </a:solidFill>
              <a:latin typeface="Calibri"/>
              <a:ea typeface="Calibri"/>
              <a:cs typeface="Calibri"/>
              <a:sym typeface="Calibri"/>
            </a:endParaRPr>
          </a:p>
        </p:txBody>
      </p:sp>
      <p:sp>
        <p:nvSpPr>
          <p:cNvPr id="220" name="Google Shape;220;p6"/>
          <p:cNvSpPr/>
          <p:nvPr/>
        </p:nvSpPr>
        <p:spPr>
          <a:xfrm>
            <a:off x="11010900" y="5441950"/>
            <a:ext cx="6161151" cy="984250"/>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FBF6EC"/>
              </a:buClr>
              <a:buSzPts val="1800"/>
              <a:buFont typeface="Archivo"/>
              <a:buNone/>
            </a:pPr>
            <a:r>
              <a:rPr lang="en-US" sz="1800">
                <a:solidFill>
                  <a:srgbClr val="FBF6EC"/>
                </a:solidFill>
                <a:latin typeface="Archivo"/>
                <a:ea typeface="Archivo"/>
                <a:cs typeface="Archivo"/>
                <a:sym typeface="Archivo"/>
              </a:rPr>
              <a:t>Several campaigns go out the same day, each to one micro-segment: subscribers, VIPs, one-time buyers, clickers who never bought, cold base. Nobody gets two the same day.</a:t>
            </a:r>
            <a:endParaRPr sz="1800">
              <a:solidFill>
                <a:schemeClr val="dk1"/>
              </a:solidFill>
              <a:latin typeface="Calibri"/>
              <a:ea typeface="Calibri"/>
              <a:cs typeface="Calibri"/>
              <a:sym typeface="Calibri"/>
            </a:endParaRPr>
          </a:p>
        </p:txBody>
      </p:sp>
      <p:sp>
        <p:nvSpPr>
          <p:cNvPr id="221" name="Google Shape;221;p6"/>
          <p:cNvSpPr/>
          <p:nvPr/>
        </p:nvSpPr>
        <p:spPr>
          <a:xfrm>
            <a:off x="11010900" y="6910917"/>
            <a:ext cx="5981700" cy="9525"/>
          </a:xfrm>
          <a:prstGeom prst="rect">
            <a:avLst/>
          </a:prstGeom>
          <a:solidFill>
            <a:srgbClr val="FFFFFF">
              <a:alpha val="3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
          <p:cNvSpPr/>
          <p:nvPr/>
        </p:nvSpPr>
        <p:spPr>
          <a:xfrm>
            <a:off x="11010900" y="7052733"/>
            <a:ext cx="6161151" cy="668867"/>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FBF6EC"/>
              </a:buClr>
              <a:buSzPts val="1800"/>
              <a:buFont typeface="Archivo"/>
              <a:buNone/>
            </a:pPr>
            <a:r>
              <a:rPr b="1" lang="en-US" sz="1800">
                <a:solidFill>
                  <a:srgbClr val="FBF6EC"/>
                </a:solidFill>
                <a:latin typeface="Archivo"/>
                <a:ea typeface="Archivo"/>
                <a:cs typeface="Archivo"/>
                <a:sym typeface="Archivo"/>
              </a:rPr>
              <a:t>This week: </a:t>
            </a:r>
            <a:r>
              <a:rPr lang="en-US" sz="1800">
                <a:solidFill>
                  <a:srgbClr val="FBF6EC"/>
                </a:solidFill>
                <a:latin typeface="Archivo"/>
                <a:ea typeface="Archivo"/>
                <a:cs typeface="Archivo"/>
                <a:sym typeface="Archivo"/>
              </a:rPr>
              <a:t>micro-segments and Browse Abandonment, after the Fast Sale</a:t>
            </a:r>
            <a:endParaRPr sz="1800">
              <a:solidFill>
                <a:schemeClr val="dk1"/>
              </a:solidFill>
              <a:latin typeface="Calibri"/>
              <a:ea typeface="Calibri"/>
              <a:cs typeface="Calibri"/>
              <a:sym typeface="Calibri"/>
            </a:endParaRPr>
          </a:p>
        </p:txBody>
      </p:sp>
      <p:sp>
        <p:nvSpPr>
          <p:cNvPr id="223" name="Google Shape;223;p6"/>
          <p:cNvSpPr/>
          <p:nvPr/>
        </p:nvSpPr>
        <p:spPr>
          <a:xfrm>
            <a:off x="11010900" y="7759700"/>
            <a:ext cx="6161151" cy="668867"/>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FBF6EC"/>
              </a:buClr>
              <a:buSzPts val="1800"/>
              <a:buFont typeface="Archivo"/>
              <a:buNone/>
            </a:pPr>
            <a:r>
              <a:rPr b="1" lang="en-US" sz="1800">
                <a:solidFill>
                  <a:srgbClr val="FBF6EC"/>
                </a:solidFill>
                <a:latin typeface="Archivo"/>
                <a:ea typeface="Archivo"/>
                <a:cs typeface="Archivo"/>
                <a:sym typeface="Archivo"/>
              </a:rPr>
              <a:t>Week of Oct 19: </a:t>
            </a:r>
            <a:r>
              <a:rPr lang="en-US" sz="1800">
                <a:solidFill>
                  <a:srgbClr val="FBF6EC"/>
                </a:solidFill>
                <a:latin typeface="Archivo"/>
                <a:ea typeface="Archivo"/>
                <a:cs typeface="Archivo"/>
                <a:sym typeface="Archivo"/>
              </a:rPr>
              <a:t>first wave, Replenishment and VIP Welcome</a:t>
            </a:r>
            <a:endParaRPr sz="1800">
              <a:solidFill>
                <a:schemeClr val="dk1"/>
              </a:solidFill>
              <a:latin typeface="Calibri"/>
              <a:ea typeface="Calibri"/>
              <a:cs typeface="Calibri"/>
              <a:sym typeface="Calibri"/>
            </a:endParaRPr>
          </a:p>
        </p:txBody>
      </p:sp>
      <p:sp>
        <p:nvSpPr>
          <p:cNvPr id="224" name="Google Shape;224;p6"/>
          <p:cNvSpPr/>
          <p:nvPr/>
        </p:nvSpPr>
        <p:spPr>
          <a:xfrm>
            <a:off x="11010900" y="8466667"/>
            <a:ext cx="6579870" cy="353483"/>
          </a:xfrm>
          <a:prstGeom prst="rect">
            <a:avLst/>
          </a:prstGeom>
          <a:noFill/>
          <a:ln>
            <a:noFill/>
          </a:ln>
        </p:spPr>
        <p:txBody>
          <a:bodyPr anchorCtr="0" anchor="t" bIns="25400" lIns="25400" spcFirstLastPara="1" rIns="25400" wrap="square" tIns="25400">
            <a:normAutofit/>
          </a:bodyPr>
          <a:lstStyle/>
          <a:p>
            <a:pPr indent="0" lvl="0" marL="0" marR="0" rtl="0" algn="l">
              <a:lnSpc>
                <a:spcPct val="124200"/>
              </a:lnSpc>
              <a:spcBef>
                <a:spcPts val="0"/>
              </a:spcBef>
              <a:spcAft>
                <a:spcPts val="0"/>
              </a:spcAft>
              <a:buClr>
                <a:srgbClr val="FBF6EC"/>
              </a:buClr>
              <a:buSzPts val="1800"/>
              <a:buFont typeface="Archivo"/>
              <a:buNone/>
            </a:pPr>
            <a:r>
              <a:rPr b="1" lang="en-US" sz="1800">
                <a:solidFill>
                  <a:srgbClr val="FBF6EC"/>
                </a:solidFill>
                <a:latin typeface="Archivo"/>
                <a:ea typeface="Archivo"/>
                <a:cs typeface="Archivo"/>
                <a:sym typeface="Archivo"/>
              </a:rPr>
              <a:t>From Oct 25: </a:t>
            </a:r>
            <a:r>
              <a:rPr lang="en-US" sz="1800">
                <a:solidFill>
                  <a:srgbClr val="FBF6EC"/>
                </a:solidFill>
                <a:latin typeface="Archivo"/>
                <a:ea typeface="Archivo"/>
                <a:cs typeface="Archivo"/>
                <a:sym typeface="Archivo"/>
              </a:rPr>
              <a:t>Win-Back B</a:t>
            </a:r>
            <a:endParaRPr sz="1800">
              <a:solidFill>
                <a:schemeClr val="dk1"/>
              </a:solidFill>
              <a:latin typeface="Calibri"/>
              <a:ea typeface="Calibri"/>
              <a:cs typeface="Calibri"/>
              <a:sym typeface="Calibri"/>
            </a:endParaRPr>
          </a:p>
        </p:txBody>
      </p:sp>
      <p:sp>
        <p:nvSpPr>
          <p:cNvPr id="225" name="Google Shape;225;p6"/>
          <p:cNvSpPr/>
          <p:nvPr/>
        </p:nvSpPr>
        <p:spPr>
          <a:xfrm>
            <a:off x="952500" y="9529233"/>
            <a:ext cx="491758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STORMBERG FOODS · EXECUTIVE STATUS</a:t>
            </a:r>
            <a:endParaRPr sz="1800">
              <a:solidFill>
                <a:schemeClr val="dk1"/>
              </a:solidFill>
              <a:latin typeface="Calibri"/>
              <a:ea typeface="Calibri"/>
              <a:cs typeface="Calibri"/>
              <a:sym typeface="Calibri"/>
            </a:endParaRPr>
          </a:p>
        </p:txBody>
      </p:sp>
      <p:sp>
        <p:nvSpPr>
          <p:cNvPr id="226" name="Google Shape;226;p6"/>
          <p:cNvSpPr/>
          <p:nvPr/>
        </p:nvSpPr>
        <p:spPr>
          <a:xfrm>
            <a:off x="17038240" y="9529233"/>
            <a:ext cx="373459"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231" name="Shape 231"/>
        <p:cNvGrpSpPr/>
        <p:nvPr/>
      </p:nvGrpSpPr>
      <p:grpSpPr>
        <a:xfrm>
          <a:off x="0" y="0"/>
          <a:ext cx="0" cy="0"/>
          <a:chOff x="0" y="0"/>
          <a:chExt cx="0" cy="0"/>
        </a:xfrm>
      </p:grpSpPr>
      <p:sp>
        <p:nvSpPr>
          <p:cNvPr id="232" name="Google Shape;232;p7"/>
          <p:cNvSpPr/>
          <p:nvPr/>
        </p:nvSpPr>
        <p:spPr>
          <a:xfrm>
            <a:off x="952500" y="914400"/>
            <a:ext cx="1244727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C4A7E"/>
              </a:buClr>
              <a:buSzPts val="1950"/>
              <a:buFont typeface="Oswald"/>
              <a:buNone/>
            </a:pPr>
            <a:r>
              <a:rPr lang="en-US" sz="1950">
                <a:solidFill>
                  <a:srgbClr val="3C4A7E"/>
                </a:solidFill>
                <a:latin typeface="Oswald"/>
                <a:ea typeface="Oswald"/>
                <a:cs typeface="Oswald"/>
                <a:sym typeface="Oswald"/>
              </a:rPr>
              <a:t>BEG &amp; BARKER · YEAR TO DATE</a:t>
            </a:r>
            <a:endParaRPr sz="1950">
              <a:solidFill>
                <a:schemeClr val="dk1"/>
              </a:solidFill>
              <a:latin typeface="Calibri"/>
              <a:ea typeface="Calibri"/>
              <a:cs typeface="Calibri"/>
              <a:sym typeface="Calibri"/>
            </a:endParaRPr>
          </a:p>
        </p:txBody>
      </p:sp>
      <p:sp>
        <p:nvSpPr>
          <p:cNvPr id="233" name="Google Shape;233;p7"/>
          <p:cNvSpPr/>
          <p:nvPr/>
        </p:nvSpPr>
        <p:spPr>
          <a:xfrm>
            <a:off x="952500" y="1430867"/>
            <a:ext cx="1244727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A solid, recurring base</a:t>
            </a:r>
            <a:endParaRPr sz="4800">
              <a:solidFill>
                <a:schemeClr val="dk1"/>
              </a:solidFill>
              <a:latin typeface="Calibri"/>
              <a:ea typeface="Calibri"/>
              <a:cs typeface="Calibri"/>
              <a:sym typeface="Calibri"/>
            </a:endParaRPr>
          </a:p>
        </p:txBody>
      </p:sp>
      <p:sp>
        <p:nvSpPr>
          <p:cNvPr id="234" name="Google Shape;234;p7"/>
          <p:cNvSpPr/>
          <p:nvPr/>
        </p:nvSpPr>
        <p:spPr>
          <a:xfrm>
            <a:off x="952500" y="2470150"/>
            <a:ext cx="3619500" cy="2369741"/>
          </a:xfrm>
          <a:prstGeom prst="roundRect">
            <a:avLst>
              <a:gd fmla="val 7235" name="adj"/>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1257300" y="2755900"/>
            <a:ext cx="3310890" cy="800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FBF6EC"/>
              </a:buClr>
              <a:buSzPts val="6000"/>
              <a:buFont typeface="Bricolage Grotesque"/>
              <a:buNone/>
            </a:pPr>
            <a:r>
              <a:rPr b="1" lang="en-US" sz="6000">
                <a:solidFill>
                  <a:srgbClr val="FBF6EC"/>
                </a:solidFill>
                <a:latin typeface="Bricolage Grotesque"/>
                <a:ea typeface="Bricolage Grotesque"/>
                <a:cs typeface="Bricolage Grotesque"/>
                <a:sym typeface="Bricolage Grotesque"/>
              </a:rPr>
              <a:t>$89.9K</a:t>
            </a:r>
            <a:endParaRPr sz="6000">
              <a:solidFill>
                <a:schemeClr val="dk1"/>
              </a:solidFill>
              <a:latin typeface="Calibri"/>
              <a:ea typeface="Calibri"/>
              <a:cs typeface="Calibri"/>
              <a:sym typeface="Calibri"/>
            </a:endParaRPr>
          </a:p>
        </p:txBody>
      </p:sp>
      <p:sp>
        <p:nvSpPr>
          <p:cNvPr id="236" name="Google Shape;236;p7"/>
          <p:cNvSpPr/>
          <p:nvPr/>
        </p:nvSpPr>
        <p:spPr>
          <a:xfrm>
            <a:off x="1257300" y="3594100"/>
            <a:ext cx="3100197"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1800"/>
              <a:buFont typeface="Archivo"/>
              <a:buNone/>
            </a:pPr>
            <a:r>
              <a:rPr lang="en-US" sz="1800">
                <a:solidFill>
                  <a:srgbClr val="FBF6EC"/>
                </a:solidFill>
                <a:latin typeface="Archivo"/>
                <a:ea typeface="Archivo"/>
                <a:cs typeface="Archivo"/>
                <a:sym typeface="Archivo"/>
              </a:rPr>
              <a:t>in sales, from 1,181 orders at a $76 average ticket</a:t>
            </a:r>
            <a:endParaRPr sz="1800">
              <a:solidFill>
                <a:schemeClr val="dk1"/>
              </a:solidFill>
              <a:latin typeface="Calibri"/>
              <a:ea typeface="Calibri"/>
              <a:cs typeface="Calibri"/>
              <a:sym typeface="Calibri"/>
            </a:endParaRPr>
          </a:p>
        </p:txBody>
      </p:sp>
      <p:sp>
        <p:nvSpPr>
          <p:cNvPr id="237" name="Google Shape;237;p7"/>
          <p:cNvSpPr/>
          <p:nvPr/>
        </p:nvSpPr>
        <p:spPr>
          <a:xfrm>
            <a:off x="4800600" y="2470150"/>
            <a:ext cx="3619500" cy="2369741"/>
          </a:xfrm>
          <a:prstGeom prst="roundRect">
            <a:avLst>
              <a:gd fmla="val 7235"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5105400" y="2755900"/>
            <a:ext cx="3310890" cy="800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3C4A7E"/>
              </a:buClr>
              <a:buSzPts val="6000"/>
              <a:buFont typeface="Bricolage Grotesque"/>
              <a:buNone/>
            </a:pPr>
            <a:r>
              <a:rPr b="1" lang="en-US" sz="6000">
                <a:solidFill>
                  <a:srgbClr val="3C4A7E"/>
                </a:solidFill>
                <a:latin typeface="Bricolage Grotesque"/>
                <a:ea typeface="Bricolage Grotesque"/>
                <a:cs typeface="Bricolage Grotesque"/>
                <a:sym typeface="Bricolage Grotesque"/>
              </a:rPr>
              <a:t>44%</a:t>
            </a:r>
            <a:endParaRPr sz="6000">
              <a:solidFill>
                <a:schemeClr val="dk1"/>
              </a:solidFill>
              <a:latin typeface="Calibri"/>
              <a:ea typeface="Calibri"/>
              <a:cs typeface="Calibri"/>
              <a:sym typeface="Calibri"/>
            </a:endParaRPr>
          </a:p>
        </p:txBody>
      </p:sp>
      <p:sp>
        <p:nvSpPr>
          <p:cNvPr id="239" name="Google Shape;239;p7"/>
          <p:cNvSpPr/>
          <p:nvPr/>
        </p:nvSpPr>
        <p:spPr>
          <a:xfrm>
            <a:off x="5105400" y="3594100"/>
            <a:ext cx="3100197" cy="998141"/>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of sales are subscription renewals: $40K recurring this year</a:t>
            </a:r>
            <a:endParaRPr sz="1800">
              <a:solidFill>
                <a:schemeClr val="dk1"/>
              </a:solidFill>
              <a:latin typeface="Calibri"/>
              <a:ea typeface="Calibri"/>
              <a:cs typeface="Calibri"/>
              <a:sym typeface="Calibri"/>
            </a:endParaRPr>
          </a:p>
        </p:txBody>
      </p:sp>
      <p:sp>
        <p:nvSpPr>
          <p:cNvPr id="240" name="Google Shape;240;p7"/>
          <p:cNvSpPr/>
          <p:nvPr/>
        </p:nvSpPr>
        <p:spPr>
          <a:xfrm>
            <a:off x="8648700" y="2470150"/>
            <a:ext cx="3619500" cy="2369741"/>
          </a:xfrm>
          <a:prstGeom prst="roundRect">
            <a:avLst>
              <a:gd fmla="val 7235"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8953500" y="2755900"/>
            <a:ext cx="3310890" cy="800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3C4A7E"/>
              </a:buClr>
              <a:buSzPts val="6000"/>
              <a:buFont typeface="Bricolage Grotesque"/>
              <a:buNone/>
            </a:pPr>
            <a:r>
              <a:rPr b="1" lang="en-US" sz="6000">
                <a:solidFill>
                  <a:srgbClr val="3C4A7E"/>
                </a:solidFill>
                <a:latin typeface="Bricolage Grotesque"/>
                <a:ea typeface="Bricolage Grotesque"/>
                <a:cs typeface="Bricolage Grotesque"/>
                <a:sym typeface="Bricolage Grotesque"/>
              </a:rPr>
              <a:t>$2.21</a:t>
            </a:r>
            <a:endParaRPr sz="6000">
              <a:solidFill>
                <a:schemeClr val="dk1"/>
              </a:solidFill>
              <a:latin typeface="Calibri"/>
              <a:ea typeface="Calibri"/>
              <a:cs typeface="Calibri"/>
              <a:sym typeface="Calibri"/>
            </a:endParaRPr>
          </a:p>
        </p:txBody>
      </p:sp>
      <p:sp>
        <p:nvSpPr>
          <p:cNvPr id="242" name="Google Shape;242;p7"/>
          <p:cNvSpPr/>
          <p:nvPr/>
        </p:nvSpPr>
        <p:spPr>
          <a:xfrm>
            <a:off x="8953500" y="3594100"/>
            <a:ext cx="3100197"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per recipient from flows, 13× more than campaigns</a:t>
            </a:r>
            <a:endParaRPr sz="1800">
              <a:solidFill>
                <a:schemeClr val="dk1"/>
              </a:solidFill>
              <a:latin typeface="Calibri"/>
              <a:ea typeface="Calibri"/>
              <a:cs typeface="Calibri"/>
              <a:sym typeface="Calibri"/>
            </a:endParaRPr>
          </a:p>
        </p:txBody>
      </p:sp>
      <p:sp>
        <p:nvSpPr>
          <p:cNvPr id="243" name="Google Shape;243;p7"/>
          <p:cNvSpPr/>
          <p:nvPr/>
        </p:nvSpPr>
        <p:spPr>
          <a:xfrm>
            <a:off x="952500" y="5804694"/>
            <a:ext cx="5429250" cy="25400"/>
          </a:xfrm>
          <a:prstGeom prst="rect">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952500" y="6001544"/>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Steady sales</a:t>
            </a:r>
            <a:endParaRPr sz="2100">
              <a:solidFill>
                <a:schemeClr val="dk1"/>
              </a:solidFill>
              <a:latin typeface="Calibri"/>
              <a:ea typeface="Calibri"/>
              <a:cs typeface="Calibri"/>
              <a:sym typeface="Calibri"/>
            </a:endParaRPr>
          </a:p>
        </p:txBody>
      </p:sp>
      <p:sp>
        <p:nvSpPr>
          <p:cNvPr id="245" name="Google Shape;245;p7"/>
          <p:cNvSpPr/>
          <p:nvPr/>
        </p:nvSpPr>
        <p:spPr>
          <a:xfrm>
            <a:off x="952500" y="6361377"/>
            <a:ext cx="5592128"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~$9.3K a month in Q1 and ~$9.7K from April to September</a:t>
            </a:r>
            <a:endParaRPr sz="1800">
              <a:solidFill>
                <a:schemeClr val="dk1"/>
              </a:solidFill>
              <a:latin typeface="Calibri"/>
              <a:ea typeface="Calibri"/>
              <a:cs typeface="Calibri"/>
              <a:sym typeface="Calibri"/>
            </a:endParaRPr>
          </a:p>
        </p:txBody>
      </p:sp>
      <p:sp>
        <p:nvSpPr>
          <p:cNvPr id="246" name="Google Shape;246;p7"/>
          <p:cNvSpPr/>
          <p:nvPr/>
        </p:nvSpPr>
        <p:spPr>
          <a:xfrm>
            <a:off x="6838950" y="5804694"/>
            <a:ext cx="5429250" cy="25400"/>
          </a:xfrm>
          <a:prstGeom prst="rect">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6838950" y="6001544"/>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Brand search</a:t>
            </a:r>
            <a:endParaRPr sz="2100">
              <a:solidFill>
                <a:schemeClr val="dk1"/>
              </a:solidFill>
              <a:latin typeface="Calibri"/>
              <a:ea typeface="Calibri"/>
              <a:cs typeface="Calibri"/>
              <a:sym typeface="Calibri"/>
            </a:endParaRPr>
          </a:p>
        </p:txBody>
      </p:sp>
      <p:sp>
        <p:nvSpPr>
          <p:cNvPr id="248" name="Google Shape;248;p7"/>
          <p:cNvSpPr/>
          <p:nvPr/>
        </p:nvSpPr>
        <p:spPr>
          <a:xfrm>
            <a:off x="6838950" y="6361377"/>
            <a:ext cx="5972175"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Google's most profitable line, with a return close to 3×</a:t>
            </a:r>
            <a:endParaRPr sz="1800">
              <a:solidFill>
                <a:schemeClr val="dk1"/>
              </a:solidFill>
              <a:latin typeface="Calibri"/>
              <a:ea typeface="Calibri"/>
              <a:cs typeface="Calibri"/>
              <a:sym typeface="Calibri"/>
            </a:endParaRPr>
          </a:p>
        </p:txBody>
      </p:sp>
      <p:sp>
        <p:nvSpPr>
          <p:cNvPr id="249" name="Google Shape;249;p7"/>
          <p:cNvSpPr/>
          <p:nvPr/>
        </p:nvSpPr>
        <p:spPr>
          <a:xfrm>
            <a:off x="952500" y="7268104"/>
            <a:ext cx="5429250" cy="25400"/>
          </a:xfrm>
          <a:prstGeom prst="rect">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952500" y="7464954"/>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Dynamic retargeting</a:t>
            </a:r>
            <a:endParaRPr sz="2100">
              <a:solidFill>
                <a:schemeClr val="dk1"/>
              </a:solidFill>
              <a:latin typeface="Calibri"/>
              <a:ea typeface="Calibri"/>
              <a:cs typeface="Calibri"/>
              <a:sym typeface="Calibri"/>
            </a:endParaRPr>
          </a:p>
        </p:txBody>
      </p:sp>
      <p:sp>
        <p:nvSpPr>
          <p:cNvPr id="251" name="Google Shape;251;p7"/>
          <p:cNvSpPr/>
          <p:nvPr/>
        </p:nvSpPr>
        <p:spPr>
          <a:xfrm>
            <a:off x="952500" y="7824787"/>
            <a:ext cx="5972175"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3.1× return on Meta ahead of the Oct 10 restructure</a:t>
            </a:r>
            <a:endParaRPr sz="1800">
              <a:solidFill>
                <a:schemeClr val="dk1"/>
              </a:solidFill>
              <a:latin typeface="Calibri"/>
              <a:ea typeface="Calibri"/>
              <a:cs typeface="Calibri"/>
              <a:sym typeface="Calibri"/>
            </a:endParaRPr>
          </a:p>
        </p:txBody>
      </p:sp>
      <p:sp>
        <p:nvSpPr>
          <p:cNvPr id="252" name="Google Shape;252;p7"/>
          <p:cNvSpPr/>
          <p:nvPr/>
        </p:nvSpPr>
        <p:spPr>
          <a:xfrm>
            <a:off x="6838950" y="7268104"/>
            <a:ext cx="5429250" cy="25400"/>
          </a:xfrm>
          <a:prstGeom prst="rect">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6838950" y="7464954"/>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Refreshed welcome</a:t>
            </a:r>
            <a:endParaRPr sz="2100">
              <a:solidFill>
                <a:schemeClr val="dk1"/>
              </a:solidFill>
              <a:latin typeface="Calibri"/>
              <a:ea typeface="Calibri"/>
              <a:cs typeface="Calibri"/>
              <a:sym typeface="Calibri"/>
            </a:endParaRPr>
          </a:p>
        </p:txBody>
      </p:sp>
      <p:sp>
        <p:nvSpPr>
          <p:cNvPr id="254" name="Google Shape;254;p7"/>
          <p:cNvSpPr/>
          <p:nvPr/>
        </p:nvSpPr>
        <p:spPr>
          <a:xfrm>
            <a:off x="6838950" y="7824787"/>
            <a:ext cx="5592128"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BARK15 Welcome live since Oct 6; SMS Welcome on the way</a:t>
            </a:r>
            <a:endParaRPr sz="1800">
              <a:solidFill>
                <a:schemeClr val="dk1"/>
              </a:solidFill>
              <a:latin typeface="Calibri"/>
              <a:ea typeface="Calibri"/>
              <a:cs typeface="Calibri"/>
              <a:sym typeface="Calibri"/>
            </a:endParaRPr>
          </a:p>
        </p:txBody>
      </p:sp>
      <p:sp>
        <p:nvSpPr>
          <p:cNvPr id="255" name="Google Shape;255;p7"/>
          <p:cNvSpPr/>
          <p:nvPr/>
        </p:nvSpPr>
        <p:spPr>
          <a:xfrm>
            <a:off x="952500" y="9529233"/>
            <a:ext cx="9928159"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SOURCE: STORE DASHBOARD (JAN 1 – OCT 13), KLAVIYO, GOOGLE ADS, META · 07</a:t>
            </a:r>
            <a:endParaRPr sz="1800">
              <a:solidFill>
                <a:schemeClr val="dk1"/>
              </a:solidFill>
              <a:latin typeface="Calibri"/>
              <a:ea typeface="Calibri"/>
              <a:cs typeface="Calibri"/>
              <a:sym typeface="Calibri"/>
            </a:endParaRPr>
          </a:p>
        </p:txBody>
      </p:sp>
      <p:pic>
        <p:nvPicPr>
          <p:cNvPr descr="preencoded.png" id="256" name="Google Shape;256;p7"/>
          <p:cNvPicPr preferRelativeResize="0"/>
          <p:nvPr/>
        </p:nvPicPr>
        <p:blipFill rotWithShape="1">
          <a:blip r:embed="rId3">
            <a:alphaModFix/>
          </a:blip>
          <a:srcRect b="0" l="15023" r="15023" t="0"/>
          <a:stretch/>
        </p:blipFill>
        <p:spPr>
          <a:xfrm>
            <a:off x="12954000" y="0"/>
            <a:ext cx="5334000" cy="10287000"/>
          </a:xfrm>
          <a:prstGeom prst="rect">
            <a:avLst/>
          </a:prstGeom>
          <a:noFill/>
          <a:ln>
            <a:noFill/>
          </a:ln>
        </p:spPr>
      </p:pic>
      <p:sp>
        <p:nvSpPr>
          <p:cNvPr id="257" name="Google Shape;257;p7"/>
          <p:cNvSpPr/>
          <p:nvPr/>
        </p:nvSpPr>
        <p:spPr>
          <a:xfrm>
            <a:off x="14382750" y="685800"/>
            <a:ext cx="2476500" cy="1562100"/>
          </a:xfrm>
          <a:prstGeom prst="roundRect">
            <a:avLst>
              <a:gd fmla="val 9756" name="adj"/>
            </a:avLst>
          </a:prstGeom>
          <a:solidFill>
            <a:srgbClr val="FFFFFF"/>
          </a:solidFill>
          <a:ln>
            <a:noFill/>
          </a:ln>
          <a:effectLst>
            <a:outerShdw blurRad="190500" rotWithShape="0" algn="bl" dir="5400000" dist="57150">
              <a:srgbClr val="16302E">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8" name="Google Shape;258;p7"/>
          <p:cNvPicPr preferRelativeResize="0"/>
          <p:nvPr/>
        </p:nvPicPr>
        <p:blipFill rotWithShape="1">
          <a:blip r:embed="rId4">
            <a:alphaModFix/>
          </a:blip>
          <a:srcRect b="0" l="0" r="0" t="0"/>
          <a:stretch/>
        </p:blipFill>
        <p:spPr>
          <a:xfrm>
            <a:off x="14497050" y="757238"/>
            <a:ext cx="2247900" cy="141909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263" name="Shape 263"/>
        <p:cNvGrpSpPr/>
        <p:nvPr/>
      </p:nvGrpSpPr>
      <p:grpSpPr>
        <a:xfrm>
          <a:off x="0" y="0"/>
          <a:ext cx="0" cy="0"/>
          <a:chOff x="0" y="0"/>
          <a:chExt cx="0" cy="0"/>
        </a:xfrm>
      </p:grpSpPr>
      <p:sp>
        <p:nvSpPr>
          <p:cNvPr id="264" name="Google Shape;264;p8"/>
          <p:cNvSpPr/>
          <p:nvPr/>
        </p:nvSpPr>
        <p:spPr>
          <a:xfrm>
            <a:off x="15525750" y="685800"/>
            <a:ext cx="1809750" cy="1143000"/>
          </a:xfrm>
          <a:prstGeom prst="roundRect">
            <a:avLst>
              <a:gd fmla="val 13333" name="adj"/>
            </a:avLst>
          </a:prstGeom>
          <a:solidFill>
            <a:srgbClr val="FFFFFF"/>
          </a:solidFill>
          <a:ln>
            <a:noFill/>
          </a:ln>
          <a:effectLst>
            <a:outerShdw blurRad="95250" rotWithShape="0" algn="bl" dir="5400000" dist="19050">
              <a:srgbClr val="16302E">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5" name="Google Shape;265;p8"/>
          <p:cNvPicPr preferRelativeResize="0"/>
          <p:nvPr/>
        </p:nvPicPr>
        <p:blipFill rotWithShape="1">
          <a:blip r:embed="rId3">
            <a:alphaModFix/>
          </a:blip>
          <a:srcRect b="0" l="0" r="0" t="0"/>
          <a:stretch/>
        </p:blipFill>
        <p:spPr>
          <a:xfrm>
            <a:off x="15611475" y="740172"/>
            <a:ext cx="1638300" cy="1034256"/>
          </a:xfrm>
          <a:prstGeom prst="rect">
            <a:avLst/>
          </a:prstGeom>
          <a:noFill/>
          <a:ln>
            <a:noFill/>
          </a:ln>
        </p:spPr>
      </p:pic>
      <p:sp>
        <p:nvSpPr>
          <p:cNvPr id="266" name="Google Shape;266;p8"/>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C4A7E"/>
              </a:buClr>
              <a:buSzPts val="1950"/>
              <a:buFont typeface="Oswald"/>
              <a:buNone/>
            </a:pPr>
            <a:r>
              <a:rPr lang="en-US" sz="1950">
                <a:solidFill>
                  <a:srgbClr val="3C4A7E"/>
                </a:solidFill>
                <a:latin typeface="Oswald"/>
                <a:ea typeface="Oswald"/>
                <a:cs typeface="Oswald"/>
                <a:sym typeface="Oswald"/>
              </a:rPr>
              <a:t>BEG &amp; BARKER · DIRECTION</a:t>
            </a:r>
            <a:endParaRPr sz="1950">
              <a:solidFill>
                <a:schemeClr val="dk1"/>
              </a:solidFill>
              <a:latin typeface="Calibri"/>
              <a:ea typeface="Calibri"/>
              <a:cs typeface="Calibri"/>
              <a:sym typeface="Calibri"/>
            </a:endParaRPr>
          </a:p>
        </p:txBody>
      </p:sp>
      <p:sp>
        <p:nvSpPr>
          <p:cNvPr id="267" name="Google Shape;267;p8"/>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New customers and Amazon</a:t>
            </a:r>
            <a:endParaRPr sz="4800">
              <a:solidFill>
                <a:schemeClr val="dk1"/>
              </a:solidFill>
              <a:latin typeface="Calibri"/>
              <a:ea typeface="Calibri"/>
              <a:cs typeface="Calibri"/>
              <a:sym typeface="Calibri"/>
            </a:endParaRPr>
          </a:p>
        </p:txBody>
      </p:sp>
      <p:sp>
        <p:nvSpPr>
          <p:cNvPr id="268" name="Google Shape;268;p8"/>
          <p:cNvSpPr/>
          <p:nvPr/>
        </p:nvSpPr>
        <p:spPr>
          <a:xfrm>
            <a:off x="952500" y="2546350"/>
            <a:ext cx="7810500" cy="6502400"/>
          </a:xfrm>
          <a:prstGeom prst="roundRect">
            <a:avLst>
              <a:gd fmla="val 2637"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1371600" y="2927350"/>
            <a:ext cx="7669530" cy="436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2100"/>
              <a:buFont typeface="Oswald"/>
              <a:buNone/>
            </a:pPr>
            <a:r>
              <a:rPr lang="en-US" sz="2100">
                <a:solidFill>
                  <a:srgbClr val="55615D"/>
                </a:solidFill>
                <a:latin typeface="Oswald"/>
                <a:ea typeface="Oswald"/>
                <a:cs typeface="Oswald"/>
                <a:sym typeface="Oswald"/>
              </a:rPr>
              <a:t>WHERE WE ARE</a:t>
            </a:r>
            <a:endParaRPr sz="2100">
              <a:solidFill>
                <a:schemeClr val="dk1"/>
              </a:solidFill>
              <a:latin typeface="Calibri"/>
              <a:ea typeface="Calibri"/>
              <a:cs typeface="Calibri"/>
              <a:sym typeface="Calibri"/>
            </a:endParaRPr>
          </a:p>
        </p:txBody>
      </p:sp>
      <p:sp>
        <p:nvSpPr>
          <p:cNvPr id="270" name="Google Shape;270;p8"/>
          <p:cNvSpPr/>
          <p:nvPr/>
        </p:nvSpPr>
        <p:spPr>
          <a:xfrm>
            <a:off x="1371600" y="3959754"/>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16211F"/>
              </a:buClr>
              <a:buSzPts val="2100"/>
              <a:buFont typeface="Archivo"/>
              <a:buNone/>
            </a:pPr>
            <a:r>
              <a:rPr b="1" lang="en-US" sz="2100">
                <a:solidFill>
                  <a:srgbClr val="16211F"/>
                </a:solidFill>
                <a:latin typeface="Archivo"/>
                <a:ea typeface="Archivo"/>
                <a:cs typeface="Archivo"/>
                <a:sym typeface="Archivo"/>
              </a:rPr>
              <a:t>Sales below last month, on 35% less investment</a:t>
            </a:r>
            <a:endParaRPr sz="2100">
              <a:solidFill>
                <a:schemeClr val="dk1"/>
              </a:solidFill>
              <a:latin typeface="Calibri"/>
              <a:ea typeface="Calibri"/>
              <a:cs typeface="Calibri"/>
              <a:sym typeface="Calibri"/>
            </a:endParaRPr>
          </a:p>
        </p:txBody>
      </p:sp>
      <p:sp>
        <p:nvSpPr>
          <p:cNvPr id="271" name="Google Shape;271;p8"/>
          <p:cNvSpPr/>
          <p:nvPr/>
        </p:nvSpPr>
        <p:spPr>
          <a:xfrm>
            <a:off x="1371600" y="5144955"/>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Efficiency is good, but on a low investment</a:t>
            </a:r>
            <a:endParaRPr sz="2100">
              <a:solidFill>
                <a:schemeClr val="dk1"/>
              </a:solidFill>
              <a:latin typeface="Calibri"/>
              <a:ea typeface="Calibri"/>
              <a:cs typeface="Calibri"/>
              <a:sym typeface="Calibri"/>
            </a:endParaRPr>
          </a:p>
        </p:txBody>
      </p:sp>
      <p:sp>
        <p:nvSpPr>
          <p:cNvPr id="272" name="Google Shape;272;p8"/>
          <p:cNvSpPr/>
          <p:nvPr/>
        </p:nvSpPr>
        <p:spPr>
          <a:xfrm>
            <a:off x="1371600" y="6330024"/>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Search is very hard to compete in</a:t>
            </a:r>
            <a:endParaRPr sz="2100">
              <a:solidFill>
                <a:schemeClr val="dk1"/>
              </a:solidFill>
              <a:latin typeface="Calibri"/>
              <a:ea typeface="Calibri"/>
              <a:cs typeface="Calibri"/>
              <a:sym typeface="Calibri"/>
            </a:endParaRPr>
          </a:p>
        </p:txBody>
      </p:sp>
      <p:sp>
        <p:nvSpPr>
          <p:cNvPr id="273" name="Google Shape;273;p8"/>
          <p:cNvSpPr/>
          <p:nvPr/>
        </p:nvSpPr>
        <p:spPr>
          <a:xfrm>
            <a:off x="1371600" y="7515225"/>
            <a:ext cx="7181469"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New customers are hard to win: Amazon and our own brand compete for the same searches</a:t>
            </a:r>
            <a:endParaRPr sz="2100">
              <a:solidFill>
                <a:schemeClr val="dk1"/>
              </a:solidFill>
              <a:latin typeface="Calibri"/>
              <a:ea typeface="Calibri"/>
              <a:cs typeface="Calibri"/>
              <a:sym typeface="Calibri"/>
            </a:endParaRPr>
          </a:p>
        </p:txBody>
      </p:sp>
      <p:sp>
        <p:nvSpPr>
          <p:cNvPr id="274" name="Google Shape;274;p8"/>
          <p:cNvSpPr/>
          <p:nvPr/>
        </p:nvSpPr>
        <p:spPr>
          <a:xfrm>
            <a:off x="8724900" y="2546350"/>
            <a:ext cx="838200" cy="65405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3C4A7E"/>
              </a:buClr>
              <a:buSzPts val="4200"/>
              <a:buFont typeface="Bricolage Grotesque"/>
              <a:buNone/>
            </a:pPr>
            <a:r>
              <a:rPr b="1" lang="en-US" sz="4200">
                <a:solidFill>
                  <a:srgbClr val="3C4A7E"/>
                </a:solidFill>
                <a:latin typeface="Bricolage Grotesque"/>
                <a:ea typeface="Bricolage Grotesque"/>
                <a:cs typeface="Bricolage Grotesque"/>
                <a:sym typeface="Bricolage Grotesque"/>
              </a:rPr>
              <a:t>→</a:t>
            </a:r>
            <a:endParaRPr sz="4200">
              <a:solidFill>
                <a:schemeClr val="dk1"/>
              </a:solidFill>
              <a:latin typeface="Calibri"/>
              <a:ea typeface="Calibri"/>
              <a:cs typeface="Calibri"/>
              <a:sym typeface="Calibri"/>
            </a:endParaRPr>
          </a:p>
        </p:txBody>
      </p:sp>
      <p:sp>
        <p:nvSpPr>
          <p:cNvPr id="275" name="Google Shape;275;p8"/>
          <p:cNvSpPr/>
          <p:nvPr/>
        </p:nvSpPr>
        <p:spPr>
          <a:xfrm>
            <a:off x="9525000" y="2546350"/>
            <a:ext cx="7810500" cy="6502400"/>
          </a:xfrm>
          <a:prstGeom prst="roundRect">
            <a:avLst>
              <a:gd fmla="val 2637" name="adj"/>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9944100" y="2927350"/>
            <a:ext cx="7669530" cy="436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D65E"/>
              </a:buClr>
              <a:buSzPts val="2100"/>
              <a:buFont typeface="Oswald"/>
              <a:buNone/>
            </a:pPr>
            <a:r>
              <a:rPr lang="en-US" sz="2100">
                <a:solidFill>
                  <a:srgbClr val="F4D65E"/>
                </a:solidFill>
                <a:latin typeface="Oswald"/>
                <a:ea typeface="Oswald"/>
                <a:cs typeface="Oswald"/>
                <a:sym typeface="Oswald"/>
              </a:rPr>
              <a:t>WHERE WE'RE HEADING</a:t>
            </a:r>
            <a:endParaRPr sz="2100">
              <a:solidFill>
                <a:schemeClr val="dk1"/>
              </a:solidFill>
              <a:latin typeface="Calibri"/>
              <a:ea typeface="Calibri"/>
              <a:cs typeface="Calibri"/>
              <a:sym typeface="Calibri"/>
            </a:endParaRPr>
          </a:p>
        </p:txBody>
      </p:sp>
      <p:sp>
        <p:nvSpPr>
          <p:cNvPr id="277" name="Google Shape;277;p8"/>
          <p:cNvSpPr/>
          <p:nvPr/>
        </p:nvSpPr>
        <p:spPr>
          <a:xfrm>
            <a:off x="9944100" y="3913055"/>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b="1" lang="en-US" sz="2100">
                <a:solidFill>
                  <a:srgbClr val="FBF6EC"/>
                </a:solidFill>
                <a:latin typeface="Archivo"/>
                <a:ea typeface="Archivo"/>
                <a:cs typeface="Archivo"/>
                <a:sym typeface="Archivo"/>
              </a:rPr>
              <a:t>New-customer campaigns with promos, not brand</a:t>
            </a:r>
            <a:endParaRPr sz="2100">
              <a:solidFill>
                <a:schemeClr val="dk1"/>
              </a:solidFill>
              <a:latin typeface="Calibri"/>
              <a:ea typeface="Calibri"/>
              <a:cs typeface="Calibri"/>
              <a:sym typeface="Calibri"/>
            </a:endParaRPr>
          </a:p>
        </p:txBody>
      </p:sp>
      <p:sp>
        <p:nvSpPr>
          <p:cNvPr id="278" name="Google Shape;278;p8"/>
          <p:cNvSpPr/>
          <p:nvPr/>
        </p:nvSpPr>
        <p:spPr>
          <a:xfrm>
            <a:off x="9944100" y="5004858"/>
            <a:ext cx="7181469"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lang="en-US" sz="2100">
                <a:solidFill>
                  <a:srgbClr val="FBF6EC"/>
                </a:solidFill>
                <a:latin typeface="Archivo"/>
                <a:ea typeface="Archivo"/>
                <a:cs typeface="Archivo"/>
                <a:sym typeface="Archivo"/>
              </a:rPr>
              <a:t>Shift paid media toward Amazon and measure its contribution</a:t>
            </a:r>
            <a:endParaRPr sz="2100">
              <a:solidFill>
                <a:schemeClr val="dk1"/>
              </a:solidFill>
              <a:latin typeface="Calibri"/>
              <a:ea typeface="Calibri"/>
              <a:cs typeface="Calibri"/>
              <a:sym typeface="Calibri"/>
            </a:endParaRPr>
          </a:p>
        </p:txBody>
      </p:sp>
      <p:sp>
        <p:nvSpPr>
          <p:cNvPr id="279" name="Google Shape;279;p8"/>
          <p:cNvSpPr/>
          <p:nvPr/>
        </p:nvSpPr>
        <p:spPr>
          <a:xfrm>
            <a:off x="9944100" y="6469989"/>
            <a:ext cx="7181469"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lang="en-US" sz="2100">
                <a:solidFill>
                  <a:srgbClr val="FBF6EC"/>
                </a:solidFill>
                <a:latin typeface="Archivo"/>
                <a:ea typeface="Archivo"/>
                <a:cs typeface="Archivo"/>
                <a:sym typeface="Archivo"/>
              </a:rPr>
              <a:t>Full-page branding that goes straight to Amazon, plus catalog and retargeting</a:t>
            </a:r>
            <a:endParaRPr sz="2100">
              <a:solidFill>
                <a:schemeClr val="dk1"/>
              </a:solidFill>
              <a:latin typeface="Calibri"/>
              <a:ea typeface="Calibri"/>
              <a:cs typeface="Calibri"/>
              <a:sym typeface="Calibri"/>
            </a:endParaRPr>
          </a:p>
        </p:txBody>
      </p:sp>
      <p:sp>
        <p:nvSpPr>
          <p:cNvPr id="280" name="Google Shape;280;p8"/>
          <p:cNvSpPr/>
          <p:nvPr/>
        </p:nvSpPr>
        <p:spPr>
          <a:xfrm>
            <a:off x="9944100" y="7935119"/>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lang="en-US" sz="2100">
                <a:solidFill>
                  <a:srgbClr val="FBF6EC"/>
                </a:solidFill>
                <a:latin typeface="Archivo"/>
                <a:ea typeface="Archivo"/>
                <a:cs typeface="Archivo"/>
                <a:sym typeface="Archivo"/>
              </a:rPr>
              <a:t>Keep the Meta budget and keep optimizing it</a:t>
            </a:r>
            <a:endParaRPr sz="2100">
              <a:solidFill>
                <a:schemeClr val="dk1"/>
              </a:solidFill>
              <a:latin typeface="Calibri"/>
              <a:ea typeface="Calibri"/>
              <a:cs typeface="Calibri"/>
              <a:sym typeface="Calibri"/>
            </a:endParaRPr>
          </a:p>
        </p:txBody>
      </p:sp>
      <p:sp>
        <p:nvSpPr>
          <p:cNvPr id="281" name="Google Shape;281;p8"/>
          <p:cNvSpPr/>
          <p:nvPr/>
        </p:nvSpPr>
        <p:spPr>
          <a:xfrm>
            <a:off x="952500" y="9529233"/>
            <a:ext cx="491758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STORMBERG FOODS · EXECUTIVE STATUS</a:t>
            </a:r>
            <a:endParaRPr sz="1800">
              <a:solidFill>
                <a:schemeClr val="dk1"/>
              </a:solidFill>
              <a:latin typeface="Calibri"/>
              <a:ea typeface="Calibri"/>
              <a:cs typeface="Calibri"/>
              <a:sym typeface="Calibri"/>
            </a:endParaRPr>
          </a:p>
        </p:txBody>
      </p:sp>
      <p:sp>
        <p:nvSpPr>
          <p:cNvPr id="282" name="Google Shape;282;p8"/>
          <p:cNvSpPr/>
          <p:nvPr/>
        </p:nvSpPr>
        <p:spPr>
          <a:xfrm>
            <a:off x="17039167" y="9529233"/>
            <a:ext cx="372533"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287" name="Shape 287"/>
        <p:cNvGrpSpPr/>
        <p:nvPr/>
      </p:nvGrpSpPr>
      <p:grpSpPr>
        <a:xfrm>
          <a:off x="0" y="0"/>
          <a:ext cx="0" cy="0"/>
          <a:chOff x="0" y="0"/>
          <a:chExt cx="0" cy="0"/>
        </a:xfrm>
      </p:grpSpPr>
      <p:sp>
        <p:nvSpPr>
          <p:cNvPr id="288" name="Google Shape;288;p9"/>
          <p:cNvSpPr/>
          <p:nvPr/>
        </p:nvSpPr>
        <p:spPr>
          <a:xfrm>
            <a:off x="952500" y="914400"/>
            <a:ext cx="1244727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26B66"/>
              </a:buClr>
              <a:buSzPts val="1950"/>
              <a:buFont typeface="Oswald"/>
              <a:buNone/>
            </a:pPr>
            <a:r>
              <a:rPr lang="en-US" sz="1950">
                <a:solidFill>
                  <a:srgbClr val="326B66"/>
                </a:solidFill>
                <a:latin typeface="Oswald"/>
                <a:ea typeface="Oswald"/>
                <a:cs typeface="Oswald"/>
                <a:sym typeface="Oswald"/>
              </a:rPr>
              <a:t>AYOBA FOODS · YEAR TO DATE</a:t>
            </a:r>
            <a:endParaRPr sz="1950">
              <a:solidFill>
                <a:schemeClr val="dk1"/>
              </a:solidFill>
              <a:latin typeface="Calibri"/>
              <a:ea typeface="Calibri"/>
              <a:cs typeface="Calibri"/>
              <a:sym typeface="Calibri"/>
            </a:endParaRPr>
          </a:p>
        </p:txBody>
      </p:sp>
      <p:sp>
        <p:nvSpPr>
          <p:cNvPr id="289" name="Google Shape;289;p9"/>
          <p:cNvSpPr/>
          <p:nvPr/>
        </p:nvSpPr>
        <p:spPr>
          <a:xfrm>
            <a:off x="952500" y="1430867"/>
            <a:ext cx="1244727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High ticket and a profitable operation</a:t>
            </a:r>
            <a:endParaRPr sz="4800">
              <a:solidFill>
                <a:schemeClr val="dk1"/>
              </a:solidFill>
              <a:latin typeface="Calibri"/>
              <a:ea typeface="Calibri"/>
              <a:cs typeface="Calibri"/>
              <a:sym typeface="Calibri"/>
            </a:endParaRPr>
          </a:p>
        </p:txBody>
      </p:sp>
      <p:sp>
        <p:nvSpPr>
          <p:cNvPr id="290" name="Google Shape;290;p9"/>
          <p:cNvSpPr/>
          <p:nvPr/>
        </p:nvSpPr>
        <p:spPr>
          <a:xfrm>
            <a:off x="952500" y="2470150"/>
            <a:ext cx="3619500" cy="2049727"/>
          </a:xfrm>
          <a:prstGeom prst="roundRect">
            <a:avLst>
              <a:gd fmla="val 8365" name="adj"/>
            </a:avLst>
          </a:prstGeom>
          <a:solidFill>
            <a:srgbClr val="28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1257300" y="2755900"/>
            <a:ext cx="3310890" cy="800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FBF6EC"/>
              </a:buClr>
              <a:buSzPts val="6000"/>
              <a:buFont typeface="Bricolage Grotesque"/>
              <a:buNone/>
            </a:pPr>
            <a:r>
              <a:rPr b="1" lang="en-US" sz="6000">
                <a:solidFill>
                  <a:srgbClr val="FBF6EC"/>
                </a:solidFill>
                <a:latin typeface="Bricolage Grotesque"/>
                <a:ea typeface="Bricolage Grotesque"/>
                <a:cs typeface="Bricolage Grotesque"/>
                <a:sym typeface="Bricolage Grotesque"/>
              </a:rPr>
              <a:t>$107.8K</a:t>
            </a:r>
            <a:endParaRPr sz="6000">
              <a:solidFill>
                <a:schemeClr val="dk1"/>
              </a:solidFill>
              <a:latin typeface="Calibri"/>
              <a:ea typeface="Calibri"/>
              <a:cs typeface="Calibri"/>
              <a:sym typeface="Calibri"/>
            </a:endParaRPr>
          </a:p>
        </p:txBody>
      </p:sp>
      <p:sp>
        <p:nvSpPr>
          <p:cNvPr id="292" name="Google Shape;292;p9"/>
          <p:cNvSpPr/>
          <p:nvPr/>
        </p:nvSpPr>
        <p:spPr>
          <a:xfrm>
            <a:off x="1257300" y="3594100"/>
            <a:ext cx="3100197"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1800"/>
              <a:buFont typeface="Archivo"/>
              <a:buNone/>
            </a:pPr>
            <a:r>
              <a:rPr lang="en-US" sz="1800">
                <a:solidFill>
                  <a:srgbClr val="FBF6EC"/>
                </a:solidFill>
                <a:latin typeface="Archivo"/>
                <a:ea typeface="Archivo"/>
                <a:cs typeface="Archivo"/>
                <a:sym typeface="Archivo"/>
              </a:rPr>
              <a:t>in gross sales, from 1,188 orders</a:t>
            </a:r>
            <a:endParaRPr sz="1800">
              <a:solidFill>
                <a:schemeClr val="dk1"/>
              </a:solidFill>
              <a:latin typeface="Calibri"/>
              <a:ea typeface="Calibri"/>
              <a:cs typeface="Calibri"/>
              <a:sym typeface="Calibri"/>
            </a:endParaRPr>
          </a:p>
        </p:txBody>
      </p:sp>
      <p:sp>
        <p:nvSpPr>
          <p:cNvPr id="293" name="Google Shape;293;p9"/>
          <p:cNvSpPr/>
          <p:nvPr/>
        </p:nvSpPr>
        <p:spPr>
          <a:xfrm>
            <a:off x="4800600" y="2470150"/>
            <a:ext cx="3619500" cy="2049727"/>
          </a:xfrm>
          <a:prstGeom prst="roundRect">
            <a:avLst>
              <a:gd fmla="val 8365"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5105400" y="2755900"/>
            <a:ext cx="3310890" cy="800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285858"/>
              </a:buClr>
              <a:buSzPts val="6000"/>
              <a:buFont typeface="Bricolage Grotesque"/>
              <a:buNone/>
            </a:pPr>
            <a:r>
              <a:rPr b="1" lang="en-US" sz="6000">
                <a:solidFill>
                  <a:srgbClr val="285858"/>
                </a:solidFill>
                <a:latin typeface="Bricolage Grotesque"/>
                <a:ea typeface="Bricolage Grotesque"/>
                <a:cs typeface="Bricolage Grotesque"/>
                <a:sym typeface="Bricolage Grotesque"/>
              </a:rPr>
              <a:t>60%</a:t>
            </a:r>
            <a:endParaRPr sz="6000">
              <a:solidFill>
                <a:schemeClr val="dk1"/>
              </a:solidFill>
              <a:latin typeface="Calibri"/>
              <a:ea typeface="Calibri"/>
              <a:cs typeface="Calibri"/>
              <a:sym typeface="Calibri"/>
            </a:endParaRPr>
          </a:p>
        </p:txBody>
      </p:sp>
      <p:sp>
        <p:nvSpPr>
          <p:cNvPr id="295" name="Google Shape;295;p9"/>
          <p:cNvSpPr/>
          <p:nvPr/>
        </p:nvSpPr>
        <p:spPr>
          <a:xfrm>
            <a:off x="5105400" y="3594100"/>
            <a:ext cx="3100197"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gross margin after product cost: $64.7K contribution</a:t>
            </a:r>
            <a:endParaRPr sz="1800">
              <a:solidFill>
                <a:schemeClr val="dk1"/>
              </a:solidFill>
              <a:latin typeface="Calibri"/>
              <a:ea typeface="Calibri"/>
              <a:cs typeface="Calibri"/>
              <a:sym typeface="Calibri"/>
            </a:endParaRPr>
          </a:p>
        </p:txBody>
      </p:sp>
      <p:sp>
        <p:nvSpPr>
          <p:cNvPr id="296" name="Google Shape;296;p9"/>
          <p:cNvSpPr/>
          <p:nvPr/>
        </p:nvSpPr>
        <p:spPr>
          <a:xfrm>
            <a:off x="8648700" y="2470150"/>
            <a:ext cx="3619500" cy="2049727"/>
          </a:xfrm>
          <a:prstGeom prst="roundRect">
            <a:avLst>
              <a:gd fmla="val 8365"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8953500" y="2755900"/>
            <a:ext cx="3310890" cy="800100"/>
          </a:xfrm>
          <a:prstGeom prst="rect">
            <a:avLst/>
          </a:prstGeom>
          <a:noFill/>
          <a:ln>
            <a:noFill/>
          </a:ln>
        </p:spPr>
        <p:txBody>
          <a:bodyPr anchorCtr="0" anchor="t" bIns="25400" lIns="25400" spcFirstLastPara="1" rIns="25400" wrap="square" tIns="25400">
            <a:normAutofit/>
          </a:bodyPr>
          <a:lstStyle/>
          <a:p>
            <a:pPr indent="0" lvl="0" marL="0" marR="0" rtl="0" algn="l">
              <a:lnSpc>
                <a:spcPct val="83333"/>
              </a:lnSpc>
              <a:spcBef>
                <a:spcPts val="0"/>
              </a:spcBef>
              <a:spcAft>
                <a:spcPts val="0"/>
              </a:spcAft>
              <a:buClr>
                <a:srgbClr val="285858"/>
              </a:buClr>
              <a:buSzPts val="6000"/>
              <a:buFont typeface="Bricolage Grotesque"/>
              <a:buNone/>
            </a:pPr>
            <a:r>
              <a:rPr b="1" lang="en-US" sz="6000">
                <a:solidFill>
                  <a:srgbClr val="285858"/>
                </a:solidFill>
                <a:latin typeface="Bricolage Grotesque"/>
                <a:ea typeface="Bricolage Grotesque"/>
                <a:cs typeface="Bricolage Grotesque"/>
                <a:sym typeface="Bricolage Grotesque"/>
              </a:rPr>
              <a:t>4.2×</a:t>
            </a:r>
            <a:endParaRPr sz="6000">
              <a:solidFill>
                <a:schemeClr val="dk1"/>
              </a:solidFill>
              <a:latin typeface="Calibri"/>
              <a:ea typeface="Calibri"/>
              <a:cs typeface="Calibri"/>
              <a:sym typeface="Calibri"/>
            </a:endParaRPr>
          </a:p>
        </p:txBody>
      </p:sp>
      <p:sp>
        <p:nvSpPr>
          <p:cNvPr id="298" name="Google Shape;298;p9"/>
          <p:cNvSpPr/>
          <p:nvPr/>
        </p:nvSpPr>
        <p:spPr>
          <a:xfrm>
            <a:off x="8953500" y="3594100"/>
            <a:ext cx="3100197"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in sales per dollar invested in paid media this year</a:t>
            </a:r>
            <a:endParaRPr sz="1800">
              <a:solidFill>
                <a:schemeClr val="dk1"/>
              </a:solidFill>
              <a:latin typeface="Calibri"/>
              <a:ea typeface="Calibri"/>
              <a:cs typeface="Calibri"/>
              <a:sym typeface="Calibri"/>
            </a:endParaRPr>
          </a:p>
        </p:txBody>
      </p:sp>
      <p:sp>
        <p:nvSpPr>
          <p:cNvPr id="299" name="Google Shape;299;p9"/>
          <p:cNvSpPr/>
          <p:nvPr/>
        </p:nvSpPr>
        <p:spPr>
          <a:xfrm>
            <a:off x="952500" y="5804694"/>
            <a:ext cx="5429250" cy="25400"/>
          </a:xfrm>
          <a:prstGeom prst="rect">
            <a:avLst/>
          </a:prstGeom>
          <a:solidFill>
            <a:srgbClr val="58B8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952500" y="6001544"/>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Highest ticket</a:t>
            </a:r>
            <a:endParaRPr sz="2100">
              <a:solidFill>
                <a:schemeClr val="dk1"/>
              </a:solidFill>
              <a:latin typeface="Calibri"/>
              <a:ea typeface="Calibri"/>
              <a:cs typeface="Calibri"/>
              <a:sym typeface="Calibri"/>
            </a:endParaRPr>
          </a:p>
        </p:txBody>
      </p:sp>
      <p:sp>
        <p:nvSpPr>
          <p:cNvPr id="301" name="Google Shape;301;p9"/>
          <p:cNvSpPr/>
          <p:nvPr/>
        </p:nvSpPr>
        <p:spPr>
          <a:xfrm>
            <a:off x="952500" y="6361377"/>
            <a:ext cx="5972175"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$91 average per order, the highest in the portfolio</a:t>
            </a:r>
            <a:endParaRPr sz="1800">
              <a:solidFill>
                <a:schemeClr val="dk1"/>
              </a:solidFill>
              <a:latin typeface="Calibri"/>
              <a:ea typeface="Calibri"/>
              <a:cs typeface="Calibri"/>
              <a:sym typeface="Calibri"/>
            </a:endParaRPr>
          </a:p>
        </p:txBody>
      </p:sp>
      <p:sp>
        <p:nvSpPr>
          <p:cNvPr id="302" name="Google Shape;302;p9"/>
          <p:cNvSpPr/>
          <p:nvPr/>
        </p:nvSpPr>
        <p:spPr>
          <a:xfrm>
            <a:off x="6838950" y="5804694"/>
            <a:ext cx="5429250" cy="25400"/>
          </a:xfrm>
          <a:prstGeom prst="rect">
            <a:avLst/>
          </a:prstGeom>
          <a:solidFill>
            <a:srgbClr val="58B8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6838950" y="6001544"/>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New customers</a:t>
            </a:r>
            <a:endParaRPr sz="2100">
              <a:solidFill>
                <a:schemeClr val="dk1"/>
              </a:solidFill>
              <a:latin typeface="Calibri"/>
              <a:ea typeface="Calibri"/>
              <a:cs typeface="Calibri"/>
              <a:sym typeface="Calibri"/>
            </a:endParaRPr>
          </a:p>
        </p:txBody>
      </p:sp>
      <p:sp>
        <p:nvSpPr>
          <p:cNvPr id="304" name="Google Shape;304;p9"/>
          <p:cNvSpPr/>
          <p:nvPr/>
        </p:nvSpPr>
        <p:spPr>
          <a:xfrm>
            <a:off x="6838950" y="6361377"/>
            <a:ext cx="5972175"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523 this year, at about $49 each</a:t>
            </a:r>
            <a:endParaRPr sz="1800">
              <a:solidFill>
                <a:schemeClr val="dk1"/>
              </a:solidFill>
              <a:latin typeface="Calibri"/>
              <a:ea typeface="Calibri"/>
              <a:cs typeface="Calibri"/>
              <a:sym typeface="Calibri"/>
            </a:endParaRPr>
          </a:p>
        </p:txBody>
      </p:sp>
      <p:sp>
        <p:nvSpPr>
          <p:cNvPr id="305" name="Google Shape;305;p9"/>
          <p:cNvSpPr/>
          <p:nvPr/>
        </p:nvSpPr>
        <p:spPr>
          <a:xfrm>
            <a:off x="952500" y="6948090"/>
            <a:ext cx="5429250" cy="25400"/>
          </a:xfrm>
          <a:prstGeom prst="rect">
            <a:avLst/>
          </a:prstGeom>
          <a:solidFill>
            <a:srgbClr val="58B8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a:off x="952500" y="7144941"/>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Healthy sales</a:t>
            </a:r>
            <a:endParaRPr sz="2100">
              <a:solidFill>
                <a:schemeClr val="dk1"/>
              </a:solidFill>
              <a:latin typeface="Calibri"/>
              <a:ea typeface="Calibri"/>
              <a:cs typeface="Calibri"/>
              <a:sym typeface="Calibri"/>
            </a:endParaRPr>
          </a:p>
        </p:txBody>
      </p:sp>
      <p:sp>
        <p:nvSpPr>
          <p:cNvPr id="307" name="Google Shape;307;p9"/>
          <p:cNvSpPr/>
          <p:nvPr/>
        </p:nvSpPr>
        <p:spPr>
          <a:xfrm>
            <a:off x="952500" y="7504774"/>
            <a:ext cx="5972175" cy="35811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Discounts of just 5.7% and returns of 3.5% of sales</a:t>
            </a:r>
            <a:endParaRPr sz="1800">
              <a:solidFill>
                <a:schemeClr val="dk1"/>
              </a:solidFill>
              <a:latin typeface="Calibri"/>
              <a:ea typeface="Calibri"/>
              <a:cs typeface="Calibri"/>
              <a:sym typeface="Calibri"/>
            </a:endParaRPr>
          </a:p>
        </p:txBody>
      </p:sp>
      <p:sp>
        <p:nvSpPr>
          <p:cNvPr id="308" name="Google Shape;308;p9"/>
          <p:cNvSpPr/>
          <p:nvPr/>
        </p:nvSpPr>
        <p:spPr>
          <a:xfrm>
            <a:off x="6838950" y="6948090"/>
            <a:ext cx="5429250" cy="25400"/>
          </a:xfrm>
          <a:prstGeom prst="rect">
            <a:avLst/>
          </a:prstGeom>
          <a:solidFill>
            <a:srgbClr val="58B8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6838950" y="7144941"/>
            <a:ext cx="5972175" cy="3598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2100"/>
              <a:buFont typeface="Bricolage Grotesque"/>
              <a:buNone/>
            </a:pPr>
            <a:r>
              <a:rPr b="1" lang="en-US" sz="2100">
                <a:solidFill>
                  <a:srgbClr val="16211F"/>
                </a:solidFill>
                <a:latin typeface="Bricolage Grotesque"/>
                <a:ea typeface="Bricolage Grotesque"/>
                <a:cs typeface="Bricolage Grotesque"/>
                <a:sym typeface="Bricolage Grotesque"/>
              </a:rPr>
              <a:t>Meta in October</a:t>
            </a:r>
            <a:endParaRPr sz="2100">
              <a:solidFill>
                <a:schemeClr val="dk1"/>
              </a:solidFill>
              <a:latin typeface="Calibri"/>
              <a:ea typeface="Calibri"/>
              <a:cs typeface="Calibri"/>
              <a:sym typeface="Calibri"/>
            </a:endParaRPr>
          </a:p>
        </p:txBody>
      </p:sp>
      <p:sp>
        <p:nvSpPr>
          <p:cNvPr id="310" name="Google Shape;310;p9"/>
          <p:cNvSpPr/>
          <p:nvPr/>
        </p:nvSpPr>
        <p:spPr>
          <a:xfrm>
            <a:off x="6838950" y="7504774"/>
            <a:ext cx="5592128" cy="6781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New-customer campaign at $26 per purchase in its first week</a:t>
            </a:r>
            <a:endParaRPr sz="1800">
              <a:solidFill>
                <a:schemeClr val="dk1"/>
              </a:solidFill>
              <a:latin typeface="Calibri"/>
              <a:ea typeface="Calibri"/>
              <a:cs typeface="Calibri"/>
              <a:sym typeface="Calibri"/>
            </a:endParaRPr>
          </a:p>
        </p:txBody>
      </p:sp>
      <p:sp>
        <p:nvSpPr>
          <p:cNvPr id="311" name="Google Shape;311;p9"/>
          <p:cNvSpPr/>
          <p:nvPr/>
        </p:nvSpPr>
        <p:spPr>
          <a:xfrm>
            <a:off x="952500" y="9529233"/>
            <a:ext cx="11545041"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SOURCE: AYOBA SHOPIFY DASHBOARD (JAN 1 – OCT 13), META ADS MANAGER (OCT 6–13) · 09</a:t>
            </a:r>
            <a:endParaRPr sz="1800">
              <a:solidFill>
                <a:schemeClr val="dk1"/>
              </a:solidFill>
              <a:latin typeface="Calibri"/>
              <a:ea typeface="Calibri"/>
              <a:cs typeface="Calibri"/>
              <a:sym typeface="Calibri"/>
            </a:endParaRPr>
          </a:p>
        </p:txBody>
      </p:sp>
      <p:pic>
        <p:nvPicPr>
          <p:cNvPr descr="preencoded.png" id="312" name="Google Shape;312;p9"/>
          <p:cNvPicPr preferRelativeResize="0"/>
          <p:nvPr/>
        </p:nvPicPr>
        <p:blipFill rotWithShape="1">
          <a:blip r:embed="rId3">
            <a:alphaModFix/>
          </a:blip>
          <a:srcRect b="0" l="56839" r="16032" t="0"/>
          <a:stretch/>
        </p:blipFill>
        <p:spPr>
          <a:xfrm>
            <a:off x="12954000" y="0"/>
            <a:ext cx="5334000" cy="10287000"/>
          </a:xfrm>
          <a:prstGeom prst="rect">
            <a:avLst/>
          </a:prstGeom>
          <a:noFill/>
          <a:ln>
            <a:noFill/>
          </a:ln>
        </p:spPr>
      </p:pic>
      <p:sp>
        <p:nvSpPr>
          <p:cNvPr id="313" name="Google Shape;313;p9"/>
          <p:cNvSpPr/>
          <p:nvPr/>
        </p:nvSpPr>
        <p:spPr>
          <a:xfrm>
            <a:off x="14859000" y="685800"/>
            <a:ext cx="1524000" cy="1524000"/>
          </a:xfrm>
          <a:prstGeom prst="roundRect">
            <a:avLst>
              <a:gd fmla="val 10000" name="adj"/>
            </a:avLst>
          </a:prstGeom>
          <a:noFill/>
          <a:ln>
            <a:noFill/>
          </a:ln>
          <a:effectLst>
            <a:outerShdw blurRad="190500" rotWithShape="0" algn="bl" dir="5400000" dist="57150">
              <a:srgbClr val="16302E">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4" name="Google Shape;314;p9"/>
          <p:cNvPicPr preferRelativeResize="0"/>
          <p:nvPr/>
        </p:nvPicPr>
        <p:blipFill rotWithShape="1">
          <a:blip r:embed="rId4">
            <a:alphaModFix/>
          </a:blip>
          <a:srcRect b="0" l="0" r="0" t="0"/>
          <a:stretch/>
        </p:blipFill>
        <p:spPr>
          <a:xfrm>
            <a:off x="14859000" y="685800"/>
            <a:ext cx="1524000" cy="1524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319" name="Shape 319"/>
        <p:cNvGrpSpPr/>
        <p:nvPr/>
      </p:nvGrpSpPr>
      <p:grpSpPr>
        <a:xfrm>
          <a:off x="0" y="0"/>
          <a:ext cx="0" cy="0"/>
          <a:chOff x="0" y="0"/>
          <a:chExt cx="0" cy="0"/>
        </a:xfrm>
      </p:grpSpPr>
      <p:pic>
        <p:nvPicPr>
          <p:cNvPr descr="preencoded.png" id="320" name="Google Shape;320;p10"/>
          <p:cNvPicPr preferRelativeResize="0"/>
          <p:nvPr/>
        </p:nvPicPr>
        <p:blipFill rotWithShape="1">
          <a:blip r:embed="rId3">
            <a:alphaModFix/>
          </a:blip>
          <a:srcRect b="0" l="0" r="0" t="0"/>
          <a:stretch/>
        </p:blipFill>
        <p:spPr>
          <a:xfrm>
            <a:off x="16192500" y="685800"/>
            <a:ext cx="1143000" cy="1143000"/>
          </a:xfrm>
          <a:prstGeom prst="rect">
            <a:avLst/>
          </a:prstGeom>
          <a:noFill/>
          <a:ln>
            <a:noFill/>
          </a:ln>
        </p:spPr>
      </p:pic>
      <p:sp>
        <p:nvSpPr>
          <p:cNvPr id="321" name="Google Shape;321;p10"/>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26B66"/>
              </a:buClr>
              <a:buSzPts val="1950"/>
              <a:buFont typeface="Oswald"/>
              <a:buNone/>
            </a:pPr>
            <a:r>
              <a:rPr lang="en-US" sz="1950">
                <a:solidFill>
                  <a:srgbClr val="326B66"/>
                </a:solidFill>
                <a:latin typeface="Oswald"/>
                <a:ea typeface="Oswald"/>
                <a:cs typeface="Oswald"/>
                <a:sym typeface="Oswald"/>
              </a:rPr>
              <a:t>AYOBA FOODS · DIRECTION</a:t>
            </a:r>
            <a:endParaRPr sz="1950">
              <a:solidFill>
                <a:schemeClr val="dk1"/>
              </a:solidFill>
              <a:latin typeface="Calibri"/>
              <a:ea typeface="Calibri"/>
              <a:cs typeface="Calibri"/>
              <a:sym typeface="Calibri"/>
            </a:endParaRPr>
          </a:p>
        </p:txBody>
      </p:sp>
      <p:sp>
        <p:nvSpPr>
          <p:cNvPr id="322" name="Google Shape;322;p10"/>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Good traffic, the focus is Amazon</a:t>
            </a:r>
            <a:endParaRPr sz="4800">
              <a:solidFill>
                <a:schemeClr val="dk1"/>
              </a:solidFill>
              <a:latin typeface="Calibri"/>
              <a:ea typeface="Calibri"/>
              <a:cs typeface="Calibri"/>
              <a:sym typeface="Calibri"/>
            </a:endParaRPr>
          </a:p>
        </p:txBody>
      </p:sp>
      <p:sp>
        <p:nvSpPr>
          <p:cNvPr id="323" name="Google Shape;323;p10"/>
          <p:cNvSpPr/>
          <p:nvPr/>
        </p:nvSpPr>
        <p:spPr>
          <a:xfrm>
            <a:off x="952500" y="2546350"/>
            <a:ext cx="7810500" cy="6502400"/>
          </a:xfrm>
          <a:prstGeom prst="roundRect">
            <a:avLst>
              <a:gd fmla="val 2637"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0"/>
          <p:cNvSpPr/>
          <p:nvPr/>
        </p:nvSpPr>
        <p:spPr>
          <a:xfrm>
            <a:off x="1371600" y="2927350"/>
            <a:ext cx="7669530" cy="436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2100"/>
              <a:buFont typeface="Oswald"/>
              <a:buNone/>
            </a:pPr>
            <a:r>
              <a:rPr lang="en-US" sz="2100">
                <a:solidFill>
                  <a:srgbClr val="55615D"/>
                </a:solidFill>
                <a:latin typeface="Oswald"/>
                <a:ea typeface="Oswald"/>
                <a:cs typeface="Oswald"/>
                <a:sym typeface="Oswald"/>
              </a:rPr>
              <a:t>WHERE WE ARE</a:t>
            </a:r>
            <a:endParaRPr sz="2100">
              <a:solidFill>
                <a:schemeClr val="dk1"/>
              </a:solidFill>
              <a:latin typeface="Calibri"/>
              <a:ea typeface="Calibri"/>
              <a:cs typeface="Calibri"/>
              <a:sym typeface="Calibri"/>
            </a:endParaRPr>
          </a:p>
        </p:txBody>
      </p:sp>
      <p:sp>
        <p:nvSpPr>
          <p:cNvPr id="325" name="Google Shape;325;p10"/>
          <p:cNvSpPr/>
          <p:nvPr/>
        </p:nvSpPr>
        <p:spPr>
          <a:xfrm>
            <a:off x="1371600" y="3913055"/>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16211F"/>
              </a:buClr>
              <a:buSzPts val="2100"/>
              <a:buFont typeface="Archivo"/>
              <a:buNone/>
            </a:pPr>
            <a:r>
              <a:rPr b="1" lang="en-US" sz="2100">
                <a:solidFill>
                  <a:srgbClr val="16211F"/>
                </a:solidFill>
                <a:latin typeface="Archivo"/>
                <a:ea typeface="Archivo"/>
                <a:cs typeface="Archivo"/>
                <a:sym typeface="Archivo"/>
              </a:rPr>
              <a:t>Very low sales on the website</a:t>
            </a:r>
            <a:endParaRPr sz="2100">
              <a:solidFill>
                <a:schemeClr val="dk1"/>
              </a:solidFill>
              <a:latin typeface="Calibri"/>
              <a:ea typeface="Calibri"/>
              <a:cs typeface="Calibri"/>
              <a:sym typeface="Calibri"/>
            </a:endParaRPr>
          </a:p>
        </p:txBody>
      </p:sp>
      <p:sp>
        <p:nvSpPr>
          <p:cNvPr id="326" name="Google Shape;326;p10"/>
          <p:cNvSpPr/>
          <p:nvPr/>
        </p:nvSpPr>
        <p:spPr>
          <a:xfrm>
            <a:off x="1371600" y="5004858"/>
            <a:ext cx="7181469"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Traffic is good, but site layout and long product copy hold conversion back; under review</a:t>
            </a:r>
            <a:endParaRPr sz="2100">
              <a:solidFill>
                <a:schemeClr val="dk1"/>
              </a:solidFill>
              <a:latin typeface="Calibri"/>
              <a:ea typeface="Calibri"/>
              <a:cs typeface="Calibri"/>
              <a:sym typeface="Calibri"/>
            </a:endParaRPr>
          </a:p>
        </p:txBody>
      </p:sp>
      <p:sp>
        <p:nvSpPr>
          <p:cNvPr id="327" name="Google Shape;327;p10"/>
          <p:cNvSpPr/>
          <p:nvPr/>
        </p:nvSpPr>
        <p:spPr>
          <a:xfrm>
            <a:off x="1371600" y="6469989"/>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October: $3.1K in sales at a 3.6× blended return</a:t>
            </a:r>
            <a:endParaRPr sz="2100">
              <a:solidFill>
                <a:schemeClr val="dk1"/>
              </a:solidFill>
              <a:latin typeface="Calibri"/>
              <a:ea typeface="Calibri"/>
              <a:cs typeface="Calibri"/>
              <a:sym typeface="Calibri"/>
            </a:endParaRPr>
          </a:p>
        </p:txBody>
      </p:sp>
      <p:sp>
        <p:nvSpPr>
          <p:cNvPr id="328" name="Google Shape;328;p10"/>
          <p:cNvSpPr/>
          <p:nvPr/>
        </p:nvSpPr>
        <p:spPr>
          <a:xfrm>
            <a:off x="1371600" y="7561792"/>
            <a:ext cx="7181469"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33413E"/>
              </a:buClr>
              <a:buSzPts val="2100"/>
              <a:buFont typeface="Archivo"/>
              <a:buNone/>
            </a:pPr>
            <a:r>
              <a:rPr lang="en-US" sz="2100">
                <a:solidFill>
                  <a:srgbClr val="33413E"/>
                </a:solidFill>
                <a:latin typeface="Archivo"/>
                <a:ea typeface="Archivo"/>
                <a:cs typeface="Archivo"/>
                <a:sym typeface="Archivo"/>
              </a:rPr>
              <a:t>58% of customers are repeat buyers: the challenge is new-customer volume</a:t>
            </a:r>
            <a:endParaRPr sz="2100">
              <a:solidFill>
                <a:schemeClr val="dk1"/>
              </a:solidFill>
              <a:latin typeface="Calibri"/>
              <a:ea typeface="Calibri"/>
              <a:cs typeface="Calibri"/>
              <a:sym typeface="Calibri"/>
            </a:endParaRPr>
          </a:p>
        </p:txBody>
      </p:sp>
      <p:sp>
        <p:nvSpPr>
          <p:cNvPr id="329" name="Google Shape;329;p10"/>
          <p:cNvSpPr/>
          <p:nvPr/>
        </p:nvSpPr>
        <p:spPr>
          <a:xfrm>
            <a:off x="8724900" y="2546350"/>
            <a:ext cx="838200" cy="6540500"/>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285858"/>
              </a:buClr>
              <a:buSzPts val="4200"/>
              <a:buFont typeface="Bricolage Grotesque"/>
              <a:buNone/>
            </a:pPr>
            <a:r>
              <a:rPr b="1" lang="en-US" sz="4200">
                <a:solidFill>
                  <a:srgbClr val="285858"/>
                </a:solidFill>
                <a:latin typeface="Bricolage Grotesque"/>
                <a:ea typeface="Bricolage Grotesque"/>
                <a:cs typeface="Bricolage Grotesque"/>
                <a:sym typeface="Bricolage Grotesque"/>
              </a:rPr>
              <a:t>→</a:t>
            </a:r>
            <a:endParaRPr sz="4200">
              <a:solidFill>
                <a:schemeClr val="dk1"/>
              </a:solidFill>
              <a:latin typeface="Calibri"/>
              <a:ea typeface="Calibri"/>
              <a:cs typeface="Calibri"/>
              <a:sym typeface="Calibri"/>
            </a:endParaRPr>
          </a:p>
        </p:txBody>
      </p:sp>
      <p:sp>
        <p:nvSpPr>
          <p:cNvPr id="330" name="Google Shape;330;p10"/>
          <p:cNvSpPr/>
          <p:nvPr/>
        </p:nvSpPr>
        <p:spPr>
          <a:xfrm>
            <a:off x="9525000" y="2546350"/>
            <a:ext cx="7810500" cy="6502400"/>
          </a:xfrm>
          <a:prstGeom prst="roundRect">
            <a:avLst>
              <a:gd fmla="val 2637" name="adj"/>
            </a:avLst>
          </a:prstGeom>
          <a:solidFill>
            <a:srgbClr val="28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0"/>
          <p:cNvSpPr/>
          <p:nvPr/>
        </p:nvSpPr>
        <p:spPr>
          <a:xfrm>
            <a:off x="9944100" y="2927350"/>
            <a:ext cx="7669530" cy="436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D65E"/>
              </a:buClr>
              <a:buSzPts val="2100"/>
              <a:buFont typeface="Oswald"/>
              <a:buNone/>
            </a:pPr>
            <a:r>
              <a:rPr lang="en-US" sz="2100">
                <a:solidFill>
                  <a:srgbClr val="F4D65E"/>
                </a:solidFill>
                <a:latin typeface="Oswald"/>
                <a:ea typeface="Oswald"/>
                <a:cs typeface="Oswald"/>
                <a:sym typeface="Oswald"/>
              </a:rPr>
              <a:t>WHERE WE'RE HEADING</a:t>
            </a:r>
            <a:endParaRPr sz="2100">
              <a:solidFill>
                <a:schemeClr val="dk1"/>
              </a:solidFill>
              <a:latin typeface="Calibri"/>
              <a:ea typeface="Calibri"/>
              <a:cs typeface="Calibri"/>
              <a:sym typeface="Calibri"/>
            </a:endParaRPr>
          </a:p>
        </p:txBody>
      </p:sp>
      <p:sp>
        <p:nvSpPr>
          <p:cNvPr id="332" name="Google Shape;332;p10"/>
          <p:cNvSpPr/>
          <p:nvPr/>
        </p:nvSpPr>
        <p:spPr>
          <a:xfrm>
            <a:off x="9944100" y="3913055"/>
            <a:ext cx="7181469"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b="1" lang="en-US" sz="2100">
                <a:solidFill>
                  <a:srgbClr val="FBF6EC"/>
                </a:solidFill>
                <a:latin typeface="Archivo"/>
                <a:ea typeface="Archivo"/>
                <a:cs typeface="Archivo"/>
                <a:sym typeface="Archivo"/>
              </a:rPr>
              <a:t>A/B test: brand campaign toward Amazon to measure the result</a:t>
            </a:r>
            <a:endParaRPr sz="2100">
              <a:solidFill>
                <a:schemeClr val="dk1"/>
              </a:solidFill>
              <a:latin typeface="Calibri"/>
              <a:ea typeface="Calibri"/>
              <a:cs typeface="Calibri"/>
              <a:sym typeface="Calibri"/>
            </a:endParaRPr>
          </a:p>
        </p:txBody>
      </p:sp>
      <p:sp>
        <p:nvSpPr>
          <p:cNvPr id="333" name="Google Shape;333;p10"/>
          <p:cNvSpPr/>
          <p:nvPr/>
        </p:nvSpPr>
        <p:spPr>
          <a:xfrm>
            <a:off x="9944100" y="5378186"/>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lang="en-US" sz="2100">
                <a:solidFill>
                  <a:srgbClr val="FBF6EC"/>
                </a:solidFill>
                <a:latin typeface="Archivo"/>
                <a:ea typeface="Archivo"/>
                <a:cs typeface="Archivo"/>
                <a:sym typeface="Archivo"/>
              </a:rPr>
              <a:t>Goal: add 10% to Amazon sales (if it sells $10K, +$1K)</a:t>
            </a:r>
            <a:endParaRPr sz="2100">
              <a:solidFill>
                <a:schemeClr val="dk1"/>
              </a:solidFill>
              <a:latin typeface="Calibri"/>
              <a:ea typeface="Calibri"/>
              <a:cs typeface="Calibri"/>
              <a:sym typeface="Calibri"/>
            </a:endParaRPr>
          </a:p>
        </p:txBody>
      </p:sp>
      <p:sp>
        <p:nvSpPr>
          <p:cNvPr id="334" name="Google Shape;334;p10"/>
          <p:cNvSpPr/>
          <p:nvPr/>
        </p:nvSpPr>
        <p:spPr>
          <a:xfrm>
            <a:off x="9944100" y="6469989"/>
            <a:ext cx="7669530" cy="411427"/>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lang="en-US" sz="2100">
                <a:solidFill>
                  <a:srgbClr val="FBF6EC"/>
                </a:solidFill>
                <a:latin typeface="Archivo"/>
                <a:ea typeface="Archivo"/>
                <a:cs typeface="Archivo"/>
                <a:sym typeface="Archivo"/>
              </a:rPr>
              <a:t>Low, performance-optimized web spend</a:t>
            </a:r>
            <a:endParaRPr sz="2100">
              <a:solidFill>
                <a:schemeClr val="dk1"/>
              </a:solidFill>
              <a:latin typeface="Calibri"/>
              <a:ea typeface="Calibri"/>
              <a:cs typeface="Calibri"/>
              <a:sym typeface="Calibri"/>
            </a:endParaRPr>
          </a:p>
        </p:txBody>
      </p:sp>
      <p:sp>
        <p:nvSpPr>
          <p:cNvPr id="335" name="Google Shape;335;p10"/>
          <p:cNvSpPr/>
          <p:nvPr/>
        </p:nvSpPr>
        <p:spPr>
          <a:xfrm>
            <a:off x="9944100" y="7561792"/>
            <a:ext cx="7181469" cy="784754"/>
          </a:xfrm>
          <a:prstGeom prst="rect">
            <a:avLst/>
          </a:prstGeom>
          <a:noFill/>
          <a:ln>
            <a:noFill/>
          </a:ln>
        </p:spPr>
        <p:txBody>
          <a:bodyPr anchorCtr="0" anchor="t" bIns="25400" lIns="25400" spcFirstLastPara="1" rIns="25400" wrap="square" tIns="25400">
            <a:normAutofit/>
          </a:bodyPr>
          <a:lstStyle/>
          <a:p>
            <a:pPr indent="0" lvl="0" marL="0" marR="0" rtl="0" algn="l">
              <a:lnSpc>
                <a:spcPct val="126000"/>
              </a:lnSpc>
              <a:spcBef>
                <a:spcPts val="0"/>
              </a:spcBef>
              <a:spcAft>
                <a:spcPts val="0"/>
              </a:spcAft>
              <a:buClr>
                <a:srgbClr val="FBF6EC"/>
              </a:buClr>
              <a:buSzPts val="2100"/>
              <a:buFont typeface="Archivo"/>
              <a:buNone/>
            </a:pPr>
            <a:r>
              <a:rPr lang="en-US" sz="2100">
                <a:solidFill>
                  <a:srgbClr val="FBF6EC"/>
                </a:solidFill>
                <a:latin typeface="Archivo"/>
                <a:ea typeface="Archivo"/>
                <a:cs typeface="Archivo"/>
                <a:sym typeface="Archivo"/>
              </a:rPr>
              <a:t>Replicate Brooklyn's strategy: subscription and repeat purchase</a:t>
            </a:r>
            <a:endParaRPr sz="2100">
              <a:solidFill>
                <a:schemeClr val="dk1"/>
              </a:solidFill>
              <a:latin typeface="Calibri"/>
              <a:ea typeface="Calibri"/>
              <a:cs typeface="Calibri"/>
              <a:sym typeface="Calibri"/>
            </a:endParaRPr>
          </a:p>
        </p:txBody>
      </p:sp>
      <p:sp>
        <p:nvSpPr>
          <p:cNvPr id="336" name="Google Shape;336;p10"/>
          <p:cNvSpPr/>
          <p:nvPr/>
        </p:nvSpPr>
        <p:spPr>
          <a:xfrm>
            <a:off x="952500" y="9529233"/>
            <a:ext cx="491758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STORMBERG FOODS · EXECUTIVE STATUS</a:t>
            </a:r>
            <a:endParaRPr sz="1800">
              <a:solidFill>
                <a:schemeClr val="dk1"/>
              </a:solidFill>
              <a:latin typeface="Calibri"/>
              <a:ea typeface="Calibri"/>
              <a:cs typeface="Calibri"/>
              <a:sym typeface="Calibri"/>
            </a:endParaRPr>
          </a:p>
        </p:txBody>
      </p:sp>
      <p:sp>
        <p:nvSpPr>
          <p:cNvPr id="337" name="Google Shape;337;p10"/>
          <p:cNvSpPr/>
          <p:nvPr/>
        </p:nvSpPr>
        <p:spPr>
          <a:xfrm>
            <a:off x="17066815" y="9529233"/>
            <a:ext cx="344884"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EC"/>
        </a:solidFill>
      </p:bgPr>
    </p:bg>
    <p:spTree>
      <p:nvGrpSpPr>
        <p:cNvPr id="342" name="Shape 342"/>
        <p:cNvGrpSpPr/>
        <p:nvPr/>
      </p:nvGrpSpPr>
      <p:grpSpPr>
        <a:xfrm>
          <a:off x="0" y="0"/>
          <a:ext cx="0" cy="0"/>
          <a:chOff x="0" y="0"/>
          <a:chExt cx="0" cy="0"/>
        </a:xfrm>
      </p:grpSpPr>
      <p:sp>
        <p:nvSpPr>
          <p:cNvPr id="343" name="Google Shape;343;p11"/>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14E2C"/>
              </a:buClr>
              <a:buSzPts val="1950"/>
              <a:buFont typeface="Oswald"/>
              <a:buNone/>
            </a:pPr>
            <a:r>
              <a:rPr lang="en-US" sz="1950">
                <a:solidFill>
                  <a:srgbClr val="B14E2C"/>
                </a:solidFill>
                <a:latin typeface="Oswald"/>
                <a:ea typeface="Oswald"/>
                <a:cs typeface="Oswald"/>
                <a:sym typeface="Oswald"/>
              </a:rPr>
              <a:t>PLAN</a:t>
            </a:r>
            <a:endParaRPr sz="1950">
              <a:solidFill>
                <a:schemeClr val="dk1"/>
              </a:solidFill>
              <a:latin typeface="Calibri"/>
              <a:ea typeface="Calibri"/>
              <a:cs typeface="Calibri"/>
              <a:sym typeface="Calibri"/>
            </a:endParaRPr>
          </a:p>
        </p:txBody>
      </p:sp>
      <p:sp>
        <p:nvSpPr>
          <p:cNvPr id="344" name="Google Shape;344;p11"/>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What we'll do this week</a:t>
            </a:r>
            <a:endParaRPr sz="4800">
              <a:solidFill>
                <a:schemeClr val="dk1"/>
              </a:solidFill>
              <a:latin typeface="Calibri"/>
              <a:ea typeface="Calibri"/>
              <a:cs typeface="Calibri"/>
              <a:sym typeface="Calibri"/>
            </a:endParaRPr>
          </a:p>
        </p:txBody>
      </p:sp>
      <p:sp>
        <p:nvSpPr>
          <p:cNvPr id="345" name="Google Shape;345;p11"/>
          <p:cNvSpPr/>
          <p:nvPr/>
        </p:nvSpPr>
        <p:spPr>
          <a:xfrm>
            <a:off x="952500" y="2508250"/>
            <a:ext cx="5257800" cy="5283200"/>
          </a:xfrm>
          <a:prstGeom prst="roundRect">
            <a:avLst>
              <a:gd fmla="val 3261"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952500" y="2508250"/>
            <a:ext cx="5257800" cy="1066800"/>
          </a:xfrm>
          <a:prstGeom prst="rect">
            <a:avLst/>
          </a:pr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7" name="Google Shape;347;p11"/>
          <p:cNvPicPr preferRelativeResize="0"/>
          <p:nvPr/>
        </p:nvPicPr>
        <p:blipFill rotWithShape="1">
          <a:blip r:embed="rId3">
            <a:alphaModFix/>
          </a:blip>
          <a:srcRect b="0" l="0" r="0" t="0"/>
          <a:stretch/>
        </p:blipFill>
        <p:spPr>
          <a:xfrm>
            <a:off x="1219200" y="2698750"/>
            <a:ext cx="685800" cy="685800"/>
          </a:xfrm>
          <a:prstGeom prst="rect">
            <a:avLst/>
          </a:prstGeom>
          <a:noFill/>
          <a:ln>
            <a:noFill/>
          </a:ln>
        </p:spPr>
      </p:pic>
      <p:sp>
        <p:nvSpPr>
          <p:cNvPr id="348" name="Google Shape;348;p11"/>
          <p:cNvSpPr/>
          <p:nvPr/>
        </p:nvSpPr>
        <p:spPr>
          <a:xfrm>
            <a:off x="2095500" y="2854986"/>
            <a:ext cx="2599875" cy="411427"/>
          </a:xfrm>
          <a:prstGeom prst="rect">
            <a:avLst/>
          </a:prstGeom>
          <a:noFill/>
          <a:ln>
            <a:noFill/>
          </a:ln>
        </p:spPr>
        <p:txBody>
          <a:bodyPr anchorCtr="0" anchor="t" bIns="25400" lIns="25400" spcFirstLastPara="1" rIns="25400" wrap="square" tIns="25400">
            <a:normAutofit/>
          </a:bodyPr>
          <a:lstStyle/>
          <a:p>
            <a:pPr indent="0" lvl="0" marL="0" marR="0" rtl="0" algn="l">
              <a:lnSpc>
                <a:spcPct val="93830"/>
              </a:lnSpc>
              <a:spcBef>
                <a:spcPts val="0"/>
              </a:spcBef>
              <a:spcAft>
                <a:spcPts val="0"/>
              </a:spcAft>
              <a:buClr>
                <a:srgbClr val="FBF6EC"/>
              </a:buClr>
              <a:buSzPts val="2100"/>
              <a:buFont typeface="Oswald"/>
              <a:buNone/>
            </a:pPr>
            <a:r>
              <a:rPr lang="en-US" sz="2100">
                <a:solidFill>
                  <a:srgbClr val="FBF6EC"/>
                </a:solidFill>
                <a:latin typeface="Oswald"/>
                <a:ea typeface="Oswald"/>
                <a:cs typeface="Oswald"/>
                <a:sym typeface="Oswald"/>
              </a:rPr>
              <a:t>BROOKLYN BILTONG</a:t>
            </a:r>
            <a:endParaRPr sz="2100">
              <a:solidFill>
                <a:schemeClr val="dk1"/>
              </a:solidFill>
              <a:latin typeface="Calibri"/>
              <a:ea typeface="Calibri"/>
              <a:cs typeface="Calibri"/>
              <a:sym typeface="Calibri"/>
            </a:endParaRPr>
          </a:p>
        </p:txBody>
      </p:sp>
      <p:sp>
        <p:nvSpPr>
          <p:cNvPr id="349" name="Google Shape;349;p11"/>
          <p:cNvSpPr/>
          <p:nvPr/>
        </p:nvSpPr>
        <p:spPr>
          <a:xfrm>
            <a:off x="1257300" y="3841750"/>
            <a:ext cx="4787646" cy="704850"/>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16211F"/>
              </a:buClr>
              <a:buSzPts val="1875"/>
              <a:buFont typeface="Archivo"/>
              <a:buNone/>
            </a:pPr>
            <a:r>
              <a:rPr b="1" lang="en-US" sz="1875">
                <a:solidFill>
                  <a:srgbClr val="16211F"/>
                </a:solidFill>
                <a:latin typeface="Archivo"/>
                <a:ea typeface="Archivo"/>
                <a:cs typeface="Archivo"/>
                <a:sym typeface="Archivo"/>
              </a:rPr>
              <a:t>Fast Sale (Oct 15): 20% for past buyers, 15% for an open audience; reminder Oct 16, last call Oct 18</a:t>
            </a:r>
            <a:endParaRPr sz="1875">
              <a:solidFill>
                <a:schemeClr val="dk1"/>
              </a:solidFill>
              <a:latin typeface="Calibri"/>
              <a:ea typeface="Calibri"/>
              <a:cs typeface="Calibri"/>
              <a:sym typeface="Calibri"/>
            </a:endParaRPr>
          </a:p>
        </p:txBody>
      </p:sp>
      <p:sp>
        <p:nvSpPr>
          <p:cNvPr id="350" name="Google Shape;350;p11"/>
          <p:cNvSpPr/>
          <p:nvPr/>
        </p:nvSpPr>
        <p:spPr>
          <a:xfrm>
            <a:off x="1257300" y="4679950"/>
            <a:ext cx="4787646" cy="704850"/>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33413E"/>
              </a:buClr>
              <a:buSzPts val="1875"/>
              <a:buFont typeface="Archivo"/>
              <a:buNone/>
            </a:pPr>
            <a:r>
              <a:rPr lang="en-US" sz="1875">
                <a:solidFill>
                  <a:srgbClr val="33413E"/>
                </a:solidFill>
                <a:latin typeface="Archivo"/>
                <a:ea typeface="Archivo"/>
                <a:cs typeface="Archivo"/>
                <a:sym typeface="Archivo"/>
              </a:rPr>
              <a:t>New flows and hyper-segmented campaigns starting this week</a:t>
            </a:r>
            <a:endParaRPr sz="1875">
              <a:solidFill>
                <a:schemeClr val="dk1"/>
              </a:solidFill>
              <a:latin typeface="Calibri"/>
              <a:ea typeface="Calibri"/>
              <a:cs typeface="Calibri"/>
              <a:sym typeface="Calibri"/>
            </a:endParaRPr>
          </a:p>
        </p:txBody>
      </p:sp>
      <p:sp>
        <p:nvSpPr>
          <p:cNvPr id="351" name="Google Shape;351;p11"/>
          <p:cNvSpPr/>
          <p:nvPr/>
        </p:nvSpPr>
        <p:spPr>
          <a:xfrm>
            <a:off x="1257300" y="5518150"/>
            <a:ext cx="511302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33413E"/>
              </a:buClr>
              <a:buSzPts val="1875"/>
              <a:buFont typeface="Archivo"/>
              <a:buNone/>
            </a:pPr>
            <a:r>
              <a:rPr lang="en-US" sz="1875">
                <a:solidFill>
                  <a:srgbClr val="33413E"/>
                </a:solidFill>
                <a:latin typeface="Archivo"/>
                <a:ea typeface="Archivo"/>
                <a:cs typeface="Archivo"/>
                <a:sym typeface="Archivo"/>
              </a:rPr>
              <a:t>Grow sales by scaling retargeting and Smile</a:t>
            </a:r>
            <a:endParaRPr sz="1875">
              <a:solidFill>
                <a:schemeClr val="dk1"/>
              </a:solidFill>
              <a:latin typeface="Calibri"/>
              <a:ea typeface="Calibri"/>
              <a:cs typeface="Calibri"/>
              <a:sym typeface="Calibri"/>
            </a:endParaRPr>
          </a:p>
        </p:txBody>
      </p:sp>
      <p:sp>
        <p:nvSpPr>
          <p:cNvPr id="352" name="Google Shape;352;p11"/>
          <p:cNvSpPr/>
          <p:nvPr/>
        </p:nvSpPr>
        <p:spPr>
          <a:xfrm>
            <a:off x="6515100" y="2508250"/>
            <a:ext cx="5257800" cy="5283200"/>
          </a:xfrm>
          <a:prstGeom prst="roundRect">
            <a:avLst>
              <a:gd fmla="val 3261"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6515100" y="2508250"/>
            <a:ext cx="5257800" cy="1066800"/>
          </a:xfrm>
          <a:prstGeom prst="rect">
            <a:avLst/>
          </a:pr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6781800" y="2698750"/>
            <a:ext cx="685800" cy="685800"/>
          </a:xfrm>
          <a:prstGeom prst="roundRect">
            <a:avLst>
              <a:gd fmla="val 1388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5" name="Google Shape;355;p11"/>
          <p:cNvPicPr preferRelativeResize="0"/>
          <p:nvPr/>
        </p:nvPicPr>
        <p:blipFill rotWithShape="1">
          <a:blip r:embed="rId4">
            <a:alphaModFix/>
          </a:blip>
          <a:srcRect b="0" l="0" r="0" t="0"/>
          <a:stretch/>
        </p:blipFill>
        <p:spPr>
          <a:xfrm>
            <a:off x="6819900" y="2849166"/>
            <a:ext cx="609600" cy="384836"/>
          </a:xfrm>
          <a:prstGeom prst="rect">
            <a:avLst/>
          </a:prstGeom>
          <a:noFill/>
          <a:ln>
            <a:noFill/>
          </a:ln>
        </p:spPr>
      </p:pic>
      <p:sp>
        <p:nvSpPr>
          <p:cNvPr id="356" name="Google Shape;356;p11"/>
          <p:cNvSpPr/>
          <p:nvPr/>
        </p:nvSpPr>
        <p:spPr>
          <a:xfrm>
            <a:off x="7658100" y="2854986"/>
            <a:ext cx="1961184" cy="411427"/>
          </a:xfrm>
          <a:prstGeom prst="rect">
            <a:avLst/>
          </a:prstGeom>
          <a:noFill/>
          <a:ln>
            <a:noFill/>
          </a:ln>
        </p:spPr>
        <p:txBody>
          <a:bodyPr anchorCtr="0" anchor="t" bIns="25400" lIns="25400" spcFirstLastPara="1" rIns="25400" wrap="square" tIns="25400">
            <a:normAutofit/>
          </a:bodyPr>
          <a:lstStyle/>
          <a:p>
            <a:pPr indent="0" lvl="0" marL="0" marR="0" rtl="0" algn="l">
              <a:lnSpc>
                <a:spcPct val="93830"/>
              </a:lnSpc>
              <a:spcBef>
                <a:spcPts val="0"/>
              </a:spcBef>
              <a:spcAft>
                <a:spcPts val="0"/>
              </a:spcAft>
              <a:buClr>
                <a:srgbClr val="FBF6EC"/>
              </a:buClr>
              <a:buSzPts val="2100"/>
              <a:buFont typeface="Oswald"/>
              <a:buNone/>
            </a:pPr>
            <a:r>
              <a:rPr lang="en-US" sz="2100">
                <a:solidFill>
                  <a:srgbClr val="FBF6EC"/>
                </a:solidFill>
                <a:latin typeface="Oswald"/>
                <a:ea typeface="Oswald"/>
                <a:cs typeface="Oswald"/>
                <a:sym typeface="Oswald"/>
              </a:rPr>
              <a:t>BEG &amp; BARKER</a:t>
            </a:r>
            <a:endParaRPr sz="2100">
              <a:solidFill>
                <a:schemeClr val="dk1"/>
              </a:solidFill>
              <a:latin typeface="Calibri"/>
              <a:ea typeface="Calibri"/>
              <a:cs typeface="Calibri"/>
              <a:sym typeface="Calibri"/>
            </a:endParaRPr>
          </a:p>
        </p:txBody>
      </p:sp>
      <p:sp>
        <p:nvSpPr>
          <p:cNvPr id="357" name="Google Shape;357;p11"/>
          <p:cNvSpPr/>
          <p:nvPr/>
        </p:nvSpPr>
        <p:spPr>
          <a:xfrm>
            <a:off x="6819900" y="3841750"/>
            <a:ext cx="511302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16211F"/>
              </a:buClr>
              <a:buSzPts val="1875"/>
              <a:buFont typeface="Archivo"/>
              <a:buNone/>
            </a:pPr>
            <a:r>
              <a:rPr b="1" lang="en-US" sz="1875">
                <a:solidFill>
                  <a:srgbClr val="16211F"/>
                </a:solidFill>
                <a:latin typeface="Archivo"/>
                <a:ea typeface="Archivo"/>
                <a:cs typeface="Archivo"/>
                <a:sym typeface="Archivo"/>
              </a:rPr>
              <a:t>New-customer campaigns with promos</a:t>
            </a:r>
            <a:endParaRPr sz="1875">
              <a:solidFill>
                <a:schemeClr val="dk1"/>
              </a:solidFill>
              <a:latin typeface="Calibri"/>
              <a:ea typeface="Calibri"/>
              <a:cs typeface="Calibri"/>
              <a:sym typeface="Calibri"/>
            </a:endParaRPr>
          </a:p>
        </p:txBody>
      </p:sp>
      <p:sp>
        <p:nvSpPr>
          <p:cNvPr id="358" name="Google Shape;358;p11"/>
          <p:cNvSpPr/>
          <p:nvPr/>
        </p:nvSpPr>
        <p:spPr>
          <a:xfrm>
            <a:off x="6819900" y="4346575"/>
            <a:ext cx="4787646" cy="704850"/>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33413E"/>
              </a:buClr>
              <a:buSzPts val="1875"/>
              <a:buFont typeface="Archivo"/>
              <a:buNone/>
            </a:pPr>
            <a:r>
              <a:rPr lang="en-US" sz="1875">
                <a:solidFill>
                  <a:srgbClr val="33413E"/>
                </a:solidFill>
                <a:latin typeface="Archivo"/>
                <a:ea typeface="Archivo"/>
                <a:cs typeface="Archivo"/>
                <a:sym typeface="Archivo"/>
              </a:rPr>
              <a:t>Paid media toward Amazon: full page, catalog and retargeting</a:t>
            </a:r>
            <a:endParaRPr sz="1875">
              <a:solidFill>
                <a:schemeClr val="dk1"/>
              </a:solidFill>
              <a:latin typeface="Calibri"/>
              <a:ea typeface="Calibri"/>
              <a:cs typeface="Calibri"/>
              <a:sym typeface="Calibri"/>
            </a:endParaRPr>
          </a:p>
        </p:txBody>
      </p:sp>
      <p:sp>
        <p:nvSpPr>
          <p:cNvPr id="359" name="Google Shape;359;p11"/>
          <p:cNvSpPr/>
          <p:nvPr/>
        </p:nvSpPr>
        <p:spPr>
          <a:xfrm>
            <a:off x="6819900" y="5184775"/>
            <a:ext cx="511302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33413E"/>
              </a:buClr>
              <a:buSzPts val="1875"/>
              <a:buFont typeface="Archivo"/>
              <a:buNone/>
            </a:pPr>
            <a:r>
              <a:rPr lang="en-US" sz="1875">
                <a:solidFill>
                  <a:srgbClr val="33413E"/>
                </a:solidFill>
                <a:latin typeface="Archivo"/>
                <a:ea typeface="Archivo"/>
                <a:cs typeface="Archivo"/>
                <a:sym typeface="Archivo"/>
              </a:rPr>
              <a:t>Keep Meta optimized and monitor its indirect return</a:t>
            </a:r>
            <a:endParaRPr sz="1875">
              <a:solidFill>
                <a:schemeClr val="dk1"/>
              </a:solidFill>
              <a:latin typeface="Calibri"/>
              <a:ea typeface="Calibri"/>
              <a:cs typeface="Calibri"/>
              <a:sym typeface="Calibri"/>
            </a:endParaRPr>
          </a:p>
        </p:txBody>
      </p:sp>
      <p:sp>
        <p:nvSpPr>
          <p:cNvPr id="360" name="Google Shape;360;p11"/>
          <p:cNvSpPr/>
          <p:nvPr/>
        </p:nvSpPr>
        <p:spPr>
          <a:xfrm>
            <a:off x="12077700" y="2508250"/>
            <a:ext cx="5257800" cy="5283200"/>
          </a:xfrm>
          <a:prstGeom prst="roundRect">
            <a:avLst>
              <a:gd fmla="val 3261"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12077700" y="2508250"/>
            <a:ext cx="5257800" cy="1066800"/>
          </a:xfrm>
          <a:prstGeom prst="rect">
            <a:avLst/>
          </a:prstGeom>
          <a:solidFill>
            <a:srgbClr val="28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2" name="Google Shape;362;p11"/>
          <p:cNvPicPr preferRelativeResize="0"/>
          <p:nvPr/>
        </p:nvPicPr>
        <p:blipFill rotWithShape="1">
          <a:blip r:embed="rId5">
            <a:alphaModFix/>
          </a:blip>
          <a:srcRect b="0" l="0" r="0" t="0"/>
          <a:stretch/>
        </p:blipFill>
        <p:spPr>
          <a:xfrm>
            <a:off x="12344400" y="2698750"/>
            <a:ext cx="685800" cy="685800"/>
          </a:xfrm>
          <a:prstGeom prst="rect">
            <a:avLst/>
          </a:prstGeom>
          <a:noFill/>
          <a:ln>
            <a:noFill/>
          </a:ln>
        </p:spPr>
      </p:pic>
      <p:sp>
        <p:nvSpPr>
          <p:cNvPr id="363" name="Google Shape;363;p11"/>
          <p:cNvSpPr/>
          <p:nvPr/>
        </p:nvSpPr>
        <p:spPr>
          <a:xfrm>
            <a:off x="13220700" y="2854986"/>
            <a:ext cx="1841857" cy="411427"/>
          </a:xfrm>
          <a:prstGeom prst="rect">
            <a:avLst/>
          </a:prstGeom>
          <a:noFill/>
          <a:ln>
            <a:noFill/>
          </a:ln>
        </p:spPr>
        <p:txBody>
          <a:bodyPr anchorCtr="0" anchor="t" bIns="25400" lIns="25400" spcFirstLastPara="1" rIns="25400" wrap="square" tIns="25400">
            <a:normAutofit/>
          </a:bodyPr>
          <a:lstStyle/>
          <a:p>
            <a:pPr indent="0" lvl="0" marL="0" marR="0" rtl="0" algn="l">
              <a:lnSpc>
                <a:spcPct val="93830"/>
              </a:lnSpc>
              <a:spcBef>
                <a:spcPts val="0"/>
              </a:spcBef>
              <a:spcAft>
                <a:spcPts val="0"/>
              </a:spcAft>
              <a:buClr>
                <a:srgbClr val="FBF6EC"/>
              </a:buClr>
              <a:buSzPts val="2100"/>
              <a:buFont typeface="Oswald"/>
              <a:buNone/>
            </a:pPr>
            <a:r>
              <a:rPr lang="en-US" sz="2100">
                <a:solidFill>
                  <a:srgbClr val="FBF6EC"/>
                </a:solidFill>
                <a:latin typeface="Oswald"/>
                <a:ea typeface="Oswald"/>
                <a:cs typeface="Oswald"/>
                <a:sym typeface="Oswald"/>
              </a:rPr>
              <a:t>AYOBA FOODS</a:t>
            </a:r>
            <a:endParaRPr sz="2100">
              <a:solidFill>
                <a:schemeClr val="dk1"/>
              </a:solidFill>
              <a:latin typeface="Calibri"/>
              <a:ea typeface="Calibri"/>
              <a:cs typeface="Calibri"/>
              <a:sym typeface="Calibri"/>
            </a:endParaRPr>
          </a:p>
        </p:txBody>
      </p:sp>
      <p:sp>
        <p:nvSpPr>
          <p:cNvPr id="364" name="Google Shape;364;p11"/>
          <p:cNvSpPr/>
          <p:nvPr/>
        </p:nvSpPr>
        <p:spPr>
          <a:xfrm>
            <a:off x="12382500" y="3841750"/>
            <a:ext cx="4787646" cy="704850"/>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16211F"/>
              </a:buClr>
              <a:buSzPts val="1875"/>
              <a:buFont typeface="Archivo"/>
              <a:buNone/>
            </a:pPr>
            <a:r>
              <a:rPr b="1" lang="en-US" sz="1875">
                <a:solidFill>
                  <a:srgbClr val="16211F"/>
                </a:solidFill>
                <a:latin typeface="Archivo"/>
                <a:ea typeface="Archivo"/>
                <a:cs typeface="Archivo"/>
                <a:sym typeface="Archivo"/>
              </a:rPr>
              <a:t>A/B test of a brand campaign toward Amazon (+10%)</a:t>
            </a:r>
            <a:endParaRPr sz="1875">
              <a:solidFill>
                <a:schemeClr val="dk1"/>
              </a:solidFill>
              <a:latin typeface="Calibri"/>
              <a:ea typeface="Calibri"/>
              <a:cs typeface="Calibri"/>
              <a:sym typeface="Calibri"/>
            </a:endParaRPr>
          </a:p>
        </p:txBody>
      </p:sp>
      <p:sp>
        <p:nvSpPr>
          <p:cNvPr id="365" name="Google Shape;365;p11"/>
          <p:cNvSpPr/>
          <p:nvPr/>
        </p:nvSpPr>
        <p:spPr>
          <a:xfrm>
            <a:off x="12382500" y="4679950"/>
            <a:ext cx="511302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33413E"/>
              </a:buClr>
              <a:buSzPts val="1875"/>
              <a:buFont typeface="Archivo"/>
              <a:buNone/>
            </a:pPr>
            <a:r>
              <a:rPr lang="en-US" sz="1875">
                <a:solidFill>
                  <a:srgbClr val="33413E"/>
                </a:solidFill>
                <a:latin typeface="Archivo"/>
                <a:ea typeface="Archivo"/>
                <a:cs typeface="Archivo"/>
                <a:sym typeface="Archivo"/>
              </a:rPr>
              <a:t>Replicate Brooklyn's subscription strategy</a:t>
            </a:r>
            <a:endParaRPr sz="1875">
              <a:solidFill>
                <a:schemeClr val="dk1"/>
              </a:solidFill>
              <a:latin typeface="Calibri"/>
              <a:ea typeface="Calibri"/>
              <a:cs typeface="Calibri"/>
              <a:sym typeface="Calibri"/>
            </a:endParaRPr>
          </a:p>
        </p:txBody>
      </p:sp>
      <p:sp>
        <p:nvSpPr>
          <p:cNvPr id="366" name="Google Shape;366;p11"/>
          <p:cNvSpPr/>
          <p:nvPr/>
        </p:nvSpPr>
        <p:spPr>
          <a:xfrm>
            <a:off x="12382500" y="5184775"/>
            <a:ext cx="4787646" cy="704850"/>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33413E"/>
              </a:buClr>
              <a:buSzPts val="1875"/>
              <a:buFont typeface="Archivo"/>
              <a:buNone/>
            </a:pPr>
            <a:r>
              <a:rPr lang="en-US" sz="1875">
                <a:solidFill>
                  <a:srgbClr val="33413E"/>
                </a:solidFill>
                <a:latin typeface="Archivo"/>
                <a:ea typeface="Archivo"/>
                <a:cs typeface="Archivo"/>
                <a:sym typeface="Archivo"/>
              </a:rPr>
              <a:t>Campaigns: Taco Night, Oktoberfest and Cabin Weekend</a:t>
            </a:r>
            <a:endParaRPr sz="1875">
              <a:solidFill>
                <a:schemeClr val="dk1"/>
              </a:solidFill>
              <a:latin typeface="Calibri"/>
              <a:ea typeface="Calibri"/>
              <a:cs typeface="Calibri"/>
              <a:sym typeface="Calibri"/>
            </a:endParaRPr>
          </a:p>
        </p:txBody>
      </p:sp>
      <p:sp>
        <p:nvSpPr>
          <p:cNvPr id="367" name="Google Shape;367;p11"/>
          <p:cNvSpPr/>
          <p:nvPr/>
        </p:nvSpPr>
        <p:spPr>
          <a:xfrm>
            <a:off x="952500" y="8096250"/>
            <a:ext cx="16383000" cy="952500"/>
          </a:xfrm>
          <a:prstGeom prst="roundRect">
            <a:avLst>
              <a:gd fmla="val 18000" name="adj"/>
            </a:avLst>
          </a:prstGeom>
          <a:solidFill>
            <a:srgbClr val="162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1295400" y="8343900"/>
            <a:ext cx="1148159" cy="495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4D65E"/>
              </a:buClr>
              <a:buSzPts val="3000"/>
              <a:buFont typeface="Bricolage Grotesque"/>
              <a:buNone/>
            </a:pPr>
            <a:r>
              <a:rPr b="1" lang="en-US" sz="3000">
                <a:solidFill>
                  <a:srgbClr val="F4D65E"/>
                </a:solidFill>
                <a:latin typeface="Bricolage Grotesque"/>
                <a:ea typeface="Bricolage Grotesque"/>
                <a:cs typeface="Bricolage Grotesque"/>
                <a:sym typeface="Bricolage Grotesque"/>
              </a:rPr>
              <a:t>Oct 21</a:t>
            </a:r>
            <a:endParaRPr sz="3000">
              <a:solidFill>
                <a:schemeClr val="dk1"/>
              </a:solidFill>
              <a:latin typeface="Calibri"/>
              <a:ea typeface="Calibri"/>
              <a:cs typeface="Calibri"/>
              <a:sym typeface="Calibri"/>
            </a:endParaRPr>
          </a:p>
        </p:txBody>
      </p:sp>
      <p:sp>
        <p:nvSpPr>
          <p:cNvPr id="369" name="Google Shape;369;p11"/>
          <p:cNvSpPr/>
          <p:nvPr/>
        </p:nvSpPr>
        <p:spPr>
          <a:xfrm>
            <a:off x="2710259" y="8399198"/>
            <a:ext cx="13414256" cy="384704"/>
          </a:xfrm>
          <a:prstGeom prst="rect">
            <a:avLst/>
          </a:prstGeom>
          <a:noFill/>
          <a:ln>
            <a:noFill/>
          </a:ln>
        </p:spPr>
        <p:txBody>
          <a:bodyPr anchorCtr="0" anchor="t" bIns="25400" lIns="25400" spcFirstLastPara="1" rIns="25400" wrap="square" tIns="25400">
            <a:normAutofit/>
          </a:bodyPr>
          <a:lstStyle/>
          <a:p>
            <a:pPr indent="0" lvl="0" marL="0" marR="0" rtl="0" algn="l">
              <a:lnSpc>
                <a:spcPct val="127969"/>
              </a:lnSpc>
              <a:spcBef>
                <a:spcPts val="0"/>
              </a:spcBef>
              <a:spcAft>
                <a:spcPts val="0"/>
              </a:spcAft>
              <a:buClr>
                <a:srgbClr val="FBF6EC"/>
              </a:buClr>
              <a:buSzPts val="1950"/>
              <a:buFont typeface="Archivo"/>
              <a:buNone/>
            </a:pPr>
            <a:r>
              <a:rPr lang="en-US" sz="1950">
                <a:solidFill>
                  <a:srgbClr val="FBF6EC"/>
                </a:solidFill>
                <a:latin typeface="Archivo"/>
                <a:ea typeface="Archivo"/>
                <a:cs typeface="Archivo"/>
                <a:sym typeface="Archivo"/>
              </a:rPr>
              <a:t>Next follow-up: results of Brooklyn's Fast Sale and the first read of the Amazon tests for Beg &amp; Barker and Ayoba.</a:t>
            </a:r>
            <a:endParaRPr sz="1950">
              <a:solidFill>
                <a:schemeClr val="dk1"/>
              </a:solidFill>
              <a:latin typeface="Calibri"/>
              <a:ea typeface="Calibri"/>
              <a:cs typeface="Calibri"/>
              <a:sym typeface="Calibri"/>
            </a:endParaRPr>
          </a:p>
        </p:txBody>
      </p:sp>
      <p:sp>
        <p:nvSpPr>
          <p:cNvPr id="370" name="Google Shape;370;p11"/>
          <p:cNvSpPr/>
          <p:nvPr/>
        </p:nvSpPr>
        <p:spPr>
          <a:xfrm>
            <a:off x="952500" y="9529233"/>
            <a:ext cx="491758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STORMBERG FOODS · EXECUTIVE STATUS</a:t>
            </a:r>
            <a:endParaRPr sz="1800">
              <a:solidFill>
                <a:schemeClr val="dk1"/>
              </a:solidFill>
              <a:latin typeface="Calibri"/>
              <a:ea typeface="Calibri"/>
              <a:cs typeface="Calibri"/>
              <a:sym typeface="Calibri"/>
            </a:endParaRPr>
          </a:p>
        </p:txBody>
      </p:sp>
      <p:sp>
        <p:nvSpPr>
          <p:cNvPr id="371" name="Google Shape;371;p11"/>
          <p:cNvSpPr/>
          <p:nvPr/>
        </p:nvSpPr>
        <p:spPr>
          <a:xfrm>
            <a:off x="17098566" y="9529233"/>
            <a:ext cx="313134"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EFDF"/>
        </a:solidFill>
      </p:bgPr>
    </p:bg>
    <p:spTree>
      <p:nvGrpSpPr>
        <p:cNvPr id="376" name="Shape 376"/>
        <p:cNvGrpSpPr/>
        <p:nvPr/>
      </p:nvGrpSpPr>
      <p:grpSpPr>
        <a:xfrm>
          <a:off x="0" y="0"/>
          <a:ext cx="0" cy="0"/>
          <a:chOff x="0" y="0"/>
          <a:chExt cx="0" cy="0"/>
        </a:xfrm>
      </p:grpSpPr>
      <p:sp>
        <p:nvSpPr>
          <p:cNvPr id="377" name="Google Shape;377;p12"/>
          <p:cNvSpPr/>
          <p:nvPr/>
        </p:nvSpPr>
        <p:spPr>
          <a:xfrm>
            <a:off x="952500" y="7620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950"/>
              <a:buFont typeface="Oswald"/>
              <a:buNone/>
            </a:pPr>
            <a:r>
              <a:rPr lang="en-US" sz="1950">
                <a:solidFill>
                  <a:srgbClr val="55615D"/>
                </a:solidFill>
                <a:latin typeface="Oswald"/>
                <a:ea typeface="Oswald"/>
                <a:cs typeface="Oswald"/>
                <a:sym typeface="Oswald"/>
              </a:rPr>
              <a:t>APPENDIX</a:t>
            </a:r>
            <a:endParaRPr sz="1950">
              <a:solidFill>
                <a:schemeClr val="dk1"/>
              </a:solidFill>
              <a:latin typeface="Calibri"/>
              <a:ea typeface="Calibri"/>
              <a:cs typeface="Calibri"/>
              <a:sym typeface="Calibri"/>
            </a:endParaRPr>
          </a:p>
        </p:txBody>
      </p:sp>
      <p:sp>
        <p:nvSpPr>
          <p:cNvPr id="378" name="Google Shape;378;p12"/>
          <p:cNvSpPr/>
          <p:nvPr/>
        </p:nvSpPr>
        <p:spPr>
          <a:xfrm>
            <a:off x="952500" y="1240367"/>
            <a:ext cx="18021300" cy="614098"/>
          </a:xfrm>
          <a:prstGeom prst="rect">
            <a:avLst/>
          </a:prstGeom>
          <a:noFill/>
          <a:ln>
            <a:noFill/>
          </a:ln>
        </p:spPr>
        <p:txBody>
          <a:bodyPr anchorCtr="0" anchor="t" bIns="25400" lIns="25400" spcFirstLastPara="1" rIns="25400" wrap="square" tIns="25400">
            <a:normAutofit/>
          </a:bodyPr>
          <a:lstStyle/>
          <a:p>
            <a:pPr indent="0" lvl="0" marL="0" marR="0" rtl="0" algn="l">
              <a:lnSpc>
                <a:spcPct val="89526"/>
              </a:lnSpc>
              <a:spcBef>
                <a:spcPts val="0"/>
              </a:spcBef>
              <a:spcAft>
                <a:spcPts val="0"/>
              </a:spcAft>
              <a:buClr>
                <a:srgbClr val="16211F"/>
              </a:buClr>
              <a:buSzPts val="4200"/>
              <a:buFont typeface="Bricolage Grotesque"/>
              <a:buNone/>
            </a:pPr>
            <a:r>
              <a:rPr b="1" lang="en-US" sz="4200">
                <a:solidFill>
                  <a:srgbClr val="16211F"/>
                </a:solidFill>
                <a:latin typeface="Bricolage Grotesque"/>
                <a:ea typeface="Bricolage Grotesque"/>
                <a:cs typeface="Bricolage Grotesque"/>
                <a:sym typeface="Bricolage Grotesque"/>
              </a:rPr>
              <a:t>October 9 commitments: status by brand</a:t>
            </a:r>
            <a:endParaRPr sz="4200">
              <a:solidFill>
                <a:schemeClr val="dk1"/>
              </a:solidFill>
              <a:latin typeface="Calibri"/>
              <a:ea typeface="Calibri"/>
              <a:cs typeface="Calibri"/>
              <a:sym typeface="Calibri"/>
            </a:endParaRPr>
          </a:p>
        </p:txBody>
      </p:sp>
      <p:sp>
        <p:nvSpPr>
          <p:cNvPr id="379" name="Google Shape;379;p12"/>
          <p:cNvSpPr/>
          <p:nvPr/>
        </p:nvSpPr>
        <p:spPr>
          <a:xfrm>
            <a:off x="952500" y="2083065"/>
            <a:ext cx="16383000" cy="7060935"/>
          </a:xfrm>
          <a:prstGeom prst="roundRect">
            <a:avLst>
              <a:gd fmla="val 2428"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2"/>
          <p:cNvSpPr/>
          <p:nvPr/>
        </p:nvSpPr>
        <p:spPr>
          <a:xfrm>
            <a:off x="1257300" y="2684992"/>
            <a:ext cx="15773400" cy="16933"/>
          </a:xfrm>
          <a:prstGeom prst="rect">
            <a:avLst/>
          </a:prstGeom>
          <a:solidFill>
            <a:srgbClr val="223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2"/>
          <p:cNvSpPr/>
          <p:nvPr/>
        </p:nvSpPr>
        <p:spPr>
          <a:xfrm>
            <a:off x="1257300" y="2254515"/>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BRAND</a:t>
            </a:r>
            <a:endParaRPr sz="1800">
              <a:solidFill>
                <a:schemeClr val="dk1"/>
              </a:solidFill>
              <a:latin typeface="Calibri"/>
              <a:ea typeface="Calibri"/>
              <a:cs typeface="Calibri"/>
              <a:sym typeface="Calibri"/>
            </a:endParaRPr>
          </a:p>
        </p:txBody>
      </p:sp>
      <p:sp>
        <p:nvSpPr>
          <p:cNvPr id="382" name="Google Shape;382;p12"/>
          <p:cNvSpPr/>
          <p:nvPr/>
        </p:nvSpPr>
        <p:spPr>
          <a:xfrm>
            <a:off x="3390900" y="2254515"/>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COMMITMENT</a:t>
            </a:r>
            <a:endParaRPr sz="1800">
              <a:solidFill>
                <a:schemeClr val="dk1"/>
              </a:solidFill>
              <a:latin typeface="Calibri"/>
              <a:ea typeface="Calibri"/>
              <a:cs typeface="Calibri"/>
              <a:sym typeface="Calibri"/>
            </a:endParaRPr>
          </a:p>
        </p:txBody>
      </p:sp>
      <p:sp>
        <p:nvSpPr>
          <p:cNvPr id="383" name="Google Shape;383;p12"/>
          <p:cNvSpPr/>
          <p:nvPr/>
        </p:nvSpPr>
        <p:spPr>
          <a:xfrm>
            <a:off x="7810500" y="2254515"/>
            <a:ext cx="178117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STATUS</a:t>
            </a:r>
            <a:endParaRPr sz="1800">
              <a:solidFill>
                <a:schemeClr val="dk1"/>
              </a:solidFill>
              <a:latin typeface="Calibri"/>
              <a:ea typeface="Calibri"/>
              <a:cs typeface="Calibri"/>
              <a:sym typeface="Calibri"/>
            </a:endParaRPr>
          </a:p>
        </p:txBody>
      </p:sp>
      <p:sp>
        <p:nvSpPr>
          <p:cNvPr id="384" name="Google Shape;384;p12"/>
          <p:cNvSpPr/>
          <p:nvPr/>
        </p:nvSpPr>
        <p:spPr>
          <a:xfrm>
            <a:off x="9658350" y="2254515"/>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WHERE IT STANDS</a:t>
            </a:r>
            <a:endParaRPr sz="1800">
              <a:solidFill>
                <a:schemeClr val="dk1"/>
              </a:solidFill>
              <a:latin typeface="Calibri"/>
              <a:ea typeface="Calibri"/>
              <a:cs typeface="Calibri"/>
              <a:sym typeface="Calibri"/>
            </a:endParaRPr>
          </a:p>
        </p:txBody>
      </p:sp>
      <p:sp>
        <p:nvSpPr>
          <p:cNvPr id="385" name="Google Shape;385;p12"/>
          <p:cNvSpPr/>
          <p:nvPr/>
        </p:nvSpPr>
        <p:spPr>
          <a:xfrm>
            <a:off x="1257300" y="3405849"/>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p:nvPr/>
        </p:nvSpPr>
        <p:spPr>
          <a:xfrm>
            <a:off x="1257300" y="2905257"/>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Brooklyn</a:t>
            </a:r>
            <a:endParaRPr sz="1800">
              <a:solidFill>
                <a:schemeClr val="dk1"/>
              </a:solidFill>
              <a:latin typeface="Calibri"/>
              <a:ea typeface="Calibri"/>
              <a:cs typeface="Calibri"/>
              <a:sym typeface="Calibri"/>
            </a:endParaRPr>
          </a:p>
        </p:txBody>
      </p:sp>
      <p:sp>
        <p:nvSpPr>
          <p:cNvPr id="387" name="Google Shape;387;p12"/>
          <p:cNvSpPr/>
          <p:nvPr/>
        </p:nvSpPr>
        <p:spPr>
          <a:xfrm>
            <a:off x="3390900" y="2905257"/>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New-customer campaign on Meta</a:t>
            </a:r>
            <a:endParaRPr sz="1800">
              <a:solidFill>
                <a:schemeClr val="dk1"/>
              </a:solidFill>
              <a:latin typeface="Calibri"/>
              <a:ea typeface="Calibri"/>
              <a:cs typeface="Calibri"/>
              <a:sym typeface="Calibri"/>
            </a:endParaRPr>
          </a:p>
        </p:txBody>
      </p:sp>
      <p:sp>
        <p:nvSpPr>
          <p:cNvPr id="388" name="Google Shape;388;p12"/>
          <p:cNvSpPr/>
          <p:nvPr/>
        </p:nvSpPr>
        <p:spPr>
          <a:xfrm>
            <a:off x="7810500" y="2867157"/>
            <a:ext cx="773906" cy="373327"/>
          </a:xfrm>
          <a:prstGeom prst="roundRect">
            <a:avLst>
              <a:gd fmla="val 50000" name="adj"/>
            </a:avLst>
          </a:prstGeom>
          <a:solidFill>
            <a:srgbClr val="C9E7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p:nvPr/>
        </p:nvSpPr>
        <p:spPr>
          <a:xfrm>
            <a:off x="7962900" y="2905257"/>
            <a:ext cx="5453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85858"/>
              </a:buClr>
              <a:buSzPts val="1800"/>
              <a:buFont typeface="Oswald"/>
              <a:buNone/>
            </a:pPr>
            <a:r>
              <a:rPr lang="en-US" sz="1800">
                <a:solidFill>
                  <a:srgbClr val="285858"/>
                </a:solidFill>
                <a:latin typeface="Oswald"/>
                <a:ea typeface="Oswald"/>
                <a:cs typeface="Oswald"/>
                <a:sym typeface="Oswald"/>
              </a:rPr>
              <a:t>Done</a:t>
            </a:r>
            <a:endParaRPr sz="1800">
              <a:solidFill>
                <a:schemeClr val="dk1"/>
              </a:solidFill>
              <a:latin typeface="Calibri"/>
              <a:ea typeface="Calibri"/>
              <a:cs typeface="Calibri"/>
              <a:sym typeface="Calibri"/>
            </a:endParaRPr>
          </a:p>
        </p:txBody>
      </p:sp>
      <p:sp>
        <p:nvSpPr>
          <p:cNvPr id="390" name="Google Shape;390;p12"/>
          <p:cNvSpPr/>
          <p:nvPr/>
        </p:nvSpPr>
        <p:spPr>
          <a:xfrm>
            <a:off x="9658350" y="2756694"/>
            <a:ext cx="7593521" cy="632354"/>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Live since Oct 5. Budget trimmed Oct 13 ($1,000 → $800) on high cost per purchase</a:t>
            </a:r>
            <a:endParaRPr sz="1800">
              <a:solidFill>
                <a:schemeClr val="dk1"/>
              </a:solidFill>
              <a:latin typeface="Calibri"/>
              <a:ea typeface="Calibri"/>
              <a:cs typeface="Calibri"/>
              <a:sym typeface="Calibri"/>
            </a:endParaRPr>
          </a:p>
        </p:txBody>
      </p:sp>
      <p:sp>
        <p:nvSpPr>
          <p:cNvPr id="391" name="Google Shape;391;p12"/>
          <p:cNvSpPr/>
          <p:nvPr/>
        </p:nvSpPr>
        <p:spPr>
          <a:xfrm>
            <a:off x="1257300" y="4118372"/>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1257300" y="3617780"/>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Brooklyn</a:t>
            </a:r>
            <a:endParaRPr sz="1800">
              <a:solidFill>
                <a:schemeClr val="dk1"/>
              </a:solidFill>
              <a:latin typeface="Calibri"/>
              <a:ea typeface="Calibri"/>
              <a:cs typeface="Calibri"/>
              <a:sym typeface="Calibri"/>
            </a:endParaRPr>
          </a:p>
        </p:txBody>
      </p:sp>
      <p:sp>
        <p:nvSpPr>
          <p:cNvPr id="393" name="Google Shape;393;p12"/>
          <p:cNvSpPr/>
          <p:nvPr/>
        </p:nvSpPr>
        <p:spPr>
          <a:xfrm>
            <a:off x="3390900" y="3617780"/>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Offer vs. No-Offer A/B test</a:t>
            </a:r>
            <a:endParaRPr sz="1800">
              <a:solidFill>
                <a:schemeClr val="dk1"/>
              </a:solidFill>
              <a:latin typeface="Calibri"/>
              <a:ea typeface="Calibri"/>
              <a:cs typeface="Calibri"/>
              <a:sym typeface="Calibri"/>
            </a:endParaRPr>
          </a:p>
        </p:txBody>
      </p:sp>
      <p:sp>
        <p:nvSpPr>
          <p:cNvPr id="394" name="Google Shape;394;p12"/>
          <p:cNvSpPr/>
          <p:nvPr/>
        </p:nvSpPr>
        <p:spPr>
          <a:xfrm>
            <a:off x="7810500" y="3579680"/>
            <a:ext cx="773906" cy="373327"/>
          </a:xfrm>
          <a:prstGeom prst="roundRect">
            <a:avLst>
              <a:gd fmla="val 50000" name="adj"/>
            </a:avLst>
          </a:prstGeom>
          <a:solidFill>
            <a:srgbClr val="C9E7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7962900" y="3617780"/>
            <a:ext cx="5453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85858"/>
              </a:buClr>
              <a:buSzPts val="1800"/>
              <a:buFont typeface="Oswald"/>
              <a:buNone/>
            </a:pPr>
            <a:r>
              <a:rPr lang="en-US" sz="1800">
                <a:solidFill>
                  <a:srgbClr val="285858"/>
                </a:solidFill>
                <a:latin typeface="Oswald"/>
                <a:ea typeface="Oswald"/>
                <a:cs typeface="Oswald"/>
                <a:sym typeface="Oswald"/>
              </a:rPr>
              <a:t>Done</a:t>
            </a:r>
            <a:endParaRPr sz="1800">
              <a:solidFill>
                <a:schemeClr val="dk1"/>
              </a:solidFill>
              <a:latin typeface="Calibri"/>
              <a:ea typeface="Calibri"/>
              <a:cs typeface="Calibri"/>
              <a:sym typeface="Calibri"/>
            </a:endParaRPr>
          </a:p>
        </p:txBody>
      </p:sp>
      <p:sp>
        <p:nvSpPr>
          <p:cNvPr id="396" name="Google Shape;396;p12"/>
          <p:cNvSpPr/>
          <p:nvPr/>
        </p:nvSpPr>
        <p:spPr>
          <a:xfrm>
            <a:off x="9658350" y="3617780"/>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Closed Oct 6; 10%-off new-customer ad sets launched Oct 7</a:t>
            </a:r>
            <a:endParaRPr sz="1800">
              <a:solidFill>
                <a:schemeClr val="dk1"/>
              </a:solidFill>
              <a:latin typeface="Calibri"/>
              <a:ea typeface="Calibri"/>
              <a:cs typeface="Calibri"/>
              <a:sym typeface="Calibri"/>
            </a:endParaRPr>
          </a:p>
        </p:txBody>
      </p:sp>
      <p:sp>
        <p:nvSpPr>
          <p:cNvPr id="397" name="Google Shape;397;p12"/>
          <p:cNvSpPr/>
          <p:nvPr/>
        </p:nvSpPr>
        <p:spPr>
          <a:xfrm>
            <a:off x="1257300" y="4830762"/>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2"/>
          <p:cNvSpPr/>
          <p:nvPr/>
        </p:nvSpPr>
        <p:spPr>
          <a:xfrm>
            <a:off x="1257300" y="4330171"/>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Brooklyn</a:t>
            </a:r>
            <a:endParaRPr sz="1800">
              <a:solidFill>
                <a:schemeClr val="dk1"/>
              </a:solidFill>
              <a:latin typeface="Calibri"/>
              <a:ea typeface="Calibri"/>
              <a:cs typeface="Calibri"/>
              <a:sym typeface="Calibri"/>
            </a:endParaRPr>
          </a:p>
        </p:txBody>
      </p:sp>
      <p:sp>
        <p:nvSpPr>
          <p:cNvPr id="399" name="Google Shape;399;p12"/>
          <p:cNvSpPr/>
          <p:nvPr/>
        </p:nvSpPr>
        <p:spPr>
          <a:xfrm>
            <a:off x="3390900" y="4330171"/>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Smile / W10 program</a:t>
            </a:r>
            <a:endParaRPr sz="1800">
              <a:solidFill>
                <a:schemeClr val="dk1"/>
              </a:solidFill>
              <a:latin typeface="Calibri"/>
              <a:ea typeface="Calibri"/>
              <a:cs typeface="Calibri"/>
              <a:sym typeface="Calibri"/>
            </a:endParaRPr>
          </a:p>
        </p:txBody>
      </p:sp>
      <p:sp>
        <p:nvSpPr>
          <p:cNvPr id="400" name="Google Shape;400;p12"/>
          <p:cNvSpPr/>
          <p:nvPr/>
        </p:nvSpPr>
        <p:spPr>
          <a:xfrm>
            <a:off x="7810500" y="4292071"/>
            <a:ext cx="773906" cy="373327"/>
          </a:xfrm>
          <a:prstGeom prst="roundRect">
            <a:avLst>
              <a:gd fmla="val 50000" name="adj"/>
            </a:avLst>
          </a:prstGeom>
          <a:solidFill>
            <a:srgbClr val="C9E7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
          <p:cNvSpPr/>
          <p:nvPr/>
        </p:nvSpPr>
        <p:spPr>
          <a:xfrm>
            <a:off x="7962900" y="4330171"/>
            <a:ext cx="5453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85858"/>
              </a:buClr>
              <a:buSzPts val="1800"/>
              <a:buFont typeface="Oswald"/>
              <a:buNone/>
            </a:pPr>
            <a:r>
              <a:rPr lang="en-US" sz="1800">
                <a:solidFill>
                  <a:srgbClr val="285858"/>
                </a:solidFill>
                <a:latin typeface="Oswald"/>
                <a:ea typeface="Oswald"/>
                <a:cs typeface="Oswald"/>
                <a:sym typeface="Oswald"/>
              </a:rPr>
              <a:t>Done</a:t>
            </a:r>
            <a:endParaRPr sz="1800">
              <a:solidFill>
                <a:schemeClr val="dk1"/>
              </a:solidFill>
              <a:latin typeface="Calibri"/>
              <a:ea typeface="Calibri"/>
              <a:cs typeface="Calibri"/>
              <a:sym typeface="Calibri"/>
            </a:endParaRPr>
          </a:p>
        </p:txBody>
      </p:sp>
      <p:sp>
        <p:nvSpPr>
          <p:cNvPr id="402" name="Google Shape;402;p12"/>
          <p:cNvSpPr/>
          <p:nvPr/>
        </p:nvSpPr>
        <p:spPr>
          <a:xfrm>
            <a:off x="9658350" y="4330171"/>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List-based and lookalike audiences live on Meta; $210 invested</a:t>
            </a:r>
            <a:endParaRPr sz="1800">
              <a:solidFill>
                <a:schemeClr val="dk1"/>
              </a:solidFill>
              <a:latin typeface="Calibri"/>
              <a:ea typeface="Calibri"/>
              <a:cs typeface="Calibri"/>
              <a:sym typeface="Calibri"/>
            </a:endParaRPr>
          </a:p>
        </p:txBody>
      </p:sp>
      <p:sp>
        <p:nvSpPr>
          <p:cNvPr id="403" name="Google Shape;403;p12"/>
          <p:cNvSpPr/>
          <p:nvPr/>
        </p:nvSpPr>
        <p:spPr>
          <a:xfrm>
            <a:off x="1257300" y="5543286"/>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2"/>
          <p:cNvSpPr/>
          <p:nvPr/>
        </p:nvSpPr>
        <p:spPr>
          <a:xfrm>
            <a:off x="1257300" y="5042694"/>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Brooklyn</a:t>
            </a:r>
            <a:endParaRPr sz="1800">
              <a:solidFill>
                <a:schemeClr val="dk1"/>
              </a:solidFill>
              <a:latin typeface="Calibri"/>
              <a:ea typeface="Calibri"/>
              <a:cs typeface="Calibri"/>
              <a:sym typeface="Calibri"/>
            </a:endParaRPr>
          </a:p>
        </p:txBody>
      </p:sp>
      <p:sp>
        <p:nvSpPr>
          <p:cNvPr id="405" name="Google Shape;405;p12"/>
          <p:cNvSpPr/>
          <p:nvPr/>
        </p:nvSpPr>
        <p:spPr>
          <a:xfrm>
            <a:off x="3390900" y="5042694"/>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Game Day email and SMS (Oct 11)</a:t>
            </a:r>
            <a:endParaRPr sz="1800">
              <a:solidFill>
                <a:schemeClr val="dk1"/>
              </a:solidFill>
              <a:latin typeface="Calibri"/>
              <a:ea typeface="Calibri"/>
              <a:cs typeface="Calibri"/>
              <a:sym typeface="Calibri"/>
            </a:endParaRPr>
          </a:p>
        </p:txBody>
      </p:sp>
      <p:sp>
        <p:nvSpPr>
          <p:cNvPr id="406" name="Google Shape;406;p12"/>
          <p:cNvSpPr/>
          <p:nvPr/>
        </p:nvSpPr>
        <p:spPr>
          <a:xfrm>
            <a:off x="7810500" y="5004594"/>
            <a:ext cx="773906" cy="373327"/>
          </a:xfrm>
          <a:prstGeom prst="roundRect">
            <a:avLst>
              <a:gd fmla="val 50000" name="adj"/>
            </a:avLst>
          </a:prstGeom>
          <a:solidFill>
            <a:srgbClr val="C9E7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7962900" y="5042694"/>
            <a:ext cx="5453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85858"/>
              </a:buClr>
              <a:buSzPts val="1800"/>
              <a:buFont typeface="Oswald"/>
              <a:buNone/>
            </a:pPr>
            <a:r>
              <a:rPr lang="en-US" sz="1800">
                <a:solidFill>
                  <a:srgbClr val="285858"/>
                </a:solidFill>
                <a:latin typeface="Oswald"/>
                <a:ea typeface="Oswald"/>
                <a:cs typeface="Oswald"/>
                <a:sym typeface="Oswald"/>
              </a:rPr>
              <a:t>Done</a:t>
            </a:r>
            <a:endParaRPr sz="1800">
              <a:solidFill>
                <a:schemeClr val="dk1"/>
              </a:solidFill>
              <a:latin typeface="Calibri"/>
              <a:ea typeface="Calibri"/>
              <a:cs typeface="Calibri"/>
              <a:sym typeface="Calibri"/>
            </a:endParaRPr>
          </a:p>
        </p:txBody>
      </p:sp>
      <p:sp>
        <p:nvSpPr>
          <p:cNvPr id="408" name="Google Shape;408;p12"/>
          <p:cNvSpPr/>
          <p:nvPr/>
        </p:nvSpPr>
        <p:spPr>
          <a:xfrm>
            <a:off x="9658350" y="5042694"/>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6,770 emails and 308 SMS: 7 orders, $585</a:t>
            </a:r>
            <a:endParaRPr sz="1800">
              <a:solidFill>
                <a:schemeClr val="dk1"/>
              </a:solidFill>
              <a:latin typeface="Calibri"/>
              <a:ea typeface="Calibri"/>
              <a:cs typeface="Calibri"/>
              <a:sym typeface="Calibri"/>
            </a:endParaRPr>
          </a:p>
        </p:txBody>
      </p:sp>
      <p:sp>
        <p:nvSpPr>
          <p:cNvPr id="409" name="Google Shape;409;p12"/>
          <p:cNvSpPr/>
          <p:nvPr/>
        </p:nvSpPr>
        <p:spPr>
          <a:xfrm>
            <a:off x="1257300" y="6255809"/>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2"/>
          <p:cNvSpPr/>
          <p:nvPr/>
        </p:nvSpPr>
        <p:spPr>
          <a:xfrm>
            <a:off x="1257300" y="5755217"/>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Brooklyn</a:t>
            </a:r>
            <a:endParaRPr sz="1800">
              <a:solidFill>
                <a:schemeClr val="dk1"/>
              </a:solidFill>
              <a:latin typeface="Calibri"/>
              <a:ea typeface="Calibri"/>
              <a:cs typeface="Calibri"/>
              <a:sym typeface="Calibri"/>
            </a:endParaRPr>
          </a:p>
        </p:txBody>
      </p:sp>
      <p:sp>
        <p:nvSpPr>
          <p:cNvPr id="411" name="Google Shape;411;p12"/>
          <p:cNvSpPr/>
          <p:nvPr/>
        </p:nvSpPr>
        <p:spPr>
          <a:xfrm>
            <a:off x="3390900" y="5755217"/>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Fast Sale: 20% buyers / 15% open</a:t>
            </a:r>
            <a:endParaRPr sz="1800">
              <a:solidFill>
                <a:schemeClr val="dk1"/>
              </a:solidFill>
              <a:latin typeface="Calibri"/>
              <a:ea typeface="Calibri"/>
              <a:cs typeface="Calibri"/>
              <a:sym typeface="Calibri"/>
            </a:endParaRPr>
          </a:p>
        </p:txBody>
      </p:sp>
      <p:sp>
        <p:nvSpPr>
          <p:cNvPr id="412" name="Google Shape;412;p12"/>
          <p:cNvSpPr/>
          <p:nvPr/>
        </p:nvSpPr>
        <p:spPr>
          <a:xfrm>
            <a:off x="7810500" y="5717117"/>
            <a:ext cx="1117732" cy="373327"/>
          </a:xfrm>
          <a:prstGeom prst="roundRect">
            <a:avLst>
              <a:gd fmla="val 50000" name="adj"/>
            </a:avLst>
          </a:prstGeom>
          <a:solidFill>
            <a:srgbClr val="F1DC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7962900" y="5755217"/>
            <a:ext cx="889132"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8C6224"/>
              </a:buClr>
              <a:buSzPts val="1800"/>
              <a:buFont typeface="Oswald"/>
              <a:buNone/>
            </a:pPr>
            <a:r>
              <a:rPr lang="en-US" sz="1800">
                <a:solidFill>
                  <a:srgbClr val="8C6224"/>
                </a:solidFill>
                <a:latin typeface="Oswald"/>
                <a:ea typeface="Oswald"/>
                <a:cs typeface="Oswald"/>
                <a:sym typeface="Oswald"/>
              </a:rPr>
              <a:t>On track</a:t>
            </a:r>
            <a:endParaRPr sz="1800">
              <a:solidFill>
                <a:schemeClr val="dk1"/>
              </a:solidFill>
              <a:latin typeface="Calibri"/>
              <a:ea typeface="Calibri"/>
              <a:cs typeface="Calibri"/>
              <a:sym typeface="Calibri"/>
            </a:endParaRPr>
          </a:p>
        </p:txBody>
      </p:sp>
      <p:sp>
        <p:nvSpPr>
          <p:cNvPr id="414" name="Google Shape;414;p12"/>
          <p:cNvSpPr/>
          <p:nvPr/>
        </p:nvSpPr>
        <p:spPr>
          <a:xfrm>
            <a:off x="9658350" y="5755217"/>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6 sends built: launch Oct 15, reminder Oct 16, last call Oct 18</a:t>
            </a:r>
            <a:endParaRPr sz="1800">
              <a:solidFill>
                <a:schemeClr val="dk1"/>
              </a:solidFill>
              <a:latin typeface="Calibri"/>
              <a:ea typeface="Calibri"/>
              <a:cs typeface="Calibri"/>
              <a:sym typeface="Calibri"/>
            </a:endParaRPr>
          </a:p>
        </p:txBody>
      </p:sp>
      <p:sp>
        <p:nvSpPr>
          <p:cNvPr id="415" name="Google Shape;415;p12"/>
          <p:cNvSpPr/>
          <p:nvPr/>
        </p:nvSpPr>
        <p:spPr>
          <a:xfrm>
            <a:off x="1257300" y="6968331"/>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2"/>
          <p:cNvSpPr/>
          <p:nvPr/>
        </p:nvSpPr>
        <p:spPr>
          <a:xfrm>
            <a:off x="1257300" y="6467740"/>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9E4527"/>
              </a:buClr>
              <a:buSzPts val="1800"/>
              <a:buFont typeface="Archivo"/>
              <a:buNone/>
            </a:pPr>
            <a:r>
              <a:rPr b="1" lang="en-US" sz="1800">
                <a:solidFill>
                  <a:srgbClr val="9E4527"/>
                </a:solidFill>
                <a:latin typeface="Archivo"/>
                <a:ea typeface="Archivo"/>
                <a:cs typeface="Archivo"/>
                <a:sym typeface="Archivo"/>
              </a:rPr>
              <a:t>Brooklyn</a:t>
            </a:r>
            <a:endParaRPr sz="1800">
              <a:solidFill>
                <a:schemeClr val="dk1"/>
              </a:solidFill>
              <a:latin typeface="Calibri"/>
              <a:ea typeface="Calibri"/>
              <a:cs typeface="Calibri"/>
              <a:sym typeface="Calibri"/>
            </a:endParaRPr>
          </a:p>
        </p:txBody>
      </p:sp>
      <p:sp>
        <p:nvSpPr>
          <p:cNvPr id="417" name="Google Shape;417;p12"/>
          <p:cNvSpPr/>
          <p:nvPr/>
        </p:nvSpPr>
        <p:spPr>
          <a:xfrm>
            <a:off x="3390900" y="6467740"/>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Recurring → Subscription flow</a:t>
            </a:r>
            <a:endParaRPr sz="1800">
              <a:solidFill>
                <a:schemeClr val="dk1"/>
              </a:solidFill>
              <a:latin typeface="Calibri"/>
              <a:ea typeface="Calibri"/>
              <a:cs typeface="Calibri"/>
              <a:sym typeface="Calibri"/>
            </a:endParaRPr>
          </a:p>
        </p:txBody>
      </p:sp>
      <p:sp>
        <p:nvSpPr>
          <p:cNvPr id="418" name="Google Shape;418;p12"/>
          <p:cNvSpPr/>
          <p:nvPr/>
        </p:nvSpPr>
        <p:spPr>
          <a:xfrm>
            <a:off x="7810500" y="6429640"/>
            <a:ext cx="1078706" cy="373327"/>
          </a:xfrm>
          <a:prstGeom prst="roundRect">
            <a:avLst>
              <a:gd fmla="val 50000" name="adj"/>
            </a:avLst>
          </a:prstGeom>
          <a:solidFill>
            <a:srgbClr val="C7C8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
          <p:cNvSpPr/>
          <p:nvPr/>
        </p:nvSpPr>
        <p:spPr>
          <a:xfrm>
            <a:off x="7962900" y="6467740"/>
            <a:ext cx="8501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C3663"/>
              </a:buClr>
              <a:buSzPts val="1800"/>
              <a:buFont typeface="Oswald"/>
              <a:buNone/>
            </a:pPr>
            <a:r>
              <a:rPr lang="en-US" sz="1800">
                <a:solidFill>
                  <a:srgbClr val="2C3663"/>
                </a:solidFill>
                <a:latin typeface="Oswald"/>
                <a:ea typeface="Oswald"/>
                <a:cs typeface="Oswald"/>
                <a:sym typeface="Oswald"/>
              </a:rPr>
              <a:t>In setup</a:t>
            </a:r>
            <a:endParaRPr sz="1800">
              <a:solidFill>
                <a:schemeClr val="dk1"/>
              </a:solidFill>
              <a:latin typeface="Calibri"/>
              <a:ea typeface="Calibri"/>
              <a:cs typeface="Calibri"/>
              <a:sym typeface="Calibri"/>
            </a:endParaRPr>
          </a:p>
        </p:txBody>
      </p:sp>
      <p:sp>
        <p:nvSpPr>
          <p:cNvPr id="420" name="Google Shape;420;p12"/>
          <p:cNvSpPr/>
          <p:nvPr/>
        </p:nvSpPr>
        <p:spPr>
          <a:xfrm>
            <a:off x="9658350" y="6467740"/>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Built and in testing; not live yet</a:t>
            </a:r>
            <a:endParaRPr sz="1800">
              <a:solidFill>
                <a:schemeClr val="dk1"/>
              </a:solidFill>
              <a:latin typeface="Calibri"/>
              <a:ea typeface="Calibri"/>
              <a:cs typeface="Calibri"/>
              <a:sym typeface="Calibri"/>
            </a:endParaRPr>
          </a:p>
        </p:txBody>
      </p:sp>
      <p:sp>
        <p:nvSpPr>
          <p:cNvPr id="421" name="Google Shape;421;p12"/>
          <p:cNvSpPr/>
          <p:nvPr/>
        </p:nvSpPr>
        <p:spPr>
          <a:xfrm>
            <a:off x="1257300" y="7680854"/>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2"/>
          <p:cNvSpPr/>
          <p:nvPr/>
        </p:nvSpPr>
        <p:spPr>
          <a:xfrm>
            <a:off x="1257300" y="7180262"/>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285858"/>
              </a:buClr>
              <a:buSzPts val="1800"/>
              <a:buFont typeface="Archivo"/>
              <a:buNone/>
            </a:pPr>
            <a:r>
              <a:rPr b="1" lang="en-US" sz="1800">
                <a:solidFill>
                  <a:srgbClr val="285858"/>
                </a:solidFill>
                <a:latin typeface="Archivo"/>
                <a:ea typeface="Archivo"/>
                <a:cs typeface="Archivo"/>
                <a:sym typeface="Archivo"/>
              </a:rPr>
              <a:t>Ayoba</a:t>
            </a:r>
            <a:endParaRPr sz="1800">
              <a:solidFill>
                <a:schemeClr val="dk1"/>
              </a:solidFill>
              <a:latin typeface="Calibri"/>
              <a:ea typeface="Calibri"/>
              <a:cs typeface="Calibri"/>
              <a:sym typeface="Calibri"/>
            </a:endParaRPr>
          </a:p>
        </p:txBody>
      </p:sp>
      <p:sp>
        <p:nvSpPr>
          <p:cNvPr id="423" name="Google Shape;423;p12"/>
          <p:cNvSpPr/>
          <p:nvPr/>
        </p:nvSpPr>
        <p:spPr>
          <a:xfrm>
            <a:off x="3390900" y="7180262"/>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New customers + Smile10 on Meta</a:t>
            </a:r>
            <a:endParaRPr sz="1800">
              <a:solidFill>
                <a:schemeClr val="dk1"/>
              </a:solidFill>
              <a:latin typeface="Calibri"/>
              <a:ea typeface="Calibri"/>
              <a:cs typeface="Calibri"/>
              <a:sym typeface="Calibri"/>
            </a:endParaRPr>
          </a:p>
        </p:txBody>
      </p:sp>
      <p:sp>
        <p:nvSpPr>
          <p:cNvPr id="424" name="Google Shape;424;p12"/>
          <p:cNvSpPr/>
          <p:nvPr/>
        </p:nvSpPr>
        <p:spPr>
          <a:xfrm>
            <a:off x="7810500" y="7142162"/>
            <a:ext cx="773906" cy="373327"/>
          </a:xfrm>
          <a:prstGeom prst="roundRect">
            <a:avLst>
              <a:gd fmla="val 50000" name="adj"/>
            </a:avLst>
          </a:prstGeom>
          <a:solidFill>
            <a:srgbClr val="C9E7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2"/>
          <p:cNvSpPr/>
          <p:nvPr/>
        </p:nvSpPr>
        <p:spPr>
          <a:xfrm>
            <a:off x="7962900" y="7180262"/>
            <a:ext cx="5453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85858"/>
              </a:buClr>
              <a:buSzPts val="1800"/>
              <a:buFont typeface="Oswald"/>
              <a:buNone/>
            </a:pPr>
            <a:r>
              <a:rPr lang="en-US" sz="1800">
                <a:solidFill>
                  <a:srgbClr val="285858"/>
                </a:solidFill>
                <a:latin typeface="Oswald"/>
                <a:ea typeface="Oswald"/>
                <a:cs typeface="Oswald"/>
                <a:sym typeface="Oswald"/>
              </a:rPr>
              <a:t>Done</a:t>
            </a:r>
            <a:endParaRPr sz="1800">
              <a:solidFill>
                <a:schemeClr val="dk1"/>
              </a:solidFill>
              <a:latin typeface="Calibri"/>
              <a:ea typeface="Calibri"/>
              <a:cs typeface="Calibri"/>
              <a:sym typeface="Calibri"/>
            </a:endParaRPr>
          </a:p>
        </p:txBody>
      </p:sp>
      <p:sp>
        <p:nvSpPr>
          <p:cNvPr id="426" name="Google Shape;426;p12"/>
          <p:cNvSpPr/>
          <p:nvPr/>
        </p:nvSpPr>
        <p:spPr>
          <a:xfrm>
            <a:off x="9658350" y="7180262"/>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3 purchases at $26 each: lowest cost per purchase in the portfolio</a:t>
            </a:r>
            <a:endParaRPr sz="1800">
              <a:solidFill>
                <a:schemeClr val="dk1"/>
              </a:solidFill>
              <a:latin typeface="Calibri"/>
              <a:ea typeface="Calibri"/>
              <a:cs typeface="Calibri"/>
              <a:sym typeface="Calibri"/>
            </a:endParaRPr>
          </a:p>
        </p:txBody>
      </p:sp>
      <p:sp>
        <p:nvSpPr>
          <p:cNvPr id="427" name="Google Shape;427;p12"/>
          <p:cNvSpPr/>
          <p:nvPr/>
        </p:nvSpPr>
        <p:spPr>
          <a:xfrm>
            <a:off x="1257300" y="8393377"/>
            <a:ext cx="15773400" cy="9525"/>
          </a:xfrm>
          <a:prstGeom prst="rect">
            <a:avLst/>
          </a:prstGeom>
          <a:solidFill>
            <a:srgbClr val="DBE0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2"/>
          <p:cNvSpPr/>
          <p:nvPr/>
        </p:nvSpPr>
        <p:spPr>
          <a:xfrm>
            <a:off x="1257300" y="7892786"/>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C4A7E"/>
              </a:buClr>
              <a:buSzPts val="1800"/>
              <a:buFont typeface="Archivo"/>
              <a:buNone/>
            </a:pPr>
            <a:r>
              <a:rPr b="1" lang="en-US" sz="1800">
                <a:solidFill>
                  <a:srgbClr val="3C4A7E"/>
                </a:solidFill>
                <a:latin typeface="Archivo"/>
                <a:ea typeface="Archivo"/>
                <a:cs typeface="Archivo"/>
                <a:sym typeface="Archivo"/>
              </a:rPr>
              <a:t>Beg &amp; Barker</a:t>
            </a:r>
            <a:endParaRPr sz="1800">
              <a:solidFill>
                <a:schemeClr val="dk1"/>
              </a:solidFill>
              <a:latin typeface="Calibri"/>
              <a:ea typeface="Calibri"/>
              <a:cs typeface="Calibri"/>
              <a:sym typeface="Calibri"/>
            </a:endParaRPr>
          </a:p>
        </p:txBody>
      </p:sp>
      <p:sp>
        <p:nvSpPr>
          <p:cNvPr id="429" name="Google Shape;429;p12"/>
          <p:cNvSpPr/>
          <p:nvPr/>
        </p:nvSpPr>
        <p:spPr>
          <a:xfrm>
            <a:off x="3390900" y="7892786"/>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New customers + new BARK15 Welcome</a:t>
            </a:r>
            <a:endParaRPr sz="1800">
              <a:solidFill>
                <a:schemeClr val="dk1"/>
              </a:solidFill>
              <a:latin typeface="Calibri"/>
              <a:ea typeface="Calibri"/>
              <a:cs typeface="Calibri"/>
              <a:sym typeface="Calibri"/>
            </a:endParaRPr>
          </a:p>
        </p:txBody>
      </p:sp>
      <p:sp>
        <p:nvSpPr>
          <p:cNvPr id="430" name="Google Shape;430;p12"/>
          <p:cNvSpPr/>
          <p:nvPr/>
        </p:nvSpPr>
        <p:spPr>
          <a:xfrm>
            <a:off x="7810500" y="7854686"/>
            <a:ext cx="773906" cy="373327"/>
          </a:xfrm>
          <a:prstGeom prst="roundRect">
            <a:avLst>
              <a:gd fmla="val 50000" name="adj"/>
            </a:avLst>
          </a:prstGeom>
          <a:solidFill>
            <a:srgbClr val="C9E7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2"/>
          <p:cNvSpPr/>
          <p:nvPr/>
        </p:nvSpPr>
        <p:spPr>
          <a:xfrm>
            <a:off x="7962900" y="7892786"/>
            <a:ext cx="5453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85858"/>
              </a:buClr>
              <a:buSzPts val="1800"/>
              <a:buFont typeface="Oswald"/>
              <a:buNone/>
            </a:pPr>
            <a:r>
              <a:rPr lang="en-US" sz="1800">
                <a:solidFill>
                  <a:srgbClr val="285858"/>
                </a:solidFill>
                <a:latin typeface="Oswald"/>
                <a:ea typeface="Oswald"/>
                <a:cs typeface="Oswald"/>
                <a:sym typeface="Oswald"/>
              </a:rPr>
              <a:t>Done</a:t>
            </a:r>
            <a:endParaRPr sz="1800">
              <a:solidFill>
                <a:schemeClr val="dk1"/>
              </a:solidFill>
              <a:latin typeface="Calibri"/>
              <a:ea typeface="Calibri"/>
              <a:cs typeface="Calibri"/>
              <a:sym typeface="Calibri"/>
            </a:endParaRPr>
          </a:p>
        </p:txBody>
      </p:sp>
      <p:sp>
        <p:nvSpPr>
          <p:cNvPr id="432" name="Google Shape;432;p12"/>
          <p:cNvSpPr/>
          <p:nvPr/>
        </p:nvSpPr>
        <p:spPr>
          <a:xfrm>
            <a:off x="9658350" y="7892786"/>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Campaign live since Oct 7 ($200 → $300); Welcome live since Oct 6</a:t>
            </a:r>
            <a:endParaRPr sz="1800">
              <a:solidFill>
                <a:schemeClr val="dk1"/>
              </a:solidFill>
              <a:latin typeface="Calibri"/>
              <a:ea typeface="Calibri"/>
              <a:cs typeface="Calibri"/>
              <a:sym typeface="Calibri"/>
            </a:endParaRPr>
          </a:p>
        </p:txBody>
      </p:sp>
      <p:sp>
        <p:nvSpPr>
          <p:cNvPr id="433" name="Google Shape;433;p12"/>
          <p:cNvSpPr/>
          <p:nvPr/>
        </p:nvSpPr>
        <p:spPr>
          <a:xfrm>
            <a:off x="1257300" y="8605308"/>
            <a:ext cx="20955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b="1" lang="en-US" sz="1800">
                <a:solidFill>
                  <a:srgbClr val="16211F"/>
                </a:solidFill>
                <a:latin typeface="Archivo"/>
                <a:ea typeface="Archivo"/>
                <a:cs typeface="Archivo"/>
                <a:sym typeface="Archivo"/>
              </a:rPr>
              <a:t>All 3 brands</a:t>
            </a:r>
            <a:endParaRPr sz="1800">
              <a:solidFill>
                <a:schemeClr val="dk1"/>
              </a:solidFill>
              <a:latin typeface="Calibri"/>
              <a:ea typeface="Calibri"/>
              <a:cs typeface="Calibri"/>
              <a:sym typeface="Calibri"/>
            </a:endParaRPr>
          </a:p>
        </p:txBody>
      </p:sp>
      <p:sp>
        <p:nvSpPr>
          <p:cNvPr id="434" name="Google Shape;434;p12"/>
          <p:cNvSpPr/>
          <p:nvPr/>
        </p:nvSpPr>
        <p:spPr>
          <a:xfrm>
            <a:off x="3390900" y="8605308"/>
            <a:ext cx="4610100"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Dynamic retargeting (added)</a:t>
            </a:r>
            <a:endParaRPr sz="1800">
              <a:solidFill>
                <a:schemeClr val="dk1"/>
              </a:solidFill>
              <a:latin typeface="Calibri"/>
              <a:ea typeface="Calibri"/>
              <a:cs typeface="Calibri"/>
              <a:sym typeface="Calibri"/>
            </a:endParaRPr>
          </a:p>
        </p:txBody>
      </p:sp>
      <p:sp>
        <p:nvSpPr>
          <p:cNvPr id="435" name="Google Shape;435;p12"/>
          <p:cNvSpPr/>
          <p:nvPr/>
        </p:nvSpPr>
        <p:spPr>
          <a:xfrm>
            <a:off x="7810500" y="8567208"/>
            <a:ext cx="773906" cy="373327"/>
          </a:xfrm>
          <a:prstGeom prst="roundRect">
            <a:avLst>
              <a:gd fmla="val 50000" name="adj"/>
            </a:avLst>
          </a:prstGeom>
          <a:solidFill>
            <a:srgbClr val="C9E7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2"/>
          <p:cNvSpPr/>
          <p:nvPr/>
        </p:nvSpPr>
        <p:spPr>
          <a:xfrm>
            <a:off x="7962900" y="8605308"/>
            <a:ext cx="545306" cy="335227"/>
          </a:xfrm>
          <a:prstGeom prst="rect">
            <a:avLst/>
          </a:prstGeom>
          <a:noFill/>
          <a:ln>
            <a:noFill/>
          </a:ln>
        </p:spPr>
        <p:txBody>
          <a:bodyPr anchorCtr="0" anchor="t" bIns="25400" lIns="25400" spcFirstLastPara="1" rIns="25400" wrap="square" tIns="25400">
            <a:normAutofit/>
          </a:bodyPr>
          <a:lstStyle/>
          <a:p>
            <a:pPr indent="0" lvl="0" marL="0" marR="0" rtl="0" algn="l">
              <a:lnSpc>
                <a:spcPct val="87750"/>
              </a:lnSpc>
              <a:spcBef>
                <a:spcPts val="0"/>
              </a:spcBef>
              <a:spcAft>
                <a:spcPts val="0"/>
              </a:spcAft>
              <a:buClr>
                <a:srgbClr val="285858"/>
              </a:buClr>
              <a:buSzPts val="1800"/>
              <a:buFont typeface="Oswald"/>
              <a:buNone/>
            </a:pPr>
            <a:r>
              <a:rPr lang="en-US" sz="1800">
                <a:solidFill>
                  <a:srgbClr val="285858"/>
                </a:solidFill>
                <a:latin typeface="Oswald"/>
                <a:ea typeface="Oswald"/>
                <a:cs typeface="Oswald"/>
                <a:sym typeface="Oswald"/>
              </a:rPr>
              <a:t>Done</a:t>
            </a:r>
            <a:endParaRPr sz="1800">
              <a:solidFill>
                <a:schemeClr val="dk1"/>
              </a:solidFill>
              <a:latin typeface="Calibri"/>
              <a:ea typeface="Calibri"/>
              <a:cs typeface="Calibri"/>
              <a:sym typeface="Calibri"/>
            </a:endParaRPr>
          </a:p>
        </p:txBody>
      </p:sp>
      <p:sp>
        <p:nvSpPr>
          <p:cNvPr id="437" name="Google Shape;437;p12"/>
          <p:cNvSpPr/>
          <p:nvPr/>
        </p:nvSpPr>
        <p:spPr>
          <a:xfrm>
            <a:off x="9658350" y="8605308"/>
            <a:ext cx="8109585" cy="33522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Oct 10: catalog ads to 90-day viewers and cart adders, excluding buyers</a:t>
            </a:r>
            <a:endParaRPr sz="1800">
              <a:solidFill>
                <a:schemeClr val="dk1"/>
              </a:solidFill>
              <a:latin typeface="Calibri"/>
              <a:ea typeface="Calibri"/>
              <a:cs typeface="Calibri"/>
              <a:sym typeface="Calibri"/>
            </a:endParaRPr>
          </a:p>
        </p:txBody>
      </p:sp>
      <p:sp>
        <p:nvSpPr>
          <p:cNvPr id="438" name="Google Shape;438;p12"/>
          <p:cNvSpPr/>
          <p:nvPr/>
        </p:nvSpPr>
        <p:spPr>
          <a:xfrm>
            <a:off x="952500" y="9567333"/>
            <a:ext cx="491758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STORMBERG FOODS · EXECUTIVE STATUS</a:t>
            </a:r>
            <a:endParaRPr sz="1800">
              <a:solidFill>
                <a:schemeClr val="dk1"/>
              </a:solidFill>
              <a:latin typeface="Calibri"/>
              <a:ea typeface="Calibri"/>
              <a:cs typeface="Calibri"/>
              <a:sym typeface="Calibri"/>
            </a:endParaRPr>
          </a:p>
        </p:txBody>
      </p:sp>
      <p:sp>
        <p:nvSpPr>
          <p:cNvPr id="439" name="Google Shape;439;p12"/>
          <p:cNvSpPr/>
          <p:nvPr/>
        </p:nvSpPr>
        <p:spPr>
          <a:xfrm>
            <a:off x="17075680" y="9567333"/>
            <a:ext cx="336021"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EFDF"/>
        </a:solidFill>
      </p:bgPr>
    </p:bg>
    <p:spTree>
      <p:nvGrpSpPr>
        <p:cNvPr id="444" name="Shape 444"/>
        <p:cNvGrpSpPr/>
        <p:nvPr/>
      </p:nvGrpSpPr>
      <p:grpSpPr>
        <a:xfrm>
          <a:off x="0" y="0"/>
          <a:ext cx="0" cy="0"/>
          <a:chOff x="0" y="0"/>
          <a:chExt cx="0" cy="0"/>
        </a:xfrm>
      </p:grpSpPr>
      <p:sp>
        <p:nvSpPr>
          <p:cNvPr id="445" name="Google Shape;445;p13"/>
          <p:cNvSpPr/>
          <p:nvPr/>
        </p:nvSpPr>
        <p:spPr>
          <a:xfrm>
            <a:off x="952500" y="914400"/>
            <a:ext cx="18021300" cy="4021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950"/>
              <a:buFont typeface="Oswald"/>
              <a:buNone/>
            </a:pPr>
            <a:r>
              <a:rPr lang="en-US" sz="1950">
                <a:solidFill>
                  <a:srgbClr val="55615D"/>
                </a:solidFill>
                <a:latin typeface="Oswald"/>
                <a:ea typeface="Oswald"/>
                <a:cs typeface="Oswald"/>
                <a:sym typeface="Oswald"/>
              </a:rPr>
              <a:t>APPENDIX</a:t>
            </a:r>
            <a:endParaRPr sz="1950">
              <a:solidFill>
                <a:schemeClr val="dk1"/>
              </a:solidFill>
              <a:latin typeface="Calibri"/>
              <a:ea typeface="Calibri"/>
              <a:cs typeface="Calibri"/>
              <a:sym typeface="Calibri"/>
            </a:endParaRPr>
          </a:p>
        </p:txBody>
      </p:sp>
      <p:sp>
        <p:nvSpPr>
          <p:cNvPr id="446" name="Google Shape;446;p13"/>
          <p:cNvSpPr/>
          <p:nvPr/>
        </p:nvSpPr>
        <p:spPr>
          <a:xfrm>
            <a:off x="952500" y="1430867"/>
            <a:ext cx="18021300" cy="696383"/>
          </a:xfrm>
          <a:prstGeom prst="rect">
            <a:avLst/>
          </a:prstGeom>
          <a:noFill/>
          <a:ln>
            <a:noFill/>
          </a:ln>
        </p:spPr>
        <p:txBody>
          <a:bodyPr anchorCtr="0" anchor="t" bIns="25400" lIns="25400" spcFirstLastPara="1" rIns="25400" wrap="square" tIns="25400">
            <a:normAutofit/>
          </a:bodyPr>
          <a:lstStyle/>
          <a:p>
            <a:pPr indent="0" lvl="0" marL="0" marR="0" rtl="0" algn="l">
              <a:lnSpc>
                <a:spcPct val="90419"/>
              </a:lnSpc>
              <a:spcBef>
                <a:spcPts val="0"/>
              </a:spcBef>
              <a:spcAft>
                <a:spcPts val="0"/>
              </a:spcAft>
              <a:buClr>
                <a:srgbClr val="16211F"/>
              </a:buClr>
              <a:buSzPts val="4800"/>
              <a:buFont typeface="Bricolage Grotesque"/>
              <a:buNone/>
            </a:pPr>
            <a:r>
              <a:rPr b="1" lang="en-US" sz="4800">
                <a:solidFill>
                  <a:srgbClr val="16211F"/>
                </a:solidFill>
                <a:latin typeface="Bricolage Grotesque"/>
                <a:ea typeface="Bricolage Grotesque"/>
                <a:cs typeface="Bricolage Grotesque"/>
                <a:sym typeface="Bricolage Grotesque"/>
              </a:rPr>
              <a:t>Meta: more volume, efficiency still being built</a:t>
            </a:r>
            <a:endParaRPr sz="4800">
              <a:solidFill>
                <a:schemeClr val="dk1"/>
              </a:solidFill>
              <a:latin typeface="Calibri"/>
              <a:ea typeface="Calibri"/>
              <a:cs typeface="Calibri"/>
              <a:sym typeface="Calibri"/>
            </a:endParaRPr>
          </a:p>
        </p:txBody>
      </p:sp>
      <p:sp>
        <p:nvSpPr>
          <p:cNvPr id="447" name="Google Shape;447;p13"/>
          <p:cNvSpPr/>
          <p:nvPr/>
        </p:nvSpPr>
        <p:spPr>
          <a:xfrm>
            <a:off x="952500" y="2508250"/>
            <a:ext cx="7429500" cy="6540500"/>
          </a:xfrm>
          <a:prstGeom prst="roundRect">
            <a:avLst>
              <a:gd fmla="val 2621" name="adj"/>
            </a:avLst>
          </a:prstGeom>
          <a:solidFill>
            <a:srgbClr val="FFFFFF"/>
          </a:solidFill>
          <a:ln>
            <a:noFill/>
          </a:ln>
          <a:effectLst>
            <a:outerShdw blurRad="95250" rotWithShape="0" algn="bl" dir="5400000" dist="19050">
              <a:srgbClr val="16302E">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1409700" y="2851150"/>
            <a:ext cx="3615611"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6211F"/>
              </a:buClr>
              <a:buSzPts val="1800"/>
              <a:buFont typeface="Oswald"/>
              <a:buNone/>
            </a:pPr>
            <a:r>
              <a:rPr lang="en-US" sz="1800">
                <a:solidFill>
                  <a:srgbClr val="16211F"/>
                </a:solidFill>
                <a:latin typeface="Oswald"/>
                <a:ea typeface="Oswald"/>
                <a:cs typeface="Oswald"/>
                <a:sym typeface="Oswald"/>
              </a:rPr>
              <a:t>META-ATTRIBUTED PURCHASES</a:t>
            </a:r>
            <a:endParaRPr sz="1800">
              <a:solidFill>
                <a:schemeClr val="dk1"/>
              </a:solidFill>
              <a:latin typeface="Calibri"/>
              <a:ea typeface="Calibri"/>
              <a:cs typeface="Calibri"/>
              <a:sym typeface="Calibri"/>
            </a:endParaRPr>
          </a:p>
        </p:txBody>
      </p:sp>
      <p:sp>
        <p:nvSpPr>
          <p:cNvPr id="449" name="Google Shape;449;p13"/>
          <p:cNvSpPr/>
          <p:nvPr/>
        </p:nvSpPr>
        <p:spPr>
          <a:xfrm>
            <a:off x="5518547" y="2950633"/>
            <a:ext cx="171450" cy="171450"/>
          </a:xfrm>
          <a:prstGeom prst="roundRect">
            <a:avLst>
              <a:gd fmla="val 22222" name="adj"/>
            </a:avLst>
          </a:pr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5766197" y="2909358"/>
            <a:ext cx="872993" cy="292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Oct 1–5</a:t>
            </a:r>
            <a:endParaRPr sz="1800">
              <a:solidFill>
                <a:schemeClr val="dk1"/>
              </a:solidFill>
              <a:latin typeface="Calibri"/>
              <a:ea typeface="Calibri"/>
              <a:cs typeface="Calibri"/>
              <a:sym typeface="Calibri"/>
            </a:endParaRPr>
          </a:p>
        </p:txBody>
      </p:sp>
      <p:sp>
        <p:nvSpPr>
          <p:cNvPr id="451" name="Google Shape;451;p13"/>
          <p:cNvSpPr/>
          <p:nvPr/>
        </p:nvSpPr>
        <p:spPr>
          <a:xfrm>
            <a:off x="6753490" y="2950633"/>
            <a:ext cx="171450" cy="171450"/>
          </a:xfrm>
          <a:prstGeom prst="roundRect">
            <a:avLst>
              <a:gd fmla="val 22222" name="adj"/>
            </a:avLst>
          </a:prstGeom>
          <a:solidFill>
            <a:srgbClr val="223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7001140" y="2909358"/>
            <a:ext cx="999860" cy="292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33413E"/>
              </a:buClr>
              <a:buSzPts val="1800"/>
              <a:buFont typeface="Archivo"/>
              <a:buNone/>
            </a:pPr>
            <a:r>
              <a:rPr lang="en-US" sz="1800">
                <a:solidFill>
                  <a:srgbClr val="33413E"/>
                </a:solidFill>
                <a:latin typeface="Archivo"/>
                <a:ea typeface="Archivo"/>
                <a:cs typeface="Archivo"/>
                <a:sym typeface="Archivo"/>
              </a:rPr>
              <a:t>Oct 6–13</a:t>
            </a:r>
            <a:endParaRPr sz="1800">
              <a:solidFill>
                <a:schemeClr val="dk1"/>
              </a:solidFill>
              <a:latin typeface="Calibri"/>
              <a:ea typeface="Calibri"/>
              <a:cs typeface="Calibri"/>
              <a:sym typeface="Calibri"/>
            </a:endParaRPr>
          </a:p>
        </p:txBody>
      </p:sp>
      <p:sp>
        <p:nvSpPr>
          <p:cNvPr id="453" name="Google Shape;453;p13"/>
          <p:cNvSpPr/>
          <p:nvPr/>
        </p:nvSpPr>
        <p:spPr>
          <a:xfrm>
            <a:off x="1409700" y="8396817"/>
            <a:ext cx="6515100" cy="16933"/>
          </a:xfrm>
          <a:prstGeom prst="rect">
            <a:avLst/>
          </a:prstGeom>
          <a:solidFill>
            <a:srgbClr val="BFC6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1766226" y="8011584"/>
            <a:ext cx="223573"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b="1" lang="en-US" sz="1950">
                <a:solidFill>
                  <a:srgbClr val="33413E"/>
                </a:solidFill>
                <a:latin typeface="Archivo"/>
                <a:ea typeface="Archivo"/>
                <a:cs typeface="Archivo"/>
                <a:sym typeface="Archivo"/>
              </a:rPr>
              <a:t>0</a:t>
            </a:r>
            <a:endParaRPr sz="1950">
              <a:solidFill>
                <a:schemeClr val="dk1"/>
              </a:solidFill>
              <a:latin typeface="Calibri"/>
              <a:ea typeface="Calibri"/>
              <a:cs typeface="Calibri"/>
              <a:sym typeface="Calibri"/>
            </a:endParaRPr>
          </a:p>
        </p:txBody>
      </p:sp>
      <p:sp>
        <p:nvSpPr>
          <p:cNvPr id="455" name="Google Shape;455;p13"/>
          <p:cNvSpPr/>
          <p:nvPr/>
        </p:nvSpPr>
        <p:spPr>
          <a:xfrm>
            <a:off x="1409700" y="8358717"/>
            <a:ext cx="860425" cy="38100"/>
          </a:xfrm>
          <a:prstGeom prst="rect">
            <a:avLst/>
          </a:pr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2721901" y="5192184"/>
            <a:ext cx="223573"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9E4527"/>
              </a:buClr>
              <a:buSzPts val="1950"/>
              <a:buFont typeface="Archivo"/>
              <a:buNone/>
            </a:pPr>
            <a:r>
              <a:rPr b="1" lang="en-US" sz="1950">
                <a:solidFill>
                  <a:srgbClr val="9E4527"/>
                </a:solidFill>
                <a:latin typeface="Archivo"/>
                <a:ea typeface="Archivo"/>
                <a:cs typeface="Archivo"/>
                <a:sym typeface="Archivo"/>
              </a:rPr>
              <a:t>9</a:t>
            </a:r>
            <a:endParaRPr sz="1950">
              <a:solidFill>
                <a:schemeClr val="dk1"/>
              </a:solidFill>
              <a:latin typeface="Calibri"/>
              <a:ea typeface="Calibri"/>
              <a:cs typeface="Calibri"/>
              <a:sym typeface="Calibri"/>
            </a:endParaRPr>
          </a:p>
        </p:txBody>
      </p:sp>
      <p:sp>
        <p:nvSpPr>
          <p:cNvPr id="457" name="Google Shape;457;p13"/>
          <p:cNvSpPr/>
          <p:nvPr/>
        </p:nvSpPr>
        <p:spPr>
          <a:xfrm>
            <a:off x="2365375" y="5539317"/>
            <a:ext cx="860425" cy="2857500"/>
          </a:xfrm>
          <a:custGeom>
            <a:rect b="b" l="l" r="r" t="t"/>
            <a:pathLst>
              <a:path extrusionOk="0" h="2857500" w="860425">
                <a:moveTo>
                  <a:pt x="76200" y="0"/>
                </a:moveTo>
                <a:lnTo>
                  <a:pt x="784225" y="0"/>
                </a:lnTo>
                <a:cubicBezTo>
                  <a:pt x="804434" y="0"/>
                  <a:pt x="823816" y="8028"/>
                  <a:pt x="838107" y="22318"/>
                </a:cubicBezTo>
                <a:cubicBezTo>
                  <a:pt x="852397" y="36609"/>
                  <a:pt x="860425" y="55991"/>
                  <a:pt x="860425" y="76200"/>
                </a:cubicBezTo>
                <a:lnTo>
                  <a:pt x="860425" y="2857500"/>
                </a:lnTo>
                <a:lnTo>
                  <a:pt x="0" y="2857500"/>
                </a:lnTo>
                <a:lnTo>
                  <a:pt x="0" y="76200"/>
                </a:lnTo>
                <a:cubicBezTo>
                  <a:pt x="0" y="34116"/>
                  <a:pt x="34116" y="0"/>
                  <a:pt x="76200" y="0"/>
                </a:cubicBezTo>
                <a:close/>
              </a:path>
            </a:pathLst>
          </a:custGeom>
          <a:solidFill>
            <a:srgbClr val="B14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4115594" y="7735359"/>
            <a:ext cx="223838"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b="1" lang="en-US" sz="1950">
                <a:solidFill>
                  <a:srgbClr val="33413E"/>
                </a:solidFill>
                <a:latin typeface="Archivo"/>
                <a:ea typeface="Archivo"/>
                <a:cs typeface="Archivo"/>
                <a:sym typeface="Archivo"/>
              </a:rPr>
              <a:t>1</a:t>
            </a:r>
            <a:endParaRPr sz="1950">
              <a:solidFill>
                <a:schemeClr val="dk1"/>
              </a:solidFill>
              <a:latin typeface="Calibri"/>
              <a:ea typeface="Calibri"/>
              <a:cs typeface="Calibri"/>
              <a:sym typeface="Calibri"/>
            </a:endParaRPr>
          </a:p>
        </p:txBody>
      </p:sp>
      <p:sp>
        <p:nvSpPr>
          <p:cNvPr id="459" name="Google Shape;459;p13"/>
          <p:cNvSpPr/>
          <p:nvPr/>
        </p:nvSpPr>
        <p:spPr>
          <a:xfrm>
            <a:off x="3759200" y="8082492"/>
            <a:ext cx="860425" cy="314325"/>
          </a:xfrm>
          <a:custGeom>
            <a:rect b="b" l="l" r="r" t="t"/>
            <a:pathLst>
              <a:path extrusionOk="0" h="314325" w="860425">
                <a:moveTo>
                  <a:pt x="76200" y="0"/>
                </a:moveTo>
                <a:lnTo>
                  <a:pt x="784225" y="0"/>
                </a:lnTo>
                <a:cubicBezTo>
                  <a:pt x="804434" y="0"/>
                  <a:pt x="823816" y="8028"/>
                  <a:pt x="838107" y="22318"/>
                </a:cubicBezTo>
                <a:cubicBezTo>
                  <a:pt x="852397" y="36609"/>
                  <a:pt x="860425" y="55991"/>
                  <a:pt x="860425" y="76200"/>
                </a:cubicBezTo>
                <a:lnTo>
                  <a:pt x="860425" y="314325"/>
                </a:lnTo>
                <a:lnTo>
                  <a:pt x="0" y="314325"/>
                </a:lnTo>
                <a:lnTo>
                  <a:pt x="0" y="76200"/>
                </a:lnTo>
                <a:cubicBezTo>
                  <a:pt x="0" y="34116"/>
                  <a:pt x="34116" y="0"/>
                  <a:pt x="7620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5071136" y="6782859"/>
            <a:ext cx="224102"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85858"/>
              </a:buClr>
              <a:buSzPts val="1950"/>
              <a:buFont typeface="Archivo"/>
              <a:buNone/>
            </a:pPr>
            <a:r>
              <a:rPr b="1" lang="en-US" sz="1950">
                <a:solidFill>
                  <a:srgbClr val="285858"/>
                </a:solidFill>
                <a:latin typeface="Archivo"/>
                <a:ea typeface="Archivo"/>
                <a:cs typeface="Archivo"/>
                <a:sym typeface="Archivo"/>
              </a:rPr>
              <a:t>4</a:t>
            </a:r>
            <a:endParaRPr sz="1950">
              <a:solidFill>
                <a:schemeClr val="dk1"/>
              </a:solidFill>
              <a:latin typeface="Calibri"/>
              <a:ea typeface="Calibri"/>
              <a:cs typeface="Calibri"/>
              <a:sym typeface="Calibri"/>
            </a:endParaRPr>
          </a:p>
        </p:txBody>
      </p:sp>
      <p:sp>
        <p:nvSpPr>
          <p:cNvPr id="461" name="Google Shape;461;p13"/>
          <p:cNvSpPr/>
          <p:nvPr/>
        </p:nvSpPr>
        <p:spPr>
          <a:xfrm>
            <a:off x="4714875" y="7129992"/>
            <a:ext cx="860425" cy="1266825"/>
          </a:xfrm>
          <a:custGeom>
            <a:rect b="b" l="l" r="r" t="t"/>
            <a:pathLst>
              <a:path extrusionOk="0" h="1266825" w="860425">
                <a:moveTo>
                  <a:pt x="76200" y="0"/>
                </a:moveTo>
                <a:lnTo>
                  <a:pt x="784225" y="0"/>
                </a:lnTo>
                <a:cubicBezTo>
                  <a:pt x="804434" y="0"/>
                  <a:pt x="823816" y="8028"/>
                  <a:pt x="838107" y="22318"/>
                </a:cubicBezTo>
                <a:cubicBezTo>
                  <a:pt x="852397" y="36609"/>
                  <a:pt x="860425" y="55991"/>
                  <a:pt x="860425" y="76200"/>
                </a:cubicBezTo>
                <a:lnTo>
                  <a:pt x="860425" y="1266825"/>
                </a:lnTo>
                <a:lnTo>
                  <a:pt x="0" y="1266825"/>
                </a:lnTo>
                <a:lnTo>
                  <a:pt x="0" y="76200"/>
                </a:lnTo>
                <a:cubicBezTo>
                  <a:pt x="0" y="34116"/>
                  <a:pt x="34116" y="0"/>
                  <a:pt x="76200" y="0"/>
                </a:cubicBezTo>
                <a:close/>
              </a:path>
            </a:pathLst>
          </a:custGeom>
          <a:solidFill>
            <a:srgbClr val="2858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6465094" y="7735359"/>
            <a:ext cx="223838"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3413E"/>
              </a:buClr>
              <a:buSzPts val="1950"/>
              <a:buFont typeface="Archivo"/>
              <a:buNone/>
            </a:pPr>
            <a:r>
              <a:rPr b="1" lang="en-US" sz="1950">
                <a:solidFill>
                  <a:srgbClr val="33413E"/>
                </a:solidFill>
                <a:latin typeface="Archivo"/>
                <a:ea typeface="Archivo"/>
                <a:cs typeface="Archivo"/>
                <a:sym typeface="Archivo"/>
              </a:rPr>
              <a:t>1</a:t>
            </a:r>
            <a:endParaRPr sz="1950">
              <a:solidFill>
                <a:schemeClr val="dk1"/>
              </a:solidFill>
              <a:latin typeface="Calibri"/>
              <a:ea typeface="Calibri"/>
              <a:cs typeface="Calibri"/>
              <a:sym typeface="Calibri"/>
            </a:endParaRPr>
          </a:p>
        </p:txBody>
      </p:sp>
      <p:sp>
        <p:nvSpPr>
          <p:cNvPr id="463" name="Google Shape;463;p13"/>
          <p:cNvSpPr/>
          <p:nvPr/>
        </p:nvSpPr>
        <p:spPr>
          <a:xfrm>
            <a:off x="6108700" y="8082492"/>
            <a:ext cx="860425" cy="314325"/>
          </a:xfrm>
          <a:custGeom>
            <a:rect b="b" l="l" r="r" t="t"/>
            <a:pathLst>
              <a:path extrusionOk="0" h="314325" w="860425">
                <a:moveTo>
                  <a:pt x="76200" y="0"/>
                </a:moveTo>
                <a:lnTo>
                  <a:pt x="784225" y="0"/>
                </a:lnTo>
                <a:cubicBezTo>
                  <a:pt x="804434" y="0"/>
                  <a:pt x="823816" y="8028"/>
                  <a:pt x="838107" y="22318"/>
                </a:cubicBezTo>
                <a:cubicBezTo>
                  <a:pt x="852397" y="36609"/>
                  <a:pt x="860425" y="55991"/>
                  <a:pt x="860425" y="76200"/>
                </a:cubicBezTo>
                <a:lnTo>
                  <a:pt x="860425" y="314325"/>
                </a:lnTo>
                <a:lnTo>
                  <a:pt x="0" y="314325"/>
                </a:lnTo>
                <a:lnTo>
                  <a:pt x="0" y="76200"/>
                </a:lnTo>
                <a:cubicBezTo>
                  <a:pt x="0" y="34116"/>
                  <a:pt x="34116" y="0"/>
                  <a:pt x="76200" y="0"/>
                </a:cubicBezTo>
                <a:close/>
              </a:path>
            </a:pathLst>
          </a:custGeom>
          <a:solidFill>
            <a:srgbClr val="E7C7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7420769" y="7411509"/>
            <a:ext cx="223838" cy="30903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C4A7E"/>
              </a:buClr>
              <a:buSzPts val="1950"/>
              <a:buFont typeface="Archivo"/>
              <a:buNone/>
            </a:pPr>
            <a:r>
              <a:rPr b="1" lang="en-US" sz="1950">
                <a:solidFill>
                  <a:srgbClr val="3C4A7E"/>
                </a:solidFill>
                <a:latin typeface="Archivo"/>
                <a:ea typeface="Archivo"/>
                <a:cs typeface="Archivo"/>
                <a:sym typeface="Archivo"/>
              </a:rPr>
              <a:t>2</a:t>
            </a:r>
            <a:endParaRPr sz="1950">
              <a:solidFill>
                <a:schemeClr val="dk1"/>
              </a:solidFill>
              <a:latin typeface="Calibri"/>
              <a:ea typeface="Calibri"/>
              <a:cs typeface="Calibri"/>
              <a:sym typeface="Calibri"/>
            </a:endParaRPr>
          </a:p>
        </p:txBody>
      </p:sp>
      <p:sp>
        <p:nvSpPr>
          <p:cNvPr id="465" name="Google Shape;465;p13"/>
          <p:cNvSpPr/>
          <p:nvPr/>
        </p:nvSpPr>
        <p:spPr>
          <a:xfrm>
            <a:off x="7064375" y="7758642"/>
            <a:ext cx="860425" cy="638175"/>
          </a:xfrm>
          <a:custGeom>
            <a:rect b="b" l="l" r="r" t="t"/>
            <a:pathLst>
              <a:path extrusionOk="0" h="638175" w="860425">
                <a:moveTo>
                  <a:pt x="76200" y="0"/>
                </a:moveTo>
                <a:lnTo>
                  <a:pt x="784225" y="0"/>
                </a:lnTo>
                <a:cubicBezTo>
                  <a:pt x="804434" y="0"/>
                  <a:pt x="823816" y="8028"/>
                  <a:pt x="838107" y="22318"/>
                </a:cubicBezTo>
                <a:cubicBezTo>
                  <a:pt x="852397" y="36609"/>
                  <a:pt x="860425" y="55991"/>
                  <a:pt x="860425" y="76200"/>
                </a:cubicBezTo>
                <a:lnTo>
                  <a:pt x="860425" y="638175"/>
                </a:lnTo>
                <a:lnTo>
                  <a:pt x="0" y="638175"/>
                </a:lnTo>
                <a:lnTo>
                  <a:pt x="0" y="76200"/>
                </a:lnTo>
                <a:cubicBezTo>
                  <a:pt x="0" y="34116"/>
                  <a:pt x="34116" y="0"/>
                  <a:pt x="76200" y="0"/>
                </a:cubicBezTo>
                <a:close/>
              </a:path>
            </a:pathLst>
          </a:custGeom>
          <a:solidFill>
            <a:srgbClr val="3C4A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1318895" y="8528050"/>
            <a:ext cx="1997710"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Brooklyn</a:t>
            </a:r>
            <a:endParaRPr sz="1800">
              <a:solidFill>
                <a:schemeClr val="dk1"/>
              </a:solidFill>
              <a:latin typeface="Calibri"/>
              <a:ea typeface="Calibri"/>
              <a:cs typeface="Calibri"/>
              <a:sym typeface="Calibri"/>
            </a:endParaRPr>
          </a:p>
        </p:txBody>
      </p:sp>
      <p:sp>
        <p:nvSpPr>
          <p:cNvPr id="467" name="Google Shape;467;p13"/>
          <p:cNvSpPr/>
          <p:nvPr/>
        </p:nvSpPr>
        <p:spPr>
          <a:xfrm>
            <a:off x="3668395" y="8528050"/>
            <a:ext cx="1997710"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Ayoba</a:t>
            </a:r>
            <a:endParaRPr sz="1800">
              <a:solidFill>
                <a:schemeClr val="dk1"/>
              </a:solidFill>
              <a:latin typeface="Calibri"/>
              <a:ea typeface="Calibri"/>
              <a:cs typeface="Calibri"/>
              <a:sym typeface="Calibri"/>
            </a:endParaRPr>
          </a:p>
        </p:txBody>
      </p:sp>
      <p:sp>
        <p:nvSpPr>
          <p:cNvPr id="468" name="Google Shape;468;p13"/>
          <p:cNvSpPr/>
          <p:nvPr/>
        </p:nvSpPr>
        <p:spPr>
          <a:xfrm>
            <a:off x="6017895" y="8528050"/>
            <a:ext cx="1997710" cy="292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6211F"/>
              </a:buClr>
              <a:buSzPts val="1800"/>
              <a:buFont typeface="Archivo"/>
              <a:buNone/>
            </a:pPr>
            <a:r>
              <a:rPr lang="en-US" sz="1800">
                <a:solidFill>
                  <a:srgbClr val="16211F"/>
                </a:solidFill>
                <a:latin typeface="Archivo"/>
                <a:ea typeface="Archivo"/>
                <a:cs typeface="Archivo"/>
                <a:sym typeface="Archivo"/>
              </a:rPr>
              <a:t>Beg &amp; Barker</a:t>
            </a:r>
            <a:endParaRPr sz="1800">
              <a:solidFill>
                <a:schemeClr val="dk1"/>
              </a:solidFill>
              <a:latin typeface="Calibri"/>
              <a:ea typeface="Calibri"/>
              <a:cs typeface="Calibri"/>
              <a:sym typeface="Calibri"/>
            </a:endParaRPr>
          </a:p>
        </p:txBody>
      </p:sp>
      <p:sp>
        <p:nvSpPr>
          <p:cNvPr id="469" name="Google Shape;469;p13"/>
          <p:cNvSpPr/>
          <p:nvPr/>
        </p:nvSpPr>
        <p:spPr>
          <a:xfrm>
            <a:off x="8915400" y="2508250"/>
            <a:ext cx="9262110" cy="384704"/>
          </a:xfrm>
          <a:prstGeom prst="rect">
            <a:avLst/>
          </a:prstGeom>
          <a:noFill/>
          <a:ln>
            <a:noFill/>
          </a:ln>
        </p:spPr>
        <p:txBody>
          <a:bodyPr anchorCtr="0" anchor="t" bIns="25400" lIns="25400" spcFirstLastPara="1" rIns="25400" wrap="square" tIns="25400">
            <a:normAutofit/>
          </a:bodyPr>
          <a:lstStyle/>
          <a:p>
            <a:pPr indent="0" lvl="0" marL="0" marR="0" rtl="0" algn="l">
              <a:lnSpc>
                <a:spcPct val="95233"/>
              </a:lnSpc>
              <a:spcBef>
                <a:spcPts val="0"/>
              </a:spcBef>
              <a:spcAft>
                <a:spcPts val="0"/>
              </a:spcAft>
              <a:buClr>
                <a:srgbClr val="326B66"/>
              </a:buClr>
              <a:buSzPts val="1950"/>
              <a:buFont typeface="Oswald"/>
              <a:buNone/>
            </a:pPr>
            <a:r>
              <a:rPr lang="en-US" sz="1950">
                <a:solidFill>
                  <a:srgbClr val="326B66"/>
                </a:solidFill>
                <a:latin typeface="Oswald"/>
                <a:ea typeface="Oswald"/>
                <a:cs typeface="Oswald"/>
                <a:sym typeface="Oswald"/>
              </a:rPr>
              <a:t>WHAT'S WORKING</a:t>
            </a:r>
            <a:endParaRPr sz="1950">
              <a:solidFill>
                <a:schemeClr val="dk1"/>
              </a:solidFill>
              <a:latin typeface="Calibri"/>
              <a:ea typeface="Calibri"/>
              <a:cs typeface="Calibri"/>
              <a:sym typeface="Calibri"/>
            </a:endParaRPr>
          </a:p>
        </p:txBody>
      </p:sp>
      <p:sp>
        <p:nvSpPr>
          <p:cNvPr id="470" name="Google Shape;470;p13"/>
          <p:cNvSpPr/>
          <p:nvPr/>
        </p:nvSpPr>
        <p:spPr>
          <a:xfrm>
            <a:off x="8915400" y="2988204"/>
            <a:ext cx="926211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16211F"/>
              </a:buClr>
              <a:buSzPts val="1875"/>
              <a:buFont typeface="Archivo"/>
              <a:buNone/>
            </a:pPr>
            <a:r>
              <a:rPr b="1" lang="en-US" sz="1875">
                <a:solidFill>
                  <a:srgbClr val="16211F"/>
                </a:solidFill>
                <a:latin typeface="Archivo"/>
                <a:ea typeface="Archivo"/>
                <a:cs typeface="Archivo"/>
                <a:sym typeface="Archivo"/>
              </a:rPr>
              <a:t>Ayoba new customers: </a:t>
            </a:r>
            <a:r>
              <a:rPr lang="en-US" sz="1875">
                <a:solidFill>
                  <a:srgbClr val="33413E"/>
                </a:solidFill>
                <a:latin typeface="Archivo"/>
                <a:ea typeface="Archivo"/>
                <a:cs typeface="Archivo"/>
                <a:sym typeface="Archivo"/>
              </a:rPr>
              <a:t>$26 per purchase, 1.6× return</a:t>
            </a:r>
            <a:endParaRPr sz="1875">
              <a:solidFill>
                <a:schemeClr val="dk1"/>
              </a:solidFill>
              <a:latin typeface="Calibri"/>
              <a:ea typeface="Calibri"/>
              <a:cs typeface="Calibri"/>
              <a:sym typeface="Calibri"/>
            </a:endParaRPr>
          </a:p>
        </p:txBody>
      </p:sp>
      <p:sp>
        <p:nvSpPr>
          <p:cNvPr id="471" name="Google Shape;471;p13"/>
          <p:cNvSpPr/>
          <p:nvPr/>
        </p:nvSpPr>
        <p:spPr>
          <a:xfrm>
            <a:off x="8915400" y="3454929"/>
            <a:ext cx="926211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16211F"/>
              </a:buClr>
              <a:buSzPts val="1875"/>
              <a:buFont typeface="Archivo"/>
              <a:buNone/>
            </a:pPr>
            <a:r>
              <a:rPr b="1" lang="en-US" sz="1875">
                <a:solidFill>
                  <a:srgbClr val="16211F"/>
                </a:solidFill>
                <a:latin typeface="Archivo"/>
                <a:ea typeface="Archivo"/>
                <a:cs typeface="Archivo"/>
                <a:sym typeface="Archivo"/>
              </a:rPr>
              <a:t>Brooklyn dynamic retargeting: </a:t>
            </a:r>
            <a:r>
              <a:rPr lang="en-US" sz="1875">
                <a:solidFill>
                  <a:srgbClr val="33413E"/>
                </a:solidFill>
                <a:latin typeface="Archivo"/>
                <a:ea typeface="Archivo"/>
                <a:cs typeface="Archivo"/>
                <a:sym typeface="Archivo"/>
              </a:rPr>
              <a:t>$26 per purchase, 2.9× return</a:t>
            </a:r>
            <a:endParaRPr sz="1875">
              <a:solidFill>
                <a:schemeClr val="dk1"/>
              </a:solidFill>
              <a:latin typeface="Calibri"/>
              <a:ea typeface="Calibri"/>
              <a:cs typeface="Calibri"/>
              <a:sym typeface="Calibri"/>
            </a:endParaRPr>
          </a:p>
        </p:txBody>
      </p:sp>
      <p:sp>
        <p:nvSpPr>
          <p:cNvPr id="472" name="Google Shape;472;p13"/>
          <p:cNvSpPr/>
          <p:nvPr/>
        </p:nvSpPr>
        <p:spPr>
          <a:xfrm>
            <a:off x="8915400" y="3921654"/>
            <a:ext cx="926211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16211F"/>
              </a:buClr>
              <a:buSzPts val="1875"/>
              <a:buFont typeface="Archivo"/>
              <a:buNone/>
            </a:pPr>
            <a:r>
              <a:rPr b="1" lang="en-US" sz="1875">
                <a:solidFill>
                  <a:srgbClr val="16211F"/>
                </a:solidFill>
                <a:latin typeface="Archivo"/>
                <a:ea typeface="Archivo"/>
                <a:cs typeface="Archivo"/>
                <a:sym typeface="Archivo"/>
              </a:rPr>
              <a:t>Beg &amp; Barker dynamic retargeting: </a:t>
            </a:r>
            <a:r>
              <a:rPr lang="en-US" sz="1875">
                <a:solidFill>
                  <a:srgbClr val="33413E"/>
                </a:solidFill>
                <a:latin typeface="Archivo"/>
                <a:ea typeface="Archivo"/>
                <a:cs typeface="Archivo"/>
                <a:sym typeface="Archivo"/>
              </a:rPr>
              <a:t>3.1× return</a:t>
            </a:r>
            <a:endParaRPr sz="1875">
              <a:solidFill>
                <a:schemeClr val="dk1"/>
              </a:solidFill>
              <a:latin typeface="Calibri"/>
              <a:ea typeface="Calibri"/>
              <a:cs typeface="Calibri"/>
              <a:sym typeface="Calibri"/>
            </a:endParaRPr>
          </a:p>
        </p:txBody>
      </p:sp>
      <p:sp>
        <p:nvSpPr>
          <p:cNvPr id="473" name="Google Shape;473;p13"/>
          <p:cNvSpPr/>
          <p:nvPr/>
        </p:nvSpPr>
        <p:spPr>
          <a:xfrm>
            <a:off x="8915400" y="4521729"/>
            <a:ext cx="8420100" cy="9525"/>
          </a:xfrm>
          <a:prstGeom prst="rect">
            <a:avLst/>
          </a:prstGeom>
          <a:solidFill>
            <a:srgbClr val="BFC6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p:nvPr/>
        </p:nvSpPr>
        <p:spPr>
          <a:xfrm>
            <a:off x="8915400" y="4758796"/>
            <a:ext cx="9262110" cy="384704"/>
          </a:xfrm>
          <a:prstGeom prst="rect">
            <a:avLst/>
          </a:prstGeom>
          <a:noFill/>
          <a:ln>
            <a:noFill/>
          </a:ln>
        </p:spPr>
        <p:txBody>
          <a:bodyPr anchorCtr="0" anchor="t" bIns="25400" lIns="25400" spcFirstLastPara="1" rIns="25400" wrap="square" tIns="25400">
            <a:normAutofit/>
          </a:bodyPr>
          <a:lstStyle/>
          <a:p>
            <a:pPr indent="0" lvl="0" marL="0" marR="0" rtl="0" algn="l">
              <a:lnSpc>
                <a:spcPct val="95233"/>
              </a:lnSpc>
              <a:spcBef>
                <a:spcPts val="0"/>
              </a:spcBef>
              <a:spcAft>
                <a:spcPts val="0"/>
              </a:spcAft>
              <a:buClr>
                <a:srgbClr val="9E4527"/>
              </a:buClr>
              <a:buSzPts val="1950"/>
              <a:buFont typeface="Oswald"/>
              <a:buNone/>
            </a:pPr>
            <a:r>
              <a:rPr lang="en-US" sz="1950">
                <a:solidFill>
                  <a:srgbClr val="9E4527"/>
                </a:solidFill>
                <a:latin typeface="Oswald"/>
                <a:ea typeface="Oswald"/>
                <a:cs typeface="Oswald"/>
                <a:sym typeface="Oswald"/>
              </a:rPr>
              <a:t>WHAT WE'RE FIXING</a:t>
            </a:r>
            <a:endParaRPr sz="1950">
              <a:solidFill>
                <a:schemeClr val="dk1"/>
              </a:solidFill>
              <a:latin typeface="Calibri"/>
              <a:ea typeface="Calibri"/>
              <a:cs typeface="Calibri"/>
              <a:sym typeface="Calibri"/>
            </a:endParaRPr>
          </a:p>
        </p:txBody>
      </p:sp>
      <p:sp>
        <p:nvSpPr>
          <p:cNvPr id="475" name="Google Shape;475;p13"/>
          <p:cNvSpPr/>
          <p:nvPr/>
        </p:nvSpPr>
        <p:spPr>
          <a:xfrm>
            <a:off x="8915400" y="5238750"/>
            <a:ext cx="9262110" cy="371475"/>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16211F"/>
              </a:buClr>
              <a:buSzPts val="1875"/>
              <a:buFont typeface="Archivo"/>
              <a:buNone/>
            </a:pPr>
            <a:r>
              <a:rPr b="1" lang="en-US" sz="1875">
                <a:solidFill>
                  <a:srgbClr val="16211F"/>
                </a:solidFill>
                <a:latin typeface="Archivo"/>
                <a:ea typeface="Archivo"/>
                <a:cs typeface="Archivo"/>
                <a:sym typeface="Archivo"/>
              </a:rPr>
              <a:t>Brooklyn new customers: </a:t>
            </a:r>
            <a:r>
              <a:rPr lang="en-US" sz="1875">
                <a:solidFill>
                  <a:srgbClr val="33413E"/>
                </a:solidFill>
                <a:latin typeface="Archivo"/>
                <a:ea typeface="Archivo"/>
                <a:cs typeface="Archivo"/>
                <a:sym typeface="Archivo"/>
              </a:rPr>
              <a:t>$170 per purchase → budget trimmed on Oct 13</a:t>
            </a:r>
            <a:endParaRPr sz="1875">
              <a:solidFill>
                <a:schemeClr val="dk1"/>
              </a:solidFill>
              <a:latin typeface="Calibri"/>
              <a:ea typeface="Calibri"/>
              <a:cs typeface="Calibri"/>
              <a:sym typeface="Calibri"/>
            </a:endParaRPr>
          </a:p>
        </p:txBody>
      </p:sp>
      <p:sp>
        <p:nvSpPr>
          <p:cNvPr id="476" name="Google Shape;476;p13"/>
          <p:cNvSpPr/>
          <p:nvPr/>
        </p:nvSpPr>
        <p:spPr>
          <a:xfrm>
            <a:off x="8915400" y="5705475"/>
            <a:ext cx="8672703" cy="704850"/>
          </a:xfrm>
          <a:prstGeom prst="rect">
            <a:avLst/>
          </a:prstGeom>
          <a:noFill/>
          <a:ln>
            <a:noFill/>
          </a:ln>
        </p:spPr>
        <p:txBody>
          <a:bodyPr anchorCtr="0" anchor="t" bIns="25400" lIns="25400" spcFirstLastPara="1" rIns="25400" wrap="square" tIns="25400">
            <a:normAutofit/>
          </a:bodyPr>
          <a:lstStyle/>
          <a:p>
            <a:pPr indent="0" lvl="0" marL="0" marR="0" rtl="0" algn="l">
              <a:lnSpc>
                <a:spcPct val="127016"/>
              </a:lnSpc>
              <a:spcBef>
                <a:spcPts val="0"/>
              </a:spcBef>
              <a:spcAft>
                <a:spcPts val="0"/>
              </a:spcAft>
              <a:buClr>
                <a:srgbClr val="33413E"/>
              </a:buClr>
              <a:buSzPts val="1875"/>
              <a:buFont typeface="Archivo"/>
              <a:buNone/>
            </a:pPr>
            <a:r>
              <a:rPr lang="en-US" sz="1875">
                <a:solidFill>
                  <a:srgbClr val="33413E"/>
                </a:solidFill>
                <a:latin typeface="Archivo"/>
                <a:ea typeface="Archivo"/>
                <a:cs typeface="Archivo"/>
                <a:sym typeface="Archivo"/>
              </a:rPr>
              <a:t>New retargeting (since Oct 10) is still learning; budget raised for Ayoba and Beg &amp; Barker</a:t>
            </a:r>
            <a:endParaRPr sz="1875">
              <a:solidFill>
                <a:schemeClr val="dk1"/>
              </a:solidFill>
              <a:latin typeface="Calibri"/>
              <a:ea typeface="Calibri"/>
              <a:cs typeface="Calibri"/>
              <a:sym typeface="Calibri"/>
            </a:endParaRPr>
          </a:p>
        </p:txBody>
      </p:sp>
      <p:sp>
        <p:nvSpPr>
          <p:cNvPr id="477" name="Google Shape;477;p13"/>
          <p:cNvSpPr/>
          <p:nvPr/>
        </p:nvSpPr>
        <p:spPr>
          <a:xfrm>
            <a:off x="952500" y="9529233"/>
            <a:ext cx="9718027"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SOURCE: META ADS MANAGER; EXCLUDES GOOGLE ADS AND TOTAL STORE SALES</a:t>
            </a:r>
            <a:endParaRPr sz="1800">
              <a:solidFill>
                <a:schemeClr val="dk1"/>
              </a:solidFill>
              <a:latin typeface="Calibri"/>
              <a:ea typeface="Calibri"/>
              <a:cs typeface="Calibri"/>
              <a:sym typeface="Calibri"/>
            </a:endParaRPr>
          </a:p>
        </p:txBody>
      </p:sp>
      <p:sp>
        <p:nvSpPr>
          <p:cNvPr id="478" name="Google Shape;478;p13"/>
          <p:cNvSpPr/>
          <p:nvPr/>
        </p:nvSpPr>
        <p:spPr>
          <a:xfrm>
            <a:off x="17075944" y="9529233"/>
            <a:ext cx="335756" cy="376767"/>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55615D"/>
              </a:buClr>
              <a:buSzPts val="1800"/>
              <a:buFont typeface="Oswald"/>
              <a:buNone/>
            </a:pPr>
            <a:r>
              <a:rPr lang="en-US" sz="1800">
                <a:solidFill>
                  <a:srgbClr val="55615D"/>
                </a:solidFill>
                <a:latin typeface="Oswald"/>
                <a:ea typeface="Oswald"/>
                <a:cs typeface="Oswald"/>
                <a:sym typeface="Oswald"/>
              </a:rPr>
              <a:t>13</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2026-10-14T17:02:26Z</dcterms:created>
  <dc:creator>PptxGenJS</dc:creator>
</cp:coreProperties>
</file>