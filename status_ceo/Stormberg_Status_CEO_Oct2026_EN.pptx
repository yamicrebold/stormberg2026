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d06c6a32-342a-2586-9cf1-8231bbec9472}">
          <p14:sldIdLst>
            <p14:sldId id="256"/>
            <p14:sldId id="257"/>
            <p14:sldId id="258"/>
            <p14:sldId id="259"/>
          </p14:sldIdLst>
        </p14:section>
        <p14:section name="Progress" id="{54b547cd-fc4b-4cec-d0c4-7c8e3ddc6578}">
          <p14:sldIdLst>
            <p14:sldId id="260"/>
            <p14:sldId id="261"/>
            <p14:sldId id="262"/>
          </p14:sldIdLst>
        </p14:section>
        <p14:section name="Next steps" id="{88e3939c-1370-8b37-aeda-1b56901fcde8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F1C"/>
                </a:solidFill>
                <a:latin typeface="+mn-lt"/>
              </a:rPr>
              <a:t>Brooklyn store daily sales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1375</c:v>
                </c:pt>
                <c:pt idx="1">
                  <c:v>525</c:v>
                </c:pt>
                <c:pt idx="2">
                  <c:v>854</c:v>
                </c:pt>
                <c:pt idx="3">
                  <c:v>931</c:v>
                </c:pt>
                <c:pt idx="4">
                  <c:v>698</c:v>
                </c:pt>
                <c:pt idx="5">
                  <c:v>1485</c:v>
                </c:pt>
                <c:pt idx="6">
                  <c:v>739</c:v>
                </c:pt>
                <c:pt idx="7">
                  <c:v>777</c:v>
                </c:pt>
                <c:pt idx="8">
                  <c:v>885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hl</c:v>
                </c:pt>
              </c:strCache>
            </c:strRef>
          </c:tx>
          <c:spPr>
            <a:solidFill>
              <a:srgbClr val="2E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1569</c:v>
                </c:pt>
                <c:pt idx="10">
                  <c:v>1637</c:v>
                </c:pt>
                <c:pt idx="11">
                  <c:v>2030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F3EEE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7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Meta-attributed purchases by brand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 1–5 (5 days)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Oct 6–13 (8 days)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1F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Sales by program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by program (USD)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Other flows and sends</c:v>
                  </c:pt>
                  <c:pt idx="1">
                    <c:v>$10-off reminder</c:v>
                  </c:pt>
                  <c:pt idx="2">
                    <c:v>Win-back</c:v>
                  </c:pt>
                  <c:pt idx="3">
                    <c:v>SMS Welcome</c:v>
                  </c:pt>
                  <c:pt idx="4">
                    <c:v>Game Day (email + SMS)</c:v>
                  </c:pt>
                  <c:pt idx="5">
                    <c:v>First-purchase flow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145</c:v>
                </c:pt>
                <c:pt idx="2">
                  <c:v>166</c:v>
                </c:pt>
                <c:pt idx="3">
                  <c:v>265</c:v>
                </c:pt>
                <c:pt idx="4">
                  <c:v>585</c:v>
                </c:pt>
                <c:pt idx="5">
                  <c:v>647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Stormberg Foods · October status update · Data as of October 13,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EXECUTIVE STATUS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Stormberg Foods: October progress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Follow-up on the commitments in the October 1–9 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Brooklyn Biltong · Ayoba Foods · Beg &amp; Barker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October 14, 2026</a:t>
            </a:r>
            <a:endParaRPr lang="en-US" sz="1200" dirty="0"/>
          </a:p>
        </p:txBody>
      </p:sp>
      <p:sp>
        <p:nvSpPr>
          <p:cNvPr id="6" name="Motif circle"/>
          <p:cNvSpPr/>
          <p:nvPr/>
        </p:nvSpPr>
        <p:spPr>
          <a:xfrm>
            <a:off x="7498080" y="35661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otif circle small"/>
          <p:cNvSpPr/>
          <p:nvPr/>
        </p:nvSpPr>
        <p:spPr>
          <a:xfrm>
            <a:off x="7086600" y="4069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are rebounding: three straight days above $1,500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5156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15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43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Meta-attributed purchases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Oct 1–5 vs. Oct 6–13</a:t>
            </a:r>
            <a:endParaRPr lang="en-US" sz="1100" dirty="0"/>
          </a:p>
        </p:txBody>
      </p:sp>
      <p:sp>
        <p:nvSpPr>
          <p:cNvPr id="6" name="Stat card 2"/>
          <p:cNvSpPr/>
          <p:nvPr/>
        </p:nvSpPr>
        <p:spPr>
          <a:xfrm>
            <a:off x="457200" y="224028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31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 daily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Oct 10–12 vs. Oct 1–9</a:t>
            </a:r>
            <a:endParaRPr lang="en-US" sz="1100" dirty="0"/>
          </a:p>
        </p:txBody>
      </p:sp>
      <p:sp>
        <p:nvSpPr>
          <p:cNvPr id="9" name="Stat card 3"/>
          <p:cNvSpPr/>
          <p:nvPr/>
        </p:nvSpPr>
        <p:spPr>
          <a:xfrm>
            <a:off x="457200" y="342900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Email and SMS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Brooklyn, Oct 1–14 (31 orders)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to know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0876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Traction: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 sold $1,745 a day from October 10 to 12, nearly double the first nine days of the month, right as Meta came on. Monthly profit holds at $4.5–5K on nearly half the media investment.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Execution: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Meta commitment is live across all 3 brands.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Watch: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Meta's direct return (0.76x) is still being built; budget has already moved toward what converts best.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What's next: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Brooklyn's Fast Sale (Oct 15–18) is the biggest lever of the month.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positive signals from the last week</a:t>
            </a:r>
            <a:endParaRPr lang="en-US" sz="2600" dirty="0"/>
          </a:p>
        </p:txBody>
      </p:sp>
      <p:graphicFrame>
        <p:nvGraphicFramePr>
          <p:cNvPr id="3" name="Daily sales chart" descr=""/>
          <p:cNvGraphicFramePr/>
          <p:nvPr/>
        </p:nvGraphicFramePr>
        <p:xfrm>
          <a:off x="457200" y="960120"/>
          <a:ext cx="4297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$4.5–5K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2377440" y="36118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 steady monthly profit since May, on nearly half the media investment</a:t>
            </a:r>
            <a:endParaRPr lang="en-US" sz="1200" dirty="0"/>
          </a:p>
        </p:txBody>
      </p:sp>
      <p:sp>
        <p:nvSpPr>
          <p:cNvPr id="6" name="Positive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Positive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profitable flows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After the adjustments, flows earn $1.04 per recipient (vs. $0.21 in September) and $80 a day (+40%)</a:t>
            </a:r>
            <a:endParaRPr lang="en-US" sz="1050" dirty="0"/>
          </a:p>
        </p:txBody>
      </p:sp>
      <p:sp>
        <p:nvSpPr>
          <p:cNvPr id="10" name="Positive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Positive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Smile is growing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Customers earning points on orders: from 74 to 82 a week (+11%) since paid media began</a:t>
            </a:r>
            <a:endParaRPr lang="en-US" sz="1050" dirty="0"/>
          </a:p>
        </p:txBody>
      </p:sp>
      <p:sp>
        <p:nvSpPr>
          <p:cNvPr id="14" name="Positive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5" name="Positive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Subscriptions up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Higher subscription sales, with the Subscribe &amp; Save flow live since Oct 7</a:t>
            </a:r>
            <a:endParaRPr lang="en-US" sz="1050" dirty="0"/>
          </a:p>
        </p:txBody>
      </p:sp>
      <p:sp>
        <p:nvSpPr>
          <p:cNvPr id="18" name="Positive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9" name="Positive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Google: Brand and PMax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Very strong ROAS last week, in step with Meta coming on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Klaviyo (Brooklyn Biltong) for store sales, flows and Smile. Profit: Brooklyn financial analysis. Subscriptions and Google: team platform reports.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Barker: a solid, recurring base</a:t>
            </a:r>
            <a:endParaRPr lang="en-US" sz="2600" dirty="0"/>
          </a:p>
        </p:txBody>
      </p:sp>
      <p:sp>
        <p:nvSpPr>
          <p:cNvPr id="3" name="BB stat 1"/>
          <p:cNvSpPr/>
          <p:nvPr/>
        </p:nvSpPr>
        <p:spPr>
          <a:xfrm>
            <a:off x="457200" y="1005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$89.9K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097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 sales year to date, from 1,181 orders at a $76 average ticket</a:t>
            </a:r>
            <a:endParaRPr lang="en-US" sz="1200" dirty="0"/>
          </a:p>
        </p:txBody>
      </p:sp>
      <p:sp>
        <p:nvSpPr>
          <p:cNvPr id="6" name="BB stat 2"/>
          <p:cNvSpPr/>
          <p:nvPr/>
        </p:nvSpPr>
        <p:spPr>
          <a:xfrm>
            <a:off x="457200" y="2148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2240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sales are subscription renewals: $40K in recurring revenue this year</a:t>
            </a:r>
            <a:endParaRPr lang="en-US" sz="1200" dirty="0"/>
          </a:p>
        </p:txBody>
      </p:sp>
      <p:sp>
        <p:nvSpPr>
          <p:cNvPr id="9" name="BB stat 3"/>
          <p:cNvSpPr/>
          <p:nvPr/>
        </p:nvSpPr>
        <p:spPr>
          <a:xfrm>
            <a:off x="457200" y="3291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383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$2.21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 recipient from automated flows, 13 times more than campaigns</a:t>
            </a:r>
            <a:endParaRPr lang="en-US" sz="1200" dirty="0"/>
          </a:p>
        </p:txBody>
      </p:sp>
      <p:sp>
        <p:nvSpPr>
          <p:cNvPr id="12" name="BB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3" name="BB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Steady sales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~$9.3K a month in Q1 and ~$9.7K from April to September</a:t>
            </a:r>
            <a:endParaRPr lang="en-US" sz="1100" dirty="0"/>
          </a:p>
        </p:txBody>
      </p:sp>
      <p:sp>
        <p:nvSpPr>
          <p:cNvPr id="16" name="BB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7" name="BB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search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Google's most profitable line, with a return close to 3x</a:t>
            </a:r>
            <a:endParaRPr lang="en-US" sz="1100" dirty="0"/>
          </a:p>
        </p:txBody>
      </p:sp>
      <p:sp>
        <p:nvSpPr>
          <p:cNvPr id="20" name="BB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1" name="BB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retargeting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3.1x return on Meta ahead of the Oct 10 restructure</a:t>
            </a:r>
            <a:endParaRPr lang="en-US" sz="1100" dirty="0"/>
          </a:p>
        </p:txBody>
      </p:sp>
      <p:sp>
        <p:nvSpPr>
          <p:cNvPr id="24" name="BB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5" name="BB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Refreshed welcome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BARK15 Welcome live since Oct 6; SMS Welcome on the way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store dashboard (Jan 1 – Oct 13, 2026), Klaviyo, Google Ads (brand return estimated) and Meta Ads Manager.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October 9 commitments: status by brand</a:t>
            </a:r>
            <a:endParaRPr lang="en-US" sz="2600" dirty="0"/>
          </a:p>
        </p:txBody>
      </p:sp>
      <p:graphicFrame>
        <p:nvGraphicFramePr>
          <p:cNvPr id="6" name="Commitment track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40280"/>
                <a:gridCol w="777240"/>
                <a:gridCol w="4251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stands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New-customer campaign on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since Oct 5. On Oct 13 we trimmed its budget ($1,000 → $800) due to a high cost per purchase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 vs. No-Offer A/B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Oct 6; 10%-off new-customer ad sets launched Oct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Smile / W10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List-based and lookalike audiences live on Meta; $210 invested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Day email and SMS (Oct 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to 6,770 emails and 308 SMS: 7 orders, $585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Sale VIP 20% / list 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track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sends built: launch Oct 15, reminder Oct 16, last call Oct 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→ Subscription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setup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7B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in testing; not live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Ayoba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customers + Smile10 on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purchases at $26 each: the lowest cost per purchase in the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&amp; Barker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customers + new BARK15 Welcome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 live since Oct 7 (budget $200 → $300); Welcome live since Oct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3 brands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retargeting (added)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10: catalog ads to 90-day viewers and cart adders, excluding buyers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Meta: more volume, efficiency still being built</a:t>
            </a:r>
            <a:endParaRPr lang="en-US" sz="2600" dirty="0"/>
          </a:p>
        </p:txBody>
      </p:sp>
      <p:graphicFrame>
        <p:nvGraphicFramePr>
          <p:cNvPr id="3" name="Purchases chart" descr=""/>
          <p:cNvGraphicFramePr/>
          <p:nvPr/>
        </p:nvGraphicFramePr>
        <p:xfrm>
          <a:off x="457200" y="9601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working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371600"/>
            <a:ext cx="3749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Ayoba new customers: $26 per purchase, 1.6x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 dynamic retargeting: $26 per purchase, 2.9x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Beg &amp; Barker dynamic retargeting: 3.1x return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fixing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063240"/>
            <a:ext cx="3749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 new customers: $170 per purchase → budget trimmed on Oct 13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New retargeting (since Oct 10) is still learning; budget raised for Ayoba and Beg &amp; Barker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Meta Ads Manager, platform-attributed purchases and return. Excludes Google Ads and total store sales (see dashboards).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email and SMS are driving repeat sales</a:t>
            </a:r>
            <a:endParaRPr lang="en-US" sz="2600" dirty="0"/>
          </a:p>
        </p:txBody>
      </p:sp>
      <p:sp>
        <p:nvSpPr>
          <p:cNvPr id="3" name="Retention stat panel"/>
          <p:cNvSpPr/>
          <p:nvPr/>
        </p:nvSpPr>
        <p:spPr>
          <a:xfrm>
            <a:off x="457200" y="100584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$2,074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in email and SMS-attributed sales,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Oct 1–14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orders; 17 came in automatically through flows</a:t>
            </a:r>
            <a:endParaRPr lang="en-US" sz="1200" dirty="0"/>
          </a:p>
        </p:txBody>
      </p:sp>
      <p:graphicFrame>
        <p:nvGraphicFramePr>
          <p:cNvPr id="8" name="Sales by program chart" descr=""/>
          <p:cNvGraphicFramePr/>
          <p:nvPr/>
        </p:nvGraphicFramePr>
        <p:xfrm>
          <a:off x="3840480" y="96012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Game Day had a 60% open rate. The Subscribe &amp; Save and Second Order flows have been live since Oct 7.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Klaviyo (Brooklyn Biltong), platform-attributed orders.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do this week</a:t>
            </a:r>
            <a:endParaRPr lang="en-US" sz="26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Plan dot 1"/>
          <p:cNvSpPr/>
          <p:nvPr/>
        </p:nvSpPr>
        <p:spPr>
          <a:xfrm>
            <a:off x="640080" y="118872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 Biltong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Fast Sale: VIP 20% and list 15% (Oct 15), reminder Oct 16, last call Oct 18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dynamic retargeting and Smile; tune new-customer campaigns by cost per purchase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Restore email frequency and activate the Recurring → Subscription flow</a:t>
            </a:r>
            <a:endParaRPr lang="en-US" sz="1100" dirty="0"/>
          </a:p>
        </p:txBody>
      </p:sp>
      <p:sp>
        <p:nvSpPr>
          <p:cNvPr id="7" name="Plan card 2"/>
          <p:cNvSpPr/>
          <p:nvPr/>
        </p:nvSpPr>
        <p:spPr>
          <a:xfrm>
            <a:off x="324612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Plan dot 2"/>
          <p:cNvSpPr/>
          <p:nvPr/>
        </p:nvSpPr>
        <p:spPr>
          <a:xfrm>
            <a:off x="342900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9476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Ayoba Foods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the new-customer campaign, the lowest cost per purchase in the portfolio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Activate the retention flows so they run automatically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Campaigns: Spicy Taco Night, Droëwors Oktoberfest and Cabin Weekend</a:t>
            </a:r>
            <a:endParaRPr lang="en-US" sz="1100" dirty="0"/>
          </a:p>
        </p:txBody>
      </p:sp>
      <p:sp>
        <p:nvSpPr>
          <p:cNvPr id="11" name="Plan card 3"/>
          <p:cNvSpPr/>
          <p:nvPr/>
        </p:nvSpPr>
        <p:spPr>
          <a:xfrm>
            <a:off x="603504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Plan dot 3"/>
          <p:cNvSpPr/>
          <p:nvPr/>
        </p:nvSpPr>
        <p:spPr>
          <a:xfrm>
            <a:off x="621792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the new-customer campaign as it gathers data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Launch the SMS Welcome Series and track the new BARK15 Welcome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Sustain dynamic retargeting at its new budget</a:t>
            </a:r>
            <a:endParaRPr lang="en-US" sz="1100" dirty="0"/>
          </a:p>
        </p:txBody>
      </p:sp>
      <p:sp>
        <p:nvSpPr>
          <p:cNvPr id="15" name="Follow-up panel"/>
          <p:cNvSpPr/>
          <p:nvPr/>
        </p:nvSpPr>
        <p:spPr>
          <a:xfrm>
            <a:off x="457200" y="356616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657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follow-up: October 21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We'll share the results of Brooklyn's Fast Sale (sales, orders, and VIP vs. list response) and how the new-customer campaigns are progressing across all 3 brands.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mberg Status">
  <a:themeElements>
    <a:clrScheme name="Stormberg Status">
      <a:dk1>
        <a:srgbClr val="2A1F1C"/>
      </a:dk1>
      <a:lt1>
        <a:srgbClr val="FFFFFF"/>
      </a:lt1>
      <a:dk2>
        <a:srgbClr val="5A3A2E"/>
      </a:dk2>
      <a:lt2>
        <a:srgbClr val="F3EEE9"/>
      </a:lt2>
      <a:accent1>
        <a:srgbClr val="B4472B"/>
      </a:accent1>
      <a:accent2>
        <a:srgbClr val="2E6B4F"/>
      </a:accent2>
      <a:accent3>
        <a:srgbClr val="C98418"/>
      </a:accent3>
      <a:accent4>
        <a:srgbClr val="8C7B70"/>
      </a:accent4>
      <a:accent5>
        <a:srgbClr val="6E2A1E"/>
      </a:accent5>
      <a:accent6>
        <a:srgbClr val="C9B8A6"/>
      </a:accent6>
      <a:hlink>
        <a:srgbClr val="B4472B"/>
      </a:hlink>
      <a:folHlink>
        <a:srgbClr val="6E2A1E"/>
      </a:folHlink>
    </a:clrScheme>
    <a:fontScheme name="Stormberg Stat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Stormberg Foods: October progress</dc:title>
  <dc:subject>PptxGenJS Presentation</dc:subject>
  <dc:creator>Rebold</dc:creator>
  <cp:lastModifiedBy>Rebold</cp:lastModifiedBy>
  <cp:revision>1</cp:revision>
  <dcterms:created xsi:type="dcterms:W3CDTF">2026-10-14T15:25:37Z</dcterms:created>
  <dcterms:modified xsi:type="dcterms:W3CDTF">2026-10-14T15:25:37Z</dcterms:modified>
</cp:coreProperties>
</file>