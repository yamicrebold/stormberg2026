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9ecf753d-1bb6-adcf-ef2a-cf6564627a3c}">
          <p14:sldIdLst>
            <p14:sldId id="256"/>
            <p14:sldId id="257"/>
          </p14:sldIdLst>
        </p14:section>
        <p14:section name="Brooklyn Biltong" id="{901a8476-8dba-448a-1e71-64fff3452984}">
          <p14:sldIdLst>
            <p14:sldId id="258"/>
            <p14:sldId id="259"/>
            <p14:sldId id="260"/>
            <p14:sldId id="261"/>
          </p14:sldIdLst>
        </p14:section>
        <p14:section name="Beg &amp; Barker" id="{4d786e51-00b4-e2a2-c9df-5c99ae5573ff}">
          <p14:sldIdLst>
            <p14:sldId id="262"/>
            <p14:sldId id="263"/>
          </p14:sldIdLst>
        </p14:section>
        <p14:section name="Ayoba Foods" id="{e460dc3c-6349-e2fa-7dfb-b78470355d36}">
          <p14:sldIdLst>
            <p14:sldId id="264"/>
            <p14:sldId id="265"/>
          </p14:sldIdLst>
        </p14:section>
        <p14:section name="Next steps" id="{4cfa552e-3ab0-33c7-f39a-b4b56554a69b}">
          <p14:sldIdLst>
            <p14:sldId id="266"/>
          </p14:sldIdLst>
        </p14:section>
        <p14:section name="Appendix" id="{4e861d66-ecd1-b61c-9530-c7876b1b7de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Brooklyn store daily sales (USD)</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C9B8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Sheet1!$B$2:$B$14</c:f>
              <c:numCache>
                <c:formatCode>General</c:formatCode>
                <c:ptCount val="13"/>
                <c:pt idx="0">
                  <c:v>1375</c:v>
                </c:pt>
                <c:pt idx="1">
                  <c:v>525</c:v>
                </c:pt>
                <c:pt idx="2">
                  <c:v>854</c:v>
                </c:pt>
                <c:pt idx="3">
                  <c:v>931</c:v>
                </c:pt>
                <c:pt idx="4">
                  <c:v>698</c:v>
                </c:pt>
                <c:pt idx="5">
                  <c:v>1485</c:v>
                </c:pt>
                <c:pt idx="6">
                  <c:v>739</c:v>
                </c:pt>
                <c:pt idx="7">
                  <c:v>777</c:v>
                </c:pt>
                <c:pt idx="8">
                  <c:v>885</c:v>
                </c:pt>
                <c:pt idx="9">
                  <c:v>0</c:v>
                </c:pt>
                <c:pt idx="10">
                  <c:v>0</c:v>
                </c:pt>
                <c:pt idx="11">
                  <c:v>0</c:v>
                </c:pt>
                <c:pt idx="12">
                  <c:v>866</c:v>
                </c:pt>
              </c:numCache>
            </c:numRef>
          </c:val>
        </c:ser>
        <c:ser>
          <c:idx val="1"/>
          <c:order val="1"/>
          <c:tx>
            <c:strRef>
              <c:f>Sheet1!$C$1</c:f>
              <c:strCache>
                <c:ptCount val="1"/>
                <c:pt idx="0">
                  <c:v>hl</c:v>
                </c:pt>
              </c:strCache>
            </c:strRef>
          </c:tx>
          <c:spPr>
            <a:solidFill>
              <a:srgbClr val="2E6B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Sheet1!$C$2:$C$14</c:f>
              <c:numCache>
                <c:formatCode>General</c:formatCode>
                <c:ptCount val="13"/>
                <c:pt idx="0">
                  <c:v>0</c:v>
                </c:pt>
                <c:pt idx="1">
                  <c:v>0</c:v>
                </c:pt>
                <c:pt idx="2">
                  <c:v>0</c:v>
                </c:pt>
                <c:pt idx="3">
                  <c:v>0</c:v>
                </c:pt>
                <c:pt idx="4">
                  <c:v>0</c:v>
                </c:pt>
                <c:pt idx="5">
                  <c:v>0</c:v>
                </c:pt>
                <c:pt idx="6">
                  <c:v>0</c:v>
                </c:pt>
                <c:pt idx="7">
                  <c:v>0</c:v>
                </c:pt>
                <c:pt idx="8">
                  <c:v>0</c:v>
                </c:pt>
                <c:pt idx="9">
                  <c:v>1569</c:v>
                </c:pt>
                <c:pt idx="10">
                  <c:v>1637</c:v>
                </c:pt>
                <c:pt idx="11">
                  <c:v>2030</c:v>
                </c:pt>
                <c:pt idx="1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2500"/>
        </c:scaling>
        <c:delete val="0"/>
        <c:axPos val="l"/>
        <c:majorGridlines>
          <c:spPr>
            <a:ln w="9525" cap="flat">
              <a:solidFill>
                <a:srgbClr val="F3EEE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7B70"/>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Monthly media investment (USD)</a:t>
            </a:r>
          </a:p>
        </c:rich>
      </c:tx>
      <c:layout/>
      <c:overlay val="0"/>
    </c:title>
    <c:autoTitleDeleted val="0"/>
    <c:plotArea>
      <c:layout/>
      <c:barChart>
        <c:barDir val="col"/>
        <c:grouping val="clustered"/>
        <c:varyColors val="0"/>
        <c:ser>
          <c:idx val="0"/>
          <c:order val="0"/>
          <c:tx>
            <c:strRef>
              <c:f>Sheet1!$B$1</c:f>
              <c:strCache>
                <c:ptCount val="1"/>
                <c:pt idx="0">
                  <c:v>Monthly media investment (USD)</c:v>
                </c:pt>
              </c:strCache>
            </c:strRef>
          </c:tx>
          <c:spPr>
            <a:solidFill>
              <a:srgbClr val="8C7B70"/>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May</c:v>
                  </c:pt>
                  <c:pt idx="1">
                    <c:v>September</c:v>
                  </c:pt>
                  <c:pt idx="2">
                    <c:v>October</c:v>
                  </c:pt>
                </c:lvl>
              </c:multiLvlStrCache>
            </c:multiLvlStrRef>
          </c:cat>
          <c:val>
            <c:numRef>
              <c:f>Sheet1!$B$2:$B$4</c:f>
              <c:numCache>
                <c:formatCode>General</c:formatCode>
                <c:ptCount val="3"/>
                <c:pt idx="0">
                  <c:v>13000</c:v>
                </c:pt>
                <c:pt idx="1">
                  <c:v>7100</c:v>
                </c:pt>
                <c:pt idx="2">
                  <c:v>6300</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15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Sales by program (USD)</a:t>
            </a:r>
          </a:p>
        </c:rich>
      </c:tx>
      <c:layout/>
      <c:overlay val="0"/>
    </c:title>
    <c:autoTitleDeleted val="0"/>
    <c:plotArea>
      <c:layout/>
      <c:barChart>
        <c:barDir val="bar"/>
        <c:grouping val="clustered"/>
        <c:varyColors val="0"/>
        <c:ser>
          <c:idx val="0"/>
          <c:order val="0"/>
          <c:tx>
            <c:strRef>
              <c:f>Sheet1!$B$1</c:f>
              <c:strCache>
                <c:ptCount val="1"/>
                <c:pt idx="0">
                  <c:v>Sales by program (USD)</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Sheet1!$A$2:$A$7</c:f>
              <c:multiLvlStrCache>
                <c:ptCount val="6"/>
                <c:lvl>
                  <c:pt idx="0">
                    <c:v>Other flows and sends</c:v>
                  </c:pt>
                  <c:pt idx="1">
                    <c:v>$10-off reminder</c:v>
                  </c:pt>
                  <c:pt idx="2">
                    <c:v>Win-back</c:v>
                  </c:pt>
                  <c:pt idx="3">
                    <c:v>SMS Welcome</c:v>
                  </c:pt>
                  <c:pt idx="4">
                    <c:v>Game Day (email + SMS)</c:v>
                  </c:pt>
                  <c:pt idx="5">
                    <c:v>First-purchase flow</c:v>
                  </c:pt>
                </c:lvl>
              </c:multiLvlStrCache>
            </c:multiLvlStrRef>
          </c:cat>
          <c:val>
            <c:numRef>
              <c:f>Sheet1!$B$2:$B$7</c:f>
              <c:numCache>
                <c:formatCode>General</c:formatCode>
                <c:ptCount val="6"/>
                <c:pt idx="0">
                  <c:v>266</c:v>
                </c:pt>
                <c:pt idx="1">
                  <c:v>145</c:v>
                </c:pt>
                <c:pt idx="2">
                  <c:v>166</c:v>
                </c:pt>
                <c:pt idx="3">
                  <c:v>265</c:v>
                </c:pt>
                <c:pt idx="4">
                  <c:v>585</c:v>
                </c:pt>
                <c:pt idx="5">
                  <c:v>647</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Meta-attributed purchases by brand</a:t>
            </a:r>
          </a:p>
        </c:rich>
      </c:tx>
      <c:layout/>
      <c:overlay val="0"/>
    </c:title>
    <c:autoTitleDeleted val="0"/>
    <c:plotArea>
      <c:layout/>
      <c:barChart>
        <c:barDir val="col"/>
        <c:grouping val="clustered"/>
        <c:varyColors val="0"/>
        <c:ser>
          <c:idx val="0"/>
          <c:order val="0"/>
          <c:tx>
            <c:strRef>
              <c:f>Sheet1!$B$1</c:f>
              <c:strCache>
                <c:ptCount val="1"/>
                <c:pt idx="0">
                  <c:v>Oct 1–5 (5 days)</c:v>
                </c:pt>
              </c:strCache>
            </c:strRef>
          </c:tx>
          <c:spPr>
            <a:solidFill>
              <a:srgbClr val="C9B8A6"/>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Sheet1!$B$2:$B$4</c:f>
              <c:numCache>
                <c:formatCode>General</c:formatCode>
                <c:ptCount val="3"/>
                <c:pt idx="0">
                  <c:v>0</c:v>
                </c:pt>
                <c:pt idx="1">
                  <c:v>1</c:v>
                </c:pt>
                <c:pt idx="2">
                  <c:v>1</c:v>
                </c:pt>
              </c:numCache>
            </c:numRef>
          </c:val>
        </c:ser>
        <c:ser>
          <c:idx val="1"/>
          <c:order val="1"/>
          <c:tx>
            <c:strRef>
              <c:f>Sheet1!$C$1</c:f>
              <c:strCache>
                <c:ptCount val="1"/>
                <c:pt idx="0">
                  <c:v>Oct 6–13 (8 days)</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Sheet1!$C$2:$C$4</c:f>
              <c:numCache>
                <c:formatCode>General</c:formatCode>
                <c:ptCount val="3"/>
                <c:pt idx="0">
                  <c:v>9</c:v>
                </c:pt>
                <c:pt idx="1">
                  <c:v>4</c:v>
                </c:pt>
                <c:pt idx="2">
                  <c:v>2</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A1F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thanking him for his time. This is the follow-up to the October 1–9 email: what we did, what we see in the data, and what we'll do this week for each brand. We're not asking for decisions; we're sharing the plan and will report results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how we work: we don't stop at what an AI tool says; we go into the dashboard and each platform to understand what drives every number. From that, there's one message per brand. Brooklyn: we held the margin on half the investment, and now the challenge is growing sales. Beg &amp; Barker: it's efficient, but competing in search is very hard, so we're shifting focus to new customers with promos and to Amazon. Ayoba: traffic is good, but the website converts poorly, so we propose testing toward Amazon.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Brooklyn is the brand responding best. From October 10 to 12 it sold $1,745 a day, nearly double the first nine days of the month, right as we turned Meta on. The adjusted flows now earn five times more per recipient than in September, Smile is growing since we started promoting it, and subscriptions are up. On Google, Brand and PMax had a very strong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we cut investment from $13K in May to $7.1K in September and $6.3K in October, and the margin held. Subscriptions and value per purchase went up. Conversion fell from 2.54% to 2.16%, but that's traffic: sessions dropped 11%. Meta retargeting does what it should, with an indirect lift on the other campaigns. In email we'll send more, more focused messages. The next step is growing sales, and it starts tomorrow with the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and SMS are already driving repeat sales: $2,074 and 31 orders from October 1 to 14, 17 of them from automated flows. Game Day had a 60% open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what's coming in email for Brooklyn. First, the customer journey: each order moves the customer to the next flow, from the first order to the VIP Welcome and the anniversary, and if they stop buying they enter the right Win-Back. We're adding five new flows: Browse Abandonment, the fastest to drive sales; Replenishment timed to the pack they bought; VIP Welcome at the third order, with no discount; Anniversary; and Win-Back B for 2,493 lapsed repeat buyers. We're also moving to simultaneous hyper-segmented campaigns: several campaigns on the same day, each to its own group, with nobody getting two. We start this week, right after the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 &amp; Barker has a solid base: $89.9K in sales this year, 44% from subscription renewals, steady month-to-month sales, and flows that earn 13 times more than campaigns. Brand search is Google's most profitable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transparent: sales are 35% below last month. Efficiency is good, but investment is low, and search is very hard to compete in. So the focus is efficiency with new-customer growth through promos, not brand, and shifting paid media toward Amazon while measuring its contribution: full-page branding that goes straight to Amazon, plus catalog and retargeting. On Facebook we don't recommend continuing at the current level: Meta weighs twice as much as Google with a low return, so we're lowering its budget and monitoring its indirect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has the highest ticket in the portfolio, $91 per order, a 60% gross margin, and $4.20 in sales for every dollar invested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is similar: it sells very little on the website. Incoming traffic is good, but the shopping experience holds conversion back. October is at $3.1K with a 3.6x blended return. 58% of customers are repeat buyers; the challenge is new-customer volume. The proposal is an A/B test: a brand campaign toward Amazon to measure the result, with the goal of adding 10% to Amazon sales. We keep web spend low and optimized, and replicate Brooklyn's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this week's plan by brand and the follow-up commitment: on October 21 we'll share the results of Brooklyn's Fast Sale and the first read of the Amazon tests. No decisions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appendix: status of each commitment from the October 9 email.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appendix: Meta detail by brand.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200" b="1" spc="3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rtlCol="0"/>
          <a:lstStyle>
            <a:lvl1pPr indent="0" marL="0">
              <a:buNone/>
              <a:defRPr lang="en-US" sz="1200" dirty="0">
                <a:solidFill>
                  <a:schemeClr val="accent6"/>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4"/>
                </a:solidFill>
              </a:rPr>
              <a:t>Stormberg Foods · October status update · Data as of October 13,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200" b="1" spc="300" kern="0" dirty="0">
                <a:solidFill>
                  <a:schemeClr val="accent6"/>
                </a:solidFill>
              </a:rPr>
              <a:t>EXECUTIVE STATUS</a:t>
            </a: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Stormberg Foods: October progress</a:t>
            </a: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lIns="0" tIns="0" rIns="0" bIns="0" rtlCol="0" anchor="t"/>
          <a:lstStyle/>
          <a:p>
            <a:pPr indent="0" marL="0">
              <a:buNone/>
            </a:pPr>
            <a:r>
              <a:rPr lang="en-US" sz="1500" dirty="0">
                <a:solidFill>
                  <a:schemeClr val="accent6"/>
                </a:solidFill>
              </a:rPr>
              <a:t>Follow-up on the commitments in the October 1–9 update</a:t>
            </a:r>
            <a:endParaRPr lang="en-US" sz="1500" dirty="0"/>
          </a:p>
          <a:p>
            <a:pPr indent="0" marL="0">
              <a:buNone/>
            </a:pPr>
            <a:r>
              <a:rPr lang="en-US" sz="1500" dirty="0">
                <a:solidFill>
                  <a:schemeClr val="accent6"/>
                </a:solidFill>
              </a:rPr>
              <a:t>Brooklyn Biltong · Ayoba Foods · Beg &amp; Barker</a:t>
            </a: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lIns="0" tIns="0" rIns="0" bIns="0" rtlCol="0"/>
          <a:lstStyle/>
          <a:p>
            <a:pPr indent="0" marL="0">
              <a:buNone/>
            </a:pPr>
            <a:r>
              <a:rPr lang="en-US" sz="1200" dirty="0">
                <a:solidFill>
                  <a:schemeClr val="accent6"/>
                </a:solidFill>
              </a:rPr>
              <a:t>October 14, 2026</a:t>
            </a:r>
            <a:endParaRPr lang="en-US" sz="1200" dirty="0"/>
          </a:p>
        </p:txBody>
      </p:sp>
      <p:sp>
        <p:nvSpPr>
          <p:cNvPr id="6" name="Motif circle"/>
          <p:cNvSpPr/>
          <p:nvPr/>
        </p:nvSpPr>
        <p:spPr>
          <a:xfrm>
            <a:off x="7498080" y="3566160"/>
            <a:ext cx="1097280" cy="1097280"/>
          </a:xfrm>
          <a:prstGeom prst="ellipse">
            <a:avLst/>
          </a:prstGeom>
          <a:solidFill>
            <a:schemeClr val="accent1"/>
          </a:solidFill>
          <a:ln/>
        </p:spPr>
      </p:sp>
      <p:sp>
        <p:nvSpPr>
          <p:cNvPr id="7" name="Motif circle small"/>
          <p:cNvSpPr/>
          <p:nvPr/>
        </p:nvSpPr>
        <p:spPr>
          <a:xfrm>
            <a:off x="7086600" y="4069080"/>
            <a:ext cx="548640" cy="54864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One focus: efficiency and profitable growth</a:t>
            </a:r>
            <a:endParaRPr lang="en-US" sz="2600" dirty="0"/>
          </a:p>
        </p:txBody>
      </p:sp>
      <p:sp>
        <p:nvSpPr>
          <p:cNvPr id="3" name="Stat card 1"/>
          <p:cNvSpPr/>
          <p:nvPr/>
        </p:nvSpPr>
        <p:spPr>
          <a:xfrm>
            <a:off x="457200" y="1051560"/>
            <a:ext cx="3291840" cy="1005840"/>
          </a:xfrm>
          <a:prstGeom prst="roundRect">
            <a:avLst>
              <a:gd name="adj" fmla="val 7273"/>
            </a:avLst>
          </a:prstGeom>
          <a:solidFill>
            <a:schemeClr val="bg2"/>
          </a:solidFill>
          <a:ln/>
        </p:spPr>
      </p:sp>
      <p:sp>
        <p:nvSpPr>
          <p:cNvPr id="4" name="Text 2"/>
          <p:cNvSpPr txBox="1"/>
          <p:nvPr/>
        </p:nvSpPr>
        <p:spPr>
          <a:xfrm>
            <a:off x="640080" y="114300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accent1"/>
                </a:solidFill>
                <a:latin typeface="Cambria" pitchFamily="34" charset="0"/>
                <a:ea typeface="Cambria" pitchFamily="34" charset="-122"/>
                <a:cs typeface="Cambria" pitchFamily="34" charset="-120"/>
              </a:rPr>
              <a:t>+90%</a:t>
            </a:r>
            <a:endParaRPr lang="en-US" sz="2800" dirty="0"/>
          </a:p>
        </p:txBody>
      </p:sp>
      <p:sp>
        <p:nvSpPr>
          <p:cNvPr id="5" name="Text 3"/>
          <p:cNvSpPr txBox="1"/>
          <p:nvPr/>
        </p:nvSpPr>
        <p:spPr>
          <a:xfrm>
            <a:off x="2103120" y="1143000"/>
            <a:ext cx="1554480" cy="822960"/>
          </a:xfrm>
          <a:prstGeom prst="rect">
            <a:avLst/>
          </a:prstGeom>
          <a:noFill/>
          <a:ln/>
        </p:spPr>
        <p:txBody>
          <a:bodyPr wrap="square" lIns="0" tIns="0" rIns="0" bIns="0" rtlCol="0" anchor="ctr"/>
          <a:lstStyle/>
          <a:p>
            <a:pPr indent="0" marL="0">
              <a:buNone/>
            </a:pPr>
            <a:r>
              <a:rPr lang="en-US" sz="1100" dirty="0">
                <a:solidFill>
                  <a:schemeClr val="tx1"/>
                </a:solidFill>
              </a:rPr>
              <a:t>Brooklyn daily sales</a:t>
            </a:r>
            <a:endParaRPr lang="en-US" sz="1100" dirty="0"/>
          </a:p>
          <a:p>
            <a:pPr indent="0" marL="0">
              <a:buNone/>
            </a:pPr>
            <a:r>
              <a:rPr lang="en-US" sz="1100" dirty="0">
                <a:solidFill>
                  <a:schemeClr val="tx1"/>
                </a:solidFill>
              </a:rPr>
              <a:t>Oct 10–12 vs. Oct 1–9</a:t>
            </a:r>
            <a:endParaRPr lang="en-US" sz="1100" dirty="0"/>
          </a:p>
        </p:txBody>
      </p:sp>
      <p:sp>
        <p:nvSpPr>
          <p:cNvPr id="6" name="Stat card 2"/>
          <p:cNvSpPr/>
          <p:nvPr/>
        </p:nvSpPr>
        <p:spPr>
          <a:xfrm>
            <a:off x="457200" y="2240280"/>
            <a:ext cx="3291840" cy="1005840"/>
          </a:xfrm>
          <a:prstGeom prst="roundRect">
            <a:avLst>
              <a:gd name="adj" fmla="val 7273"/>
            </a:avLst>
          </a:prstGeom>
          <a:solidFill>
            <a:schemeClr val="bg2"/>
          </a:solidFill>
          <a:ln/>
        </p:spPr>
      </p:sp>
      <p:sp>
        <p:nvSpPr>
          <p:cNvPr id="7" name="Text 5"/>
          <p:cNvSpPr txBox="1"/>
          <p:nvPr/>
        </p:nvSpPr>
        <p:spPr>
          <a:xfrm>
            <a:off x="640080" y="2331720"/>
            <a:ext cx="1417320" cy="822960"/>
          </a:xfrm>
          <a:prstGeom prst="rect">
            <a:avLst/>
          </a:prstGeom>
          <a:noFill/>
          <a:ln/>
        </p:spPr>
        <p:txBody>
          <a:bodyPr wrap="square" lIns="0" tIns="0" rIns="0" bIns="0" rtlCol="0" anchor="ctr">
            <a:normAutofit/>
          </a:bodyPr>
          <a:lstStyle/>
          <a:p>
            <a:pPr indent="0" marL="0">
              <a:buNone/>
            </a:pPr>
            <a:r>
              <a:rPr lang="en-US" sz="1800" b="1" dirty="0">
                <a:solidFill>
                  <a:schemeClr val="accent2"/>
                </a:solidFill>
                <a:latin typeface="Cambria" pitchFamily="34" charset="0"/>
                <a:ea typeface="Cambria" pitchFamily="34" charset="-122"/>
                <a:cs typeface="Cambria" pitchFamily="34" charset="-120"/>
              </a:rPr>
              <a:t>$13K → $6.3K</a:t>
            </a:r>
            <a:endParaRPr lang="en-US" sz="1800" dirty="0"/>
          </a:p>
        </p:txBody>
      </p:sp>
      <p:sp>
        <p:nvSpPr>
          <p:cNvPr id="8" name="Text 6"/>
          <p:cNvSpPr txBox="1"/>
          <p:nvPr/>
        </p:nvSpPr>
        <p:spPr>
          <a:xfrm>
            <a:off x="2103120" y="2331720"/>
            <a:ext cx="1554480" cy="822960"/>
          </a:xfrm>
          <a:prstGeom prst="rect">
            <a:avLst/>
          </a:prstGeom>
          <a:noFill/>
          <a:ln/>
        </p:spPr>
        <p:txBody>
          <a:bodyPr wrap="square" lIns="0" tIns="0" rIns="0" bIns="0" rtlCol="0" anchor="ctr"/>
          <a:lstStyle/>
          <a:p>
            <a:pPr indent="0" marL="0">
              <a:buNone/>
            </a:pPr>
            <a:r>
              <a:rPr lang="en-US" sz="1100" dirty="0">
                <a:solidFill>
                  <a:schemeClr val="tx1"/>
                </a:solidFill>
              </a:rPr>
              <a:t>Brooklyn investment</a:t>
            </a:r>
            <a:endParaRPr lang="en-US" sz="1100" dirty="0"/>
          </a:p>
          <a:p>
            <a:pPr indent="0" marL="0">
              <a:buNone/>
            </a:pPr>
            <a:r>
              <a:rPr lang="en-US" sz="1100" dirty="0">
                <a:solidFill>
                  <a:schemeClr val="tx1"/>
                </a:solidFill>
              </a:rPr>
              <a:t>May vs. Oct, steady margin</a:t>
            </a:r>
            <a:endParaRPr lang="en-US" sz="1100" dirty="0"/>
          </a:p>
        </p:txBody>
      </p:sp>
      <p:sp>
        <p:nvSpPr>
          <p:cNvPr id="9" name="Stat card 3"/>
          <p:cNvSpPr/>
          <p:nvPr/>
        </p:nvSpPr>
        <p:spPr>
          <a:xfrm>
            <a:off x="457200" y="3429000"/>
            <a:ext cx="3291840" cy="1005840"/>
          </a:xfrm>
          <a:prstGeom prst="roundRect">
            <a:avLst>
              <a:gd name="adj" fmla="val 7273"/>
            </a:avLst>
          </a:prstGeom>
          <a:solidFill>
            <a:schemeClr val="bg2"/>
          </a:solidFill>
          <a:ln/>
        </p:spPr>
      </p:sp>
      <p:sp>
        <p:nvSpPr>
          <p:cNvPr id="10" name="Text 8"/>
          <p:cNvSpPr txBox="1"/>
          <p:nvPr/>
        </p:nvSpPr>
        <p:spPr>
          <a:xfrm>
            <a:off x="640080" y="352044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58%</a:t>
            </a:r>
            <a:endParaRPr lang="en-US" sz="2800" dirty="0"/>
          </a:p>
        </p:txBody>
      </p:sp>
      <p:sp>
        <p:nvSpPr>
          <p:cNvPr id="11" name="Text 9"/>
          <p:cNvSpPr txBox="1"/>
          <p:nvPr/>
        </p:nvSpPr>
        <p:spPr>
          <a:xfrm>
            <a:off x="2103120" y="3520440"/>
            <a:ext cx="1554480" cy="822960"/>
          </a:xfrm>
          <a:prstGeom prst="rect">
            <a:avLst/>
          </a:prstGeom>
          <a:noFill/>
          <a:ln/>
        </p:spPr>
        <p:txBody>
          <a:bodyPr wrap="square" lIns="0" tIns="0" rIns="0" bIns="0" rtlCol="0" anchor="ctr"/>
          <a:lstStyle/>
          <a:p>
            <a:pPr indent="0" marL="0">
              <a:buNone/>
            </a:pPr>
            <a:r>
              <a:rPr lang="en-US" sz="1100" dirty="0">
                <a:solidFill>
                  <a:schemeClr val="tx1"/>
                </a:solidFill>
              </a:rPr>
              <a:t>Of Ayoba's customers</a:t>
            </a:r>
            <a:endParaRPr lang="en-US" sz="1100" dirty="0"/>
          </a:p>
          <a:p>
            <a:pPr indent="0" marL="0">
              <a:buNone/>
            </a:pPr>
            <a:r>
              <a:rPr lang="en-US" sz="1100" dirty="0">
                <a:solidFill>
                  <a:schemeClr val="tx1"/>
                </a:solidFill>
              </a:rPr>
              <a:t>are repeat customers</a:t>
            </a:r>
            <a:endParaRPr lang="en-US" sz="1100" dirty="0"/>
          </a:p>
        </p:txBody>
      </p:sp>
      <p:sp>
        <p:nvSpPr>
          <p:cNvPr id="12" name="Text 10"/>
          <p:cNvSpPr txBox="1"/>
          <p:nvPr/>
        </p:nvSpPr>
        <p:spPr>
          <a:xfrm>
            <a:off x="4114800" y="1051560"/>
            <a:ext cx="45720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message by brand</a:t>
            </a:r>
            <a:endParaRPr lang="en-US" sz="1800" dirty="0"/>
          </a:p>
        </p:txBody>
      </p:sp>
      <p:sp>
        <p:nvSpPr>
          <p:cNvPr id="13" name="Text 11"/>
          <p:cNvSpPr txBox="1"/>
          <p:nvPr/>
        </p:nvSpPr>
        <p:spPr>
          <a:xfrm>
            <a:off x="4114800" y="1508760"/>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300" b="1" dirty="0">
                <a:solidFill>
                  <a:schemeClr val="accent1"/>
                </a:solidFill>
              </a:rPr>
              <a:t>How we read the data: </a:t>
            </a:r>
            <a:pPr indent="0" marL="0">
              <a:buNone/>
            </a:pPr>
            <a:r>
              <a:rPr lang="en-US" sz="1300" dirty="0">
                <a:solidFill>
                  <a:schemeClr val="tx1"/>
                </a:solidFill>
              </a:rPr>
              <a:t>we combine the dashboard with each platform's analytics; not just AI, we look for the insights behind every number.</a:t>
            </a:r>
            <a:endParaRPr lang="en-US" sz="1300" dirty="0"/>
          </a:p>
          <a:p>
            <a:pPr marL="342900" indent="-342900">
              <a:spcAft>
                <a:spcPts val="1000"/>
              </a:spcAft>
              <a:buSzPct val="100000"/>
              <a:buChar char="•"/>
            </a:pPr>
            <a:r>
              <a:rPr lang="en-US" sz="1300" b="1" dirty="0">
                <a:solidFill>
                  <a:schemeClr val="accent1"/>
                </a:solidFill>
              </a:rPr>
              <a:t>Brooklyn: </a:t>
            </a:r>
            <a:pPr indent="0" marL="0">
              <a:buNone/>
            </a:pPr>
            <a:r>
              <a:rPr lang="en-US" sz="1300" dirty="0">
                <a:solidFill>
                  <a:schemeClr val="tx1"/>
                </a:solidFill>
              </a:rPr>
              <a:t>we cut investment in half and the margin held. Now the focus is sales growth, starting with tomorrow's Fast Sale.</a:t>
            </a:r>
            <a:endParaRPr lang="en-US" sz="1300" dirty="0"/>
          </a:p>
          <a:p>
            <a:pPr marL="342900" indent="-342900">
              <a:spcAft>
                <a:spcPts val="1000"/>
              </a:spcAft>
              <a:buSzPct val="100000"/>
              <a:buChar char="•"/>
            </a:pPr>
            <a:r>
              <a:rPr lang="en-US" sz="1300" b="1" dirty="0">
                <a:solidFill>
                  <a:schemeClr val="accent1"/>
                </a:solidFill>
              </a:rPr>
              <a:t>Beg &amp; Barker: </a:t>
            </a:r>
            <a:pPr indent="0" marL="0">
              <a:buNone/>
            </a:pPr>
            <a:r>
              <a:rPr lang="en-US" sz="1300" dirty="0">
                <a:solidFill>
                  <a:schemeClr val="tx1"/>
                </a:solidFill>
              </a:rPr>
              <a:t>it's efficient, but search is very hard to compete in. We're focusing paid media on new customers with promos and on Amazon.</a:t>
            </a:r>
            <a:endParaRPr lang="en-US" sz="1300" dirty="0"/>
          </a:p>
          <a:p>
            <a:pPr marL="342900" indent="-342900">
              <a:spcAft>
                <a:spcPts val="1000"/>
              </a:spcAft>
              <a:buSzPct val="100000"/>
              <a:buChar char="•"/>
            </a:pPr>
            <a:r>
              <a:rPr lang="en-US" sz="1300" b="1" dirty="0">
                <a:solidFill>
                  <a:schemeClr val="accent1"/>
                </a:solidFill>
              </a:rPr>
              <a:t>Ayoba: </a:t>
            </a:r>
            <a:pPr indent="0" marL="0">
              <a:buNone/>
            </a:pPr>
            <a:r>
              <a:rPr lang="en-US" sz="1300" dirty="0">
                <a:solidFill>
                  <a:schemeClr val="tx1"/>
                </a:solidFill>
              </a:rPr>
              <a:t>traffic is good but the website converts poorly. We propose an Amazon test and replicating Brooklyn's strategy.</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positive signals from the last week</a:t>
            </a:r>
            <a:endParaRPr lang="en-US" sz="2600" dirty="0"/>
          </a:p>
        </p:txBody>
      </p:sp>
      <p:graphicFrame>
        <p:nvGraphicFramePr>
          <p:cNvPr id="3" name="Daily sales chart" descr=""/>
          <p:cNvGraphicFramePr/>
          <p:nvPr/>
        </p:nvGraphicFramePr>
        <p:xfrm>
          <a:off x="457200" y="960120"/>
          <a:ext cx="4297680" cy="2514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611880"/>
            <a:ext cx="1828800" cy="685800"/>
          </a:xfrm>
          <a:prstGeom prst="rect">
            <a:avLst/>
          </a:prstGeom>
          <a:noFill/>
          <a:ln/>
        </p:spPr>
        <p:txBody>
          <a:bodyPr wrap="square" lIns="0" tIns="0" rIns="0" bIns="0" rtlCol="0" anchor="ctr">
            <a:normAutofit/>
          </a:bodyPr>
          <a:lstStyle/>
          <a:p>
            <a:pPr indent="0" marL="0">
              <a:buNone/>
            </a:pPr>
            <a:r>
              <a:rPr lang="en-US" sz="2800" b="1" dirty="0">
                <a:solidFill>
                  <a:schemeClr val="accent2"/>
                </a:solidFill>
                <a:latin typeface="Cambria" pitchFamily="34" charset="0"/>
                <a:ea typeface="Cambria" pitchFamily="34" charset="-122"/>
                <a:cs typeface="Cambria" pitchFamily="34" charset="-120"/>
              </a:rPr>
              <a:t>$4.5–5K</a:t>
            </a:r>
            <a:endParaRPr lang="en-US" sz="2800" dirty="0"/>
          </a:p>
        </p:txBody>
      </p:sp>
      <p:sp>
        <p:nvSpPr>
          <p:cNvPr id="5" name="Text 2"/>
          <p:cNvSpPr txBox="1"/>
          <p:nvPr/>
        </p:nvSpPr>
        <p:spPr>
          <a:xfrm>
            <a:off x="2377440" y="3611880"/>
            <a:ext cx="2377440" cy="685800"/>
          </a:xfrm>
          <a:prstGeom prst="rect">
            <a:avLst/>
          </a:prstGeom>
          <a:noFill/>
          <a:ln/>
        </p:spPr>
        <p:txBody>
          <a:bodyPr wrap="square" lIns="0" tIns="0" rIns="0" bIns="0" rtlCol="0" anchor="ctr"/>
          <a:lstStyle/>
          <a:p>
            <a:pPr indent="0" marL="0">
              <a:buNone/>
            </a:pPr>
            <a:r>
              <a:rPr lang="en-US" sz="1200" dirty="0">
                <a:solidFill>
                  <a:schemeClr val="tx1"/>
                </a:solidFill>
              </a:rPr>
              <a:t>in steady monthly profit since May, on nearly half the media investment</a:t>
            </a:r>
            <a:endParaRPr lang="en-US" sz="1200" dirty="0"/>
          </a:p>
        </p:txBody>
      </p:sp>
      <p:sp>
        <p:nvSpPr>
          <p:cNvPr id="6" name="Positive card 1"/>
          <p:cNvSpPr/>
          <p:nvPr/>
        </p:nvSpPr>
        <p:spPr>
          <a:xfrm>
            <a:off x="5029200" y="1005840"/>
            <a:ext cx="1783080" cy="1554480"/>
          </a:xfrm>
          <a:prstGeom prst="roundRect">
            <a:avLst>
              <a:gd name="adj" fmla="val 4706"/>
            </a:avLst>
          </a:prstGeom>
          <a:solidFill>
            <a:schemeClr val="bg2"/>
          </a:solidFill>
          <a:ln/>
        </p:spPr>
      </p:sp>
      <p:sp>
        <p:nvSpPr>
          <p:cNvPr id="7" name="Positive dot 1"/>
          <p:cNvSpPr/>
          <p:nvPr/>
        </p:nvSpPr>
        <p:spPr>
          <a:xfrm>
            <a:off x="5166360" y="1143000"/>
            <a:ext cx="256032" cy="256032"/>
          </a:xfrm>
          <a:prstGeom prst="ellipse">
            <a:avLst/>
          </a:prstGeom>
          <a:solidFill>
            <a:schemeClr val="accent2"/>
          </a:solidFill>
          <a:ln/>
        </p:spPr>
      </p:sp>
      <p:sp>
        <p:nvSpPr>
          <p:cNvPr id="8" name="Text 5"/>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More profitable flows</a:t>
            </a:r>
            <a:endParaRPr lang="en-US" sz="1200" dirty="0"/>
          </a:p>
        </p:txBody>
      </p:sp>
      <p:sp>
        <p:nvSpPr>
          <p:cNvPr id="9" name="Text 6"/>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After the adjustments, flows earn $1.04 per recipient (vs. $0.21 in September) and $80 a day (+40%)</a:t>
            </a:r>
            <a:endParaRPr lang="en-US" sz="1050" dirty="0"/>
          </a:p>
        </p:txBody>
      </p:sp>
      <p:sp>
        <p:nvSpPr>
          <p:cNvPr id="10" name="Positive card 2"/>
          <p:cNvSpPr/>
          <p:nvPr/>
        </p:nvSpPr>
        <p:spPr>
          <a:xfrm>
            <a:off x="6903720" y="1005840"/>
            <a:ext cx="1783080" cy="1554480"/>
          </a:xfrm>
          <a:prstGeom prst="roundRect">
            <a:avLst>
              <a:gd name="adj" fmla="val 4706"/>
            </a:avLst>
          </a:prstGeom>
          <a:solidFill>
            <a:schemeClr val="bg2"/>
          </a:solidFill>
          <a:ln/>
        </p:spPr>
      </p:sp>
      <p:sp>
        <p:nvSpPr>
          <p:cNvPr id="11" name="Positive dot 2"/>
          <p:cNvSpPr/>
          <p:nvPr/>
        </p:nvSpPr>
        <p:spPr>
          <a:xfrm>
            <a:off x="7040880" y="1143000"/>
            <a:ext cx="256032" cy="256032"/>
          </a:xfrm>
          <a:prstGeom prst="ellipse">
            <a:avLst/>
          </a:prstGeom>
          <a:solidFill>
            <a:schemeClr val="accent2"/>
          </a:solidFill>
          <a:ln/>
        </p:spPr>
      </p:sp>
      <p:sp>
        <p:nvSpPr>
          <p:cNvPr id="12" name="Text 9"/>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Smile is growing</a:t>
            </a:r>
            <a:endParaRPr lang="en-US" sz="1200" dirty="0"/>
          </a:p>
        </p:txBody>
      </p:sp>
      <p:sp>
        <p:nvSpPr>
          <p:cNvPr id="13" name="Text 10"/>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Customers earning points on orders: from 74 to 82 a week (+11%) since paid media began</a:t>
            </a:r>
            <a:endParaRPr lang="en-US" sz="1050" dirty="0"/>
          </a:p>
        </p:txBody>
      </p:sp>
      <p:sp>
        <p:nvSpPr>
          <p:cNvPr id="14" name="Positive card 3"/>
          <p:cNvSpPr/>
          <p:nvPr/>
        </p:nvSpPr>
        <p:spPr>
          <a:xfrm>
            <a:off x="5029200" y="2697480"/>
            <a:ext cx="1783080" cy="1554480"/>
          </a:xfrm>
          <a:prstGeom prst="roundRect">
            <a:avLst>
              <a:gd name="adj" fmla="val 4706"/>
            </a:avLst>
          </a:prstGeom>
          <a:solidFill>
            <a:schemeClr val="bg2"/>
          </a:solidFill>
          <a:ln/>
        </p:spPr>
      </p:sp>
      <p:sp>
        <p:nvSpPr>
          <p:cNvPr id="15" name="Positive dot 3"/>
          <p:cNvSpPr/>
          <p:nvPr/>
        </p:nvSpPr>
        <p:spPr>
          <a:xfrm>
            <a:off x="5166360" y="2834640"/>
            <a:ext cx="256032" cy="256032"/>
          </a:xfrm>
          <a:prstGeom prst="ellipse">
            <a:avLst/>
          </a:prstGeom>
          <a:solidFill>
            <a:schemeClr val="accent2"/>
          </a:solidFill>
          <a:ln/>
        </p:spPr>
      </p:sp>
      <p:sp>
        <p:nvSpPr>
          <p:cNvPr id="16" name="Text 13"/>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Subscriptions up</a:t>
            </a:r>
            <a:endParaRPr lang="en-US" sz="1200" dirty="0"/>
          </a:p>
        </p:txBody>
      </p:sp>
      <p:sp>
        <p:nvSpPr>
          <p:cNvPr id="17" name="Text 14"/>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Higher subscription sales, with the Subscribe &amp; Save flow live since Oct 7</a:t>
            </a:r>
            <a:endParaRPr lang="en-US" sz="1050" dirty="0"/>
          </a:p>
        </p:txBody>
      </p:sp>
      <p:sp>
        <p:nvSpPr>
          <p:cNvPr id="18" name="Positive card 4"/>
          <p:cNvSpPr/>
          <p:nvPr/>
        </p:nvSpPr>
        <p:spPr>
          <a:xfrm>
            <a:off x="6903720" y="2697480"/>
            <a:ext cx="1783080" cy="1554480"/>
          </a:xfrm>
          <a:prstGeom prst="roundRect">
            <a:avLst>
              <a:gd name="adj" fmla="val 4706"/>
            </a:avLst>
          </a:prstGeom>
          <a:solidFill>
            <a:schemeClr val="bg2"/>
          </a:solidFill>
          <a:ln/>
        </p:spPr>
      </p:sp>
      <p:sp>
        <p:nvSpPr>
          <p:cNvPr id="19" name="Positive dot 4"/>
          <p:cNvSpPr/>
          <p:nvPr/>
        </p:nvSpPr>
        <p:spPr>
          <a:xfrm>
            <a:off x="7040880" y="2834640"/>
            <a:ext cx="256032" cy="256032"/>
          </a:xfrm>
          <a:prstGeom prst="ellipse">
            <a:avLst/>
          </a:prstGeom>
          <a:solidFill>
            <a:schemeClr val="accent2"/>
          </a:solidFill>
          <a:ln/>
        </p:spPr>
      </p:sp>
      <p:sp>
        <p:nvSpPr>
          <p:cNvPr id="20" name="Text 17"/>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Google: Brand and PMax</a:t>
            </a:r>
            <a:endParaRPr lang="en-US" sz="1200" dirty="0"/>
          </a:p>
        </p:txBody>
      </p:sp>
      <p:sp>
        <p:nvSpPr>
          <p:cNvPr id="21" name="Text 18"/>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Very strong ROAS last week, in step with Meta coming on</a:t>
            </a:r>
            <a:endParaRPr lang="en-US" sz="1050" dirty="0"/>
          </a:p>
        </p:txBody>
      </p:sp>
      <p:sp>
        <p:nvSpPr>
          <p:cNvPr id="22" name="Text 19"/>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Klaviyo (Brooklyn Biltong) for store sales, flows and Smile. Profit: Brooklyn financial analysis. Subscriptions and Google: team platform reports.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less investment, same margin</a:t>
            </a:r>
            <a:endParaRPr lang="en-US" sz="2600" dirty="0"/>
          </a:p>
        </p:txBody>
      </p:sp>
      <p:graphicFrame>
        <p:nvGraphicFramePr>
          <p:cNvPr id="3" name="Brooklyn spend chart" descr=""/>
          <p:cNvGraphicFramePr/>
          <p:nvPr/>
        </p:nvGraphicFramePr>
        <p:xfrm>
          <a:off x="457200" y="96012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0" y="1005840"/>
            <a:ext cx="411480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What we see in the data</a:t>
            </a:r>
            <a:endParaRPr lang="en-US" sz="1500" dirty="0"/>
          </a:p>
        </p:txBody>
      </p:sp>
      <p:sp>
        <p:nvSpPr>
          <p:cNvPr id="5" name="Text 2"/>
          <p:cNvSpPr txBox="1"/>
          <p:nvPr/>
        </p:nvSpPr>
        <p:spPr>
          <a:xfrm>
            <a:off x="4572000" y="141732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Subscriptions and value per purchase are rising</a:t>
            </a:r>
            <a:endParaRPr lang="en-US" sz="1300" dirty="0"/>
          </a:p>
          <a:p>
            <a:pPr marL="342900" indent="-342900">
              <a:spcAft>
                <a:spcPts val="600"/>
              </a:spcAft>
              <a:buSzPct val="100000"/>
              <a:buChar char="•"/>
            </a:pPr>
            <a:r>
              <a:rPr lang="en-US" sz="1300" dirty="0">
                <a:solidFill>
                  <a:schemeClr val="tx1"/>
                </a:solidFill>
              </a:rPr>
              <a:t>Conversion moved from 2.54% to 2.16% because of traffic: sessions fell 11%</a:t>
            </a:r>
            <a:endParaRPr lang="en-US" sz="1300" dirty="0"/>
          </a:p>
          <a:p>
            <a:pPr marL="342900" indent="-342900">
              <a:spcAft>
                <a:spcPts val="600"/>
              </a:spcAft>
              <a:buSzPct val="100000"/>
              <a:buChar char="•"/>
            </a:pPr>
            <a:r>
              <a:rPr lang="en-US" sz="1300" dirty="0">
                <a:solidFill>
                  <a:schemeClr val="tx1"/>
                </a:solidFill>
              </a:rPr>
              <a:t>Meta retargeting does its job: it indirectly lifts the other campaigns</a:t>
            </a:r>
            <a:endParaRPr lang="en-US" sz="1300" dirty="0"/>
          </a:p>
          <a:p>
            <a:pPr marL="342900" indent="-342900">
              <a:spcAft>
                <a:spcPts val="600"/>
              </a:spcAft>
              <a:buSzPct val="100000"/>
              <a:buChar char="•"/>
            </a:pPr>
            <a:r>
              <a:rPr lang="en-US" sz="1300" dirty="0">
                <a:solidFill>
                  <a:schemeClr val="tx1"/>
                </a:solidFill>
              </a:rPr>
              <a:t>Email: more sends, more focused, with themed flows</a:t>
            </a:r>
            <a:endParaRPr lang="en-US" sz="1300" dirty="0"/>
          </a:p>
        </p:txBody>
      </p:sp>
      <p:sp>
        <p:nvSpPr>
          <p:cNvPr id="6" name="Brooklyn next step"/>
          <p:cNvSpPr/>
          <p:nvPr/>
        </p:nvSpPr>
        <p:spPr>
          <a:xfrm>
            <a:off x="457200" y="3840480"/>
            <a:ext cx="8229600" cy="548640"/>
          </a:xfrm>
          <a:prstGeom prst="roundRect">
            <a:avLst>
              <a:gd name="adj" fmla="val 13333"/>
            </a:avLst>
          </a:prstGeom>
          <a:solidFill>
            <a:schemeClr val="tx1"/>
          </a:solidFill>
          <a:ln/>
        </p:spPr>
      </p:sp>
      <p:sp>
        <p:nvSpPr>
          <p:cNvPr id="7" name="Text 4"/>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1400" b="1" dirty="0">
                <a:solidFill>
                  <a:schemeClr val="bg1"/>
                </a:solidFill>
              </a:rPr>
              <a:t>Next step: grow sales. The Fast Sale starts tomorrow, October 15.</a:t>
            </a:r>
            <a:endParaRPr lang="en-US" sz="1400" dirty="0"/>
          </a:p>
        </p:txBody>
      </p:sp>
      <p:sp>
        <p:nvSpPr>
          <p:cNvPr id="8" name="Text 5"/>
          <p:cNvSpPr txBox="1"/>
          <p:nvPr/>
        </p:nvSpPr>
        <p:spPr>
          <a:xfrm>
            <a:off x="457200" y="4462272"/>
            <a:ext cx="8229600" cy="256032"/>
          </a:xfrm>
          <a:prstGeom prst="rect">
            <a:avLst/>
          </a:prstGeom>
          <a:noFill/>
          <a:ln/>
        </p:spPr>
        <p:txBody>
          <a:bodyPr wrap="square" lIns="0" tIns="0" rIns="0" bIns="0" rtlCol="0" anchor="ctr"/>
          <a:lstStyle/>
          <a:p>
            <a:pPr indent="0" marL="0">
              <a:buNone/>
            </a:pPr>
            <a:r>
              <a:rPr lang="en-US" sz="900" i="1" dirty="0">
                <a:solidFill>
                  <a:schemeClr val="accent4"/>
                </a:solidFill>
              </a:rPr>
              <a:t>Source: Brooklyn dashboard and platform analytics.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email and SMS are driving repeat sales</a:t>
            </a:r>
            <a:endParaRPr lang="en-US" sz="2600" dirty="0"/>
          </a:p>
        </p:txBody>
      </p:sp>
      <p:sp>
        <p:nvSpPr>
          <p:cNvPr id="3" name="Retention stat panel"/>
          <p:cNvSpPr/>
          <p:nvPr/>
        </p:nvSpPr>
        <p:spPr>
          <a:xfrm>
            <a:off x="457200" y="1005840"/>
            <a:ext cx="3108960" cy="3291840"/>
          </a:xfrm>
          <a:prstGeom prst="roundRect">
            <a:avLst>
              <a:gd name="adj" fmla="val 2353"/>
            </a:avLst>
          </a:prstGeom>
          <a:solidFill>
            <a:schemeClr val="tx1"/>
          </a:solidFill>
          <a:ln/>
        </p:spPr>
      </p:sp>
      <p:sp>
        <p:nvSpPr>
          <p:cNvPr id="4" name="Text 2"/>
          <p:cNvSpPr txBox="1"/>
          <p:nvPr/>
        </p:nvSpPr>
        <p:spPr>
          <a:xfrm>
            <a:off x="685800" y="118872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$2,074</a:t>
            </a:r>
            <a:endParaRPr lang="en-US" sz="4000" dirty="0"/>
          </a:p>
        </p:txBody>
      </p:sp>
      <p:sp>
        <p:nvSpPr>
          <p:cNvPr id="5" name="Text 3"/>
          <p:cNvSpPr txBox="1"/>
          <p:nvPr/>
        </p:nvSpPr>
        <p:spPr>
          <a:xfrm>
            <a:off x="685800" y="187452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in email and SMS-attributed sales,</a:t>
            </a:r>
            <a:endParaRPr lang="en-US" sz="1200" dirty="0"/>
          </a:p>
          <a:p>
            <a:pPr indent="0" marL="0">
              <a:buNone/>
            </a:pPr>
            <a:r>
              <a:rPr lang="en-US" sz="1200" dirty="0">
                <a:solidFill>
                  <a:schemeClr val="accent6"/>
                </a:solidFill>
              </a:rPr>
              <a:t>Oct 1–14</a:t>
            </a:r>
            <a:endParaRPr lang="en-US" sz="1200" dirty="0"/>
          </a:p>
        </p:txBody>
      </p:sp>
      <p:sp>
        <p:nvSpPr>
          <p:cNvPr id="6" name="Text 4"/>
          <p:cNvSpPr txBox="1"/>
          <p:nvPr/>
        </p:nvSpPr>
        <p:spPr>
          <a:xfrm>
            <a:off x="685800" y="246888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31</a:t>
            </a:r>
            <a:endParaRPr lang="en-US" sz="4000" dirty="0"/>
          </a:p>
        </p:txBody>
      </p:sp>
      <p:sp>
        <p:nvSpPr>
          <p:cNvPr id="7" name="Text 5"/>
          <p:cNvSpPr txBox="1"/>
          <p:nvPr/>
        </p:nvSpPr>
        <p:spPr>
          <a:xfrm>
            <a:off x="685800" y="315468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orders; 17 came in automatically through flows</a:t>
            </a:r>
            <a:endParaRPr lang="en-US" sz="1200" dirty="0"/>
          </a:p>
        </p:txBody>
      </p:sp>
      <p:graphicFrame>
        <p:nvGraphicFramePr>
          <p:cNvPr id="8" name="Sales by program chart" descr=""/>
          <p:cNvGraphicFramePr/>
          <p:nvPr/>
        </p:nvGraphicFramePr>
        <p:xfrm>
          <a:off x="3840480" y="960120"/>
          <a:ext cx="484632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931920" y="3749040"/>
            <a:ext cx="4754880" cy="548640"/>
          </a:xfrm>
          <a:prstGeom prst="rect">
            <a:avLst/>
          </a:prstGeom>
          <a:noFill/>
          <a:ln/>
        </p:spPr>
        <p:txBody>
          <a:bodyPr wrap="square" lIns="0" tIns="0" rIns="0" bIns="0" rtlCol="0" anchor="t"/>
          <a:lstStyle/>
          <a:p>
            <a:pPr indent="0" marL="0">
              <a:buNone/>
            </a:pPr>
            <a:r>
              <a:rPr lang="en-US" sz="1200" dirty="0">
                <a:solidFill>
                  <a:schemeClr val="tx1"/>
                </a:solidFill>
              </a:rPr>
              <a:t>Game Day had a 60% open rate. The Subscribe &amp; Save and Second Order flows have been live since Oct 7.</a:t>
            </a:r>
            <a:endParaRPr lang="en-US" sz="1200" dirty="0"/>
          </a:p>
        </p:txBody>
      </p:sp>
      <p:sp>
        <p:nvSpPr>
          <p:cNvPr id="10" name="Text 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Klaviyo (Brooklyn Biltong), platform-attributed orders.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the new email program</a:t>
            </a:r>
            <a:endParaRPr lang="en-US" sz="2600" dirty="0"/>
          </a:p>
        </p:txBody>
      </p:sp>
      <p:sp>
        <p:nvSpPr>
          <p:cNvPr id="3" name="Journey step 1"/>
          <p:cNvSpPr/>
          <p:nvPr/>
        </p:nvSpPr>
        <p:spPr>
          <a:xfrm>
            <a:off x="457200" y="960120"/>
            <a:ext cx="987552" cy="566928"/>
          </a:xfrm>
          <a:prstGeom prst="roundRect">
            <a:avLst>
              <a:gd name="adj" fmla="val 12903"/>
            </a:avLst>
          </a:prstGeom>
          <a:solidFill>
            <a:schemeClr val="tx1"/>
          </a:solidFill>
          <a:ln/>
        </p:spPr>
      </p:sp>
      <p:sp>
        <p:nvSpPr>
          <p:cNvPr id="4" name="Text 2"/>
          <p:cNvSpPr txBox="1"/>
          <p:nvPr/>
        </p:nvSpPr>
        <p:spPr>
          <a:xfrm>
            <a:off x="49377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1st order</a:t>
            </a:r>
            <a:endParaRPr lang="en-US" sz="950" dirty="0"/>
          </a:p>
        </p:txBody>
      </p:sp>
      <p:sp>
        <p:nvSpPr>
          <p:cNvPr id="5" name="Text 3"/>
          <p:cNvSpPr txBox="1"/>
          <p:nvPr/>
        </p:nvSpPr>
        <p:spPr>
          <a:xfrm>
            <a:off x="144475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6" name="Journey step 2"/>
          <p:cNvSpPr/>
          <p:nvPr/>
        </p:nvSpPr>
        <p:spPr>
          <a:xfrm>
            <a:off x="1645920" y="960120"/>
            <a:ext cx="987552" cy="566928"/>
          </a:xfrm>
          <a:prstGeom prst="roundRect">
            <a:avLst>
              <a:gd name="adj" fmla="val 12903"/>
            </a:avLst>
          </a:prstGeom>
          <a:solidFill>
            <a:schemeClr val="bg2"/>
          </a:solidFill>
          <a:ln/>
        </p:spPr>
      </p:sp>
      <p:sp>
        <p:nvSpPr>
          <p:cNvPr id="7" name="Text 5"/>
          <p:cNvSpPr txBox="1"/>
          <p:nvPr/>
        </p:nvSpPr>
        <p:spPr>
          <a:xfrm>
            <a:off x="168249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First Purchase + Bounce-Back</a:t>
            </a:r>
            <a:endParaRPr lang="en-US" sz="950" dirty="0"/>
          </a:p>
        </p:txBody>
      </p:sp>
      <p:sp>
        <p:nvSpPr>
          <p:cNvPr id="8" name="Text 6"/>
          <p:cNvSpPr txBox="1"/>
          <p:nvPr/>
        </p:nvSpPr>
        <p:spPr>
          <a:xfrm>
            <a:off x="263347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9" name="Journey step 3"/>
          <p:cNvSpPr/>
          <p:nvPr/>
        </p:nvSpPr>
        <p:spPr>
          <a:xfrm>
            <a:off x="2834640" y="960120"/>
            <a:ext cx="987552" cy="566928"/>
          </a:xfrm>
          <a:prstGeom prst="roundRect">
            <a:avLst>
              <a:gd name="adj" fmla="val 12903"/>
            </a:avLst>
          </a:prstGeom>
          <a:solidFill>
            <a:schemeClr val="tx1"/>
          </a:solidFill>
          <a:ln/>
        </p:spPr>
      </p:sp>
      <p:sp>
        <p:nvSpPr>
          <p:cNvPr id="10" name="Text 8"/>
          <p:cNvSpPr txBox="1"/>
          <p:nvPr/>
        </p:nvSpPr>
        <p:spPr>
          <a:xfrm>
            <a:off x="287121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2nd order</a:t>
            </a:r>
            <a:endParaRPr lang="en-US" sz="950" dirty="0"/>
          </a:p>
        </p:txBody>
      </p:sp>
      <p:sp>
        <p:nvSpPr>
          <p:cNvPr id="11" name="Text 9"/>
          <p:cNvSpPr txBox="1"/>
          <p:nvPr/>
        </p:nvSpPr>
        <p:spPr>
          <a:xfrm>
            <a:off x="382219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2" name="Journey step 4"/>
          <p:cNvSpPr/>
          <p:nvPr/>
        </p:nvSpPr>
        <p:spPr>
          <a:xfrm>
            <a:off x="4023360" y="960120"/>
            <a:ext cx="987552" cy="566928"/>
          </a:xfrm>
          <a:prstGeom prst="roundRect">
            <a:avLst>
              <a:gd name="adj" fmla="val 12903"/>
            </a:avLst>
          </a:prstGeom>
          <a:solidFill>
            <a:schemeClr val="bg2"/>
          </a:solidFill>
          <a:ln/>
        </p:spPr>
      </p:sp>
      <p:sp>
        <p:nvSpPr>
          <p:cNvPr id="13" name="Text 11"/>
          <p:cNvSpPr txBox="1"/>
          <p:nvPr/>
        </p:nvSpPr>
        <p:spPr>
          <a:xfrm>
            <a:off x="405993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Subscribe &amp; Save + Replenishment</a:t>
            </a:r>
            <a:endParaRPr lang="en-US" sz="950" dirty="0"/>
          </a:p>
        </p:txBody>
      </p:sp>
      <p:sp>
        <p:nvSpPr>
          <p:cNvPr id="14" name="Text 12"/>
          <p:cNvSpPr txBox="1"/>
          <p:nvPr/>
        </p:nvSpPr>
        <p:spPr>
          <a:xfrm>
            <a:off x="501091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5" name="Journey step 5"/>
          <p:cNvSpPr/>
          <p:nvPr/>
        </p:nvSpPr>
        <p:spPr>
          <a:xfrm>
            <a:off x="5212080" y="960120"/>
            <a:ext cx="987552" cy="566928"/>
          </a:xfrm>
          <a:prstGeom prst="roundRect">
            <a:avLst>
              <a:gd name="adj" fmla="val 12903"/>
            </a:avLst>
          </a:prstGeom>
          <a:solidFill>
            <a:schemeClr val="tx1"/>
          </a:solidFill>
          <a:ln/>
        </p:spPr>
      </p:sp>
      <p:sp>
        <p:nvSpPr>
          <p:cNvPr id="16" name="Text 14"/>
          <p:cNvSpPr txBox="1"/>
          <p:nvPr/>
        </p:nvSpPr>
        <p:spPr>
          <a:xfrm>
            <a:off x="524865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3rd order</a:t>
            </a:r>
            <a:endParaRPr lang="en-US" sz="950" dirty="0"/>
          </a:p>
        </p:txBody>
      </p:sp>
      <p:sp>
        <p:nvSpPr>
          <p:cNvPr id="17" name="Text 15"/>
          <p:cNvSpPr txBox="1"/>
          <p:nvPr/>
        </p:nvSpPr>
        <p:spPr>
          <a:xfrm>
            <a:off x="619963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8" name="Journey step 6"/>
          <p:cNvSpPr/>
          <p:nvPr/>
        </p:nvSpPr>
        <p:spPr>
          <a:xfrm>
            <a:off x="6400800" y="960120"/>
            <a:ext cx="987552" cy="566928"/>
          </a:xfrm>
          <a:prstGeom prst="roundRect">
            <a:avLst>
              <a:gd name="adj" fmla="val 12903"/>
            </a:avLst>
          </a:prstGeom>
          <a:solidFill>
            <a:schemeClr val="bg2"/>
          </a:solidFill>
          <a:ln/>
        </p:spPr>
      </p:sp>
      <p:sp>
        <p:nvSpPr>
          <p:cNvPr id="19" name="Text 17"/>
          <p:cNvSpPr txBox="1"/>
          <p:nvPr/>
        </p:nvSpPr>
        <p:spPr>
          <a:xfrm>
            <a:off x="643737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VIP Welcome</a:t>
            </a:r>
            <a:endParaRPr lang="en-US" sz="950" dirty="0"/>
          </a:p>
        </p:txBody>
      </p:sp>
      <p:sp>
        <p:nvSpPr>
          <p:cNvPr id="20" name="Text 18"/>
          <p:cNvSpPr txBox="1"/>
          <p:nvPr/>
        </p:nvSpPr>
        <p:spPr>
          <a:xfrm>
            <a:off x="738835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1" name="Journey step 7"/>
          <p:cNvSpPr/>
          <p:nvPr/>
        </p:nvSpPr>
        <p:spPr>
          <a:xfrm>
            <a:off x="7589520" y="960120"/>
            <a:ext cx="987552" cy="566928"/>
          </a:xfrm>
          <a:prstGeom prst="roundRect">
            <a:avLst>
              <a:gd name="adj" fmla="val 12903"/>
            </a:avLst>
          </a:prstGeom>
          <a:solidFill>
            <a:schemeClr val="tx1"/>
          </a:solidFill>
          <a:ln/>
        </p:spPr>
      </p:sp>
      <p:sp>
        <p:nvSpPr>
          <p:cNvPr id="22" name="Text 20"/>
          <p:cNvSpPr txBox="1"/>
          <p:nvPr/>
        </p:nvSpPr>
        <p:spPr>
          <a:xfrm>
            <a:off x="762609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Anniversary</a:t>
            </a:r>
            <a:endParaRPr lang="en-US" sz="950" dirty="0"/>
          </a:p>
        </p:txBody>
      </p:sp>
      <p:sp>
        <p:nvSpPr>
          <p:cNvPr id="23" name="Text 21"/>
          <p:cNvSpPr txBox="1"/>
          <p:nvPr/>
        </p:nvSpPr>
        <p:spPr>
          <a:xfrm>
            <a:off x="457200" y="1572768"/>
            <a:ext cx="8229600" cy="256032"/>
          </a:xfrm>
          <a:prstGeom prst="rect">
            <a:avLst/>
          </a:prstGeom>
          <a:noFill/>
          <a:ln/>
        </p:spPr>
        <p:txBody>
          <a:bodyPr wrap="square" lIns="0" tIns="0" rIns="0" bIns="0" rtlCol="0" anchor="ctr"/>
          <a:lstStyle/>
          <a:p>
            <a:pPr indent="0" marL="0">
              <a:buNone/>
            </a:pPr>
            <a:r>
              <a:rPr lang="en-US" sz="1100" i="1" dirty="0">
                <a:solidFill>
                  <a:schemeClr val="accent1"/>
                </a:solidFill>
              </a:rPr>
              <a:t>If they stop buying: Win-Back A (one order) or Win-Back B (two or more orders)</a:t>
            </a:r>
            <a:endParaRPr lang="en-US" sz="1100" dirty="0"/>
          </a:p>
        </p:txBody>
      </p:sp>
      <p:sp>
        <p:nvSpPr>
          <p:cNvPr id="24" name="Text 22"/>
          <p:cNvSpPr txBox="1"/>
          <p:nvPr/>
        </p:nvSpPr>
        <p:spPr>
          <a:xfrm>
            <a:off x="457200" y="1920240"/>
            <a:ext cx="4023360" cy="292608"/>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New flows</a:t>
            </a:r>
            <a:endParaRPr lang="en-US" sz="1500" dirty="0"/>
          </a:p>
        </p:txBody>
      </p:sp>
      <p:sp>
        <p:nvSpPr>
          <p:cNvPr id="25" name="Text 23"/>
          <p:cNvSpPr txBox="1"/>
          <p:nvPr/>
        </p:nvSpPr>
        <p:spPr>
          <a:xfrm>
            <a:off x="457200" y="2240280"/>
            <a:ext cx="4023360" cy="1737360"/>
          </a:xfrm>
          <a:prstGeom prst="rect">
            <a:avLst/>
          </a:prstGeom>
          <a:noFill/>
          <a:ln/>
        </p:spPr>
        <p:txBody>
          <a:bodyPr wrap="square" lIns="0" tIns="0" rIns="0" bIns="0" rtlCol="0" anchor="t"/>
          <a:lstStyle/>
          <a:p>
            <a:pPr marL="342900" indent="-342900">
              <a:spcAft>
                <a:spcPts val="400"/>
              </a:spcAft>
              <a:buSzPct val="100000"/>
              <a:buChar char="•"/>
            </a:pPr>
            <a:r>
              <a:rPr lang="en-US" sz="1100" b="1" dirty="0">
                <a:solidFill>
                  <a:schemeClr val="tx1"/>
                </a:solidFill>
              </a:rPr>
              <a:t>Browse Abandonment: </a:t>
            </a:r>
            <a:pPr indent="0" marL="0">
              <a:buNone/>
            </a:pPr>
            <a:r>
              <a:rPr lang="en-US" sz="1100" dirty="0">
                <a:solidFill>
                  <a:schemeClr val="tx1"/>
                </a:solidFill>
              </a:rPr>
              <a:t>for people who view a product but don't add it to cart</a:t>
            </a:r>
            <a:endParaRPr lang="en-US" sz="1100" dirty="0"/>
          </a:p>
          <a:p>
            <a:pPr marL="342900" indent="-342900">
              <a:spcAft>
                <a:spcPts val="400"/>
              </a:spcAft>
              <a:buSzPct val="100000"/>
              <a:buChar char="•"/>
            </a:pPr>
            <a:r>
              <a:rPr lang="en-US" sz="1100" b="1" dirty="0">
                <a:solidFill>
                  <a:schemeClr val="tx1"/>
                </a:solidFill>
              </a:rPr>
              <a:t>Replenishment: </a:t>
            </a:r>
            <a:pPr indent="0" marL="0">
              <a:buNone/>
            </a:pPr>
            <a:r>
              <a:rPr lang="en-US" sz="1100" dirty="0">
                <a:solidFill>
                  <a:schemeClr val="tx1"/>
                </a:solidFill>
              </a:rPr>
              <a:t>"running low?" timed to the pack (3 bags at 21 days, 5 at 30, 7 at 40)</a:t>
            </a:r>
            <a:endParaRPr lang="en-US" sz="1100" dirty="0"/>
          </a:p>
          <a:p>
            <a:pPr marL="342900" indent="-342900">
              <a:spcAft>
                <a:spcPts val="400"/>
              </a:spcAft>
              <a:buSzPct val="100000"/>
              <a:buChar char="•"/>
            </a:pPr>
            <a:r>
              <a:rPr lang="en-US" sz="1100" b="1" dirty="0">
                <a:solidFill>
                  <a:schemeClr val="tx1"/>
                </a:solidFill>
              </a:rPr>
              <a:t>VIP Welcome: </a:t>
            </a:r>
            <a:pPr indent="0" marL="0">
              <a:buNone/>
            </a:pPr>
            <a:r>
              <a:rPr lang="en-US" sz="1100" dirty="0">
                <a:solidFill>
                  <a:schemeClr val="tx1"/>
                </a:solidFill>
              </a:rPr>
              <a:t>at the 3rd order, no discount: status, early access and a new flavor</a:t>
            </a:r>
            <a:endParaRPr lang="en-US" sz="1100" dirty="0"/>
          </a:p>
          <a:p>
            <a:pPr marL="342900" indent="-342900">
              <a:spcAft>
                <a:spcPts val="400"/>
              </a:spcAft>
              <a:buSzPct val="100000"/>
              <a:buChar char="•"/>
            </a:pPr>
            <a:r>
              <a:rPr lang="en-US" sz="1100" b="1" dirty="0">
                <a:solidFill>
                  <a:schemeClr val="tx1"/>
                </a:solidFill>
              </a:rPr>
              <a:t>Anniversary: </a:t>
            </a:r>
            <a:pPr indent="0" marL="0">
              <a:buNone/>
            </a:pPr>
            <a:r>
              <a:rPr lang="en-US" sz="1100" dirty="0">
                <a:solidFill>
                  <a:schemeClr val="tx1"/>
                </a:solidFill>
              </a:rPr>
              <a:t>one year after the first order</a:t>
            </a:r>
            <a:endParaRPr lang="en-US" sz="1100" dirty="0"/>
          </a:p>
          <a:p>
            <a:pPr marL="342900" indent="-342900">
              <a:spcAft>
                <a:spcPts val="400"/>
              </a:spcAft>
              <a:buSzPct val="100000"/>
              <a:buChar char="•"/>
            </a:pPr>
            <a:r>
              <a:rPr lang="en-US" sz="1100" b="1" dirty="0">
                <a:solidFill>
                  <a:schemeClr val="tx1"/>
                </a:solidFill>
              </a:rPr>
              <a:t>Win-Back B: </a:t>
            </a:r>
            <a:pPr indent="0" marL="0">
              <a:buNone/>
            </a:pPr>
            <a:r>
              <a:rPr lang="en-US" sz="1100" dirty="0">
                <a:solidFill>
                  <a:schemeClr val="tx1"/>
                </a:solidFill>
              </a:rPr>
              <a:t>reactivate 2,493 lapsed repeat buyers</a:t>
            </a:r>
            <a:endParaRPr lang="en-US" sz="1100" dirty="0"/>
          </a:p>
        </p:txBody>
      </p:sp>
      <p:sp>
        <p:nvSpPr>
          <p:cNvPr id="26" name="Campaigns panel"/>
          <p:cNvSpPr/>
          <p:nvPr/>
        </p:nvSpPr>
        <p:spPr>
          <a:xfrm>
            <a:off x="4663440" y="1920240"/>
            <a:ext cx="4023360" cy="2057400"/>
          </a:xfrm>
          <a:prstGeom prst="roundRect">
            <a:avLst>
              <a:gd name="adj" fmla="val 3556"/>
            </a:avLst>
          </a:prstGeom>
          <a:solidFill>
            <a:schemeClr val="tx1"/>
          </a:solidFill>
          <a:ln/>
        </p:spPr>
      </p:sp>
      <p:sp>
        <p:nvSpPr>
          <p:cNvPr id="27" name="Text 25"/>
          <p:cNvSpPr txBox="1"/>
          <p:nvPr/>
        </p:nvSpPr>
        <p:spPr>
          <a:xfrm>
            <a:off x="4846320" y="2011680"/>
            <a:ext cx="3657600" cy="365760"/>
          </a:xfrm>
          <a:prstGeom prst="rect">
            <a:avLst/>
          </a:prstGeom>
          <a:noFill/>
          <a:ln/>
        </p:spPr>
        <p:txBody>
          <a:bodyPr wrap="square" lIns="0" tIns="0" rIns="0" bIns="0" rtlCol="0" anchor="ctr"/>
          <a:lstStyle/>
          <a:p>
            <a:pPr indent="0" marL="0">
              <a:buNone/>
            </a:pPr>
            <a:r>
              <a:rPr lang="en-US" sz="1400" b="1" dirty="0">
                <a:solidFill>
                  <a:schemeClr val="accent6"/>
                </a:solidFill>
                <a:latin typeface="Cambria" pitchFamily="34" charset="0"/>
                <a:ea typeface="Cambria" pitchFamily="34" charset="-122"/>
                <a:cs typeface="Cambria" pitchFamily="34" charset="-120"/>
              </a:rPr>
              <a:t>Simultaneous hyper-segmented campaigns</a:t>
            </a:r>
            <a:endParaRPr lang="en-US" sz="1400" dirty="0"/>
          </a:p>
        </p:txBody>
      </p:sp>
      <p:sp>
        <p:nvSpPr>
          <p:cNvPr id="28" name="Text 26"/>
          <p:cNvSpPr txBox="1"/>
          <p:nvPr/>
        </p:nvSpPr>
        <p:spPr>
          <a:xfrm>
            <a:off x="4846320" y="2423160"/>
            <a:ext cx="3657600" cy="1463040"/>
          </a:xfrm>
          <a:prstGeom prst="rect">
            <a:avLst/>
          </a:prstGeom>
          <a:noFill/>
          <a:ln/>
        </p:spPr>
        <p:txBody>
          <a:bodyPr wrap="square" lIns="0" tIns="0" rIns="0" bIns="0" rtlCol="0" anchor="t"/>
          <a:lstStyle/>
          <a:p>
            <a:pPr indent="0" marL="0">
              <a:buNone/>
            </a:pPr>
            <a:r>
              <a:rPr lang="en-US" sz="1100" dirty="0">
                <a:solidFill>
                  <a:schemeClr val="bg1"/>
                </a:solidFill>
              </a:rPr>
              <a:t>On the same day, several campaigns go out, each to a micro-segment with its own message: subscribers, VIPs, one-time buyers, clickers who never bought, and the cold base. Each customer sits in one group only, so nobody gets two campaigns on the same day.</a:t>
            </a:r>
            <a:endParaRPr lang="en-US" sz="1100" dirty="0"/>
          </a:p>
        </p:txBody>
      </p:sp>
      <p:sp>
        <p:nvSpPr>
          <p:cNvPr id="29" name="Email step 1"/>
          <p:cNvSpPr/>
          <p:nvPr/>
        </p:nvSpPr>
        <p:spPr>
          <a:xfrm>
            <a:off x="457200" y="4069080"/>
            <a:ext cx="2651760" cy="594360"/>
          </a:xfrm>
          <a:prstGeom prst="roundRect">
            <a:avLst>
              <a:gd name="adj" fmla="val 12308"/>
            </a:avLst>
          </a:prstGeom>
          <a:solidFill>
            <a:schemeClr val="bg2"/>
          </a:solidFill>
          <a:ln/>
        </p:spPr>
      </p:sp>
      <p:sp>
        <p:nvSpPr>
          <p:cNvPr id="30" name="Text 28"/>
          <p:cNvSpPr txBox="1"/>
          <p:nvPr/>
        </p:nvSpPr>
        <p:spPr>
          <a:xfrm>
            <a:off x="59436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This week  </a:t>
            </a:r>
            <a:pPr indent="0" marL="0">
              <a:buNone/>
            </a:pPr>
            <a:r>
              <a:rPr lang="en-US" sz="1000" dirty="0">
                <a:solidFill>
                  <a:schemeClr val="tx1"/>
                </a:solidFill>
              </a:rPr>
              <a:t>Micro-segments and Browse Abandonment, after the Fast Sale</a:t>
            </a:r>
            <a:endParaRPr lang="en-US" sz="1000" dirty="0"/>
          </a:p>
        </p:txBody>
      </p:sp>
      <p:sp>
        <p:nvSpPr>
          <p:cNvPr id="31" name="Email step 2"/>
          <p:cNvSpPr/>
          <p:nvPr/>
        </p:nvSpPr>
        <p:spPr>
          <a:xfrm>
            <a:off x="3246120" y="4069080"/>
            <a:ext cx="2651760" cy="594360"/>
          </a:xfrm>
          <a:prstGeom prst="roundRect">
            <a:avLst>
              <a:gd name="adj" fmla="val 12308"/>
            </a:avLst>
          </a:prstGeom>
          <a:solidFill>
            <a:schemeClr val="bg2"/>
          </a:solidFill>
          <a:ln/>
        </p:spPr>
      </p:sp>
      <p:sp>
        <p:nvSpPr>
          <p:cNvPr id="32" name="Text 30"/>
          <p:cNvSpPr txBox="1"/>
          <p:nvPr/>
        </p:nvSpPr>
        <p:spPr>
          <a:xfrm>
            <a:off x="338328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Week of Oct 19  </a:t>
            </a:r>
            <a:pPr indent="0" marL="0">
              <a:buNone/>
            </a:pPr>
            <a:r>
              <a:rPr lang="en-US" sz="1000" dirty="0">
                <a:solidFill>
                  <a:schemeClr val="tx1"/>
                </a:solidFill>
              </a:rPr>
              <a:t>First wave of campaigns, Replenishment and VIP Welcome</a:t>
            </a:r>
            <a:endParaRPr lang="en-US" sz="1000" dirty="0"/>
          </a:p>
        </p:txBody>
      </p:sp>
      <p:sp>
        <p:nvSpPr>
          <p:cNvPr id="33" name="Email step 3"/>
          <p:cNvSpPr/>
          <p:nvPr/>
        </p:nvSpPr>
        <p:spPr>
          <a:xfrm>
            <a:off x="6035040" y="4069080"/>
            <a:ext cx="2651760" cy="594360"/>
          </a:xfrm>
          <a:prstGeom prst="roundRect">
            <a:avLst>
              <a:gd name="adj" fmla="val 12308"/>
            </a:avLst>
          </a:prstGeom>
          <a:solidFill>
            <a:schemeClr val="bg2"/>
          </a:solidFill>
          <a:ln/>
        </p:spPr>
      </p:sp>
      <p:sp>
        <p:nvSpPr>
          <p:cNvPr id="34" name="Text 32"/>
          <p:cNvSpPr txBox="1"/>
          <p:nvPr/>
        </p:nvSpPr>
        <p:spPr>
          <a:xfrm>
            <a:off x="617220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From Oct 25  </a:t>
            </a:r>
            <a:pPr indent="0" marL="0">
              <a:buNone/>
            </a:pPr>
            <a:r>
              <a:rPr lang="en-US" sz="1000" dirty="0">
                <a:solidFill>
                  <a:schemeClr val="tx1"/>
                </a:solidFill>
              </a:rPr>
              <a:t>Win-Back B for lapsed repeat buyers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a solid, recurring base</a:t>
            </a:r>
            <a:endParaRPr lang="en-US" sz="2600" dirty="0"/>
          </a:p>
        </p:txBody>
      </p:sp>
      <p:sp>
        <p:nvSpPr>
          <p:cNvPr id="3" name="BB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$89.9K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sales year to date, from 1,181 orders at a $76 average ticket</a:t>
            </a:r>
            <a:endParaRPr lang="en-US" sz="1200" dirty="0"/>
          </a:p>
        </p:txBody>
      </p:sp>
      <p:sp>
        <p:nvSpPr>
          <p:cNvPr id="6" name="BB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44%</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of sales are subscription renewals: $40K in recurring revenue this year</a:t>
            </a:r>
            <a:endParaRPr lang="en-US" sz="1200" dirty="0"/>
          </a:p>
        </p:txBody>
      </p:sp>
      <p:sp>
        <p:nvSpPr>
          <p:cNvPr id="9" name="BB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$2.21</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per recipient from automated flows, 13 times more than campaigns</a:t>
            </a:r>
            <a:endParaRPr lang="en-US" sz="1200" dirty="0"/>
          </a:p>
        </p:txBody>
      </p:sp>
      <p:sp>
        <p:nvSpPr>
          <p:cNvPr id="12" name="BB card 1"/>
          <p:cNvSpPr/>
          <p:nvPr/>
        </p:nvSpPr>
        <p:spPr>
          <a:xfrm>
            <a:off x="5029200" y="1005840"/>
            <a:ext cx="1783080" cy="1554480"/>
          </a:xfrm>
          <a:prstGeom prst="roundRect">
            <a:avLst>
              <a:gd name="adj" fmla="val 4706"/>
            </a:avLst>
          </a:prstGeom>
          <a:solidFill>
            <a:schemeClr val="bg2"/>
          </a:solidFill>
          <a:ln/>
        </p:spPr>
      </p:sp>
      <p:sp>
        <p:nvSpPr>
          <p:cNvPr id="13" name="BB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Steady sales</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~$9.3K a month in Q1 and ~$9.7K from April to September</a:t>
            </a:r>
            <a:endParaRPr lang="en-US" sz="1100" dirty="0"/>
          </a:p>
        </p:txBody>
      </p:sp>
      <p:sp>
        <p:nvSpPr>
          <p:cNvPr id="16" name="BB card 2"/>
          <p:cNvSpPr/>
          <p:nvPr/>
        </p:nvSpPr>
        <p:spPr>
          <a:xfrm>
            <a:off x="6903720" y="1005840"/>
            <a:ext cx="1783080" cy="1554480"/>
          </a:xfrm>
          <a:prstGeom prst="roundRect">
            <a:avLst>
              <a:gd name="adj" fmla="val 4706"/>
            </a:avLst>
          </a:prstGeom>
          <a:solidFill>
            <a:schemeClr val="bg2"/>
          </a:solidFill>
          <a:ln/>
        </p:spPr>
      </p:sp>
      <p:sp>
        <p:nvSpPr>
          <p:cNvPr id="17" name="BB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Brand search</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Google's most profitable line, with a return close to 3x</a:t>
            </a:r>
            <a:endParaRPr lang="en-US" sz="1100" dirty="0"/>
          </a:p>
        </p:txBody>
      </p:sp>
      <p:sp>
        <p:nvSpPr>
          <p:cNvPr id="20" name="BB card 3"/>
          <p:cNvSpPr/>
          <p:nvPr/>
        </p:nvSpPr>
        <p:spPr>
          <a:xfrm>
            <a:off x="5029200" y="2697480"/>
            <a:ext cx="1783080" cy="1554480"/>
          </a:xfrm>
          <a:prstGeom prst="roundRect">
            <a:avLst>
              <a:gd name="adj" fmla="val 4706"/>
            </a:avLst>
          </a:prstGeom>
          <a:solidFill>
            <a:schemeClr val="bg2"/>
          </a:solidFill>
          <a:ln/>
        </p:spPr>
      </p:sp>
      <p:sp>
        <p:nvSpPr>
          <p:cNvPr id="21" name="BB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Dynamic retargeting</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3.1x return on Meta ahead of the Oct 10 restructure</a:t>
            </a:r>
            <a:endParaRPr lang="en-US" sz="1100" dirty="0"/>
          </a:p>
        </p:txBody>
      </p:sp>
      <p:sp>
        <p:nvSpPr>
          <p:cNvPr id="24" name="BB card 4"/>
          <p:cNvSpPr/>
          <p:nvPr/>
        </p:nvSpPr>
        <p:spPr>
          <a:xfrm>
            <a:off x="6903720" y="2697480"/>
            <a:ext cx="1783080" cy="1554480"/>
          </a:xfrm>
          <a:prstGeom prst="roundRect">
            <a:avLst>
              <a:gd name="adj" fmla="val 4706"/>
            </a:avLst>
          </a:prstGeom>
          <a:solidFill>
            <a:schemeClr val="bg2"/>
          </a:solidFill>
          <a:ln/>
        </p:spPr>
      </p:sp>
      <p:sp>
        <p:nvSpPr>
          <p:cNvPr id="25" name="BB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Refreshed welcome</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BARK15 Welcome live since Oct 6; SMS Welcome on the way</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store dashboard (Jan 1 – Oct 13, 2026), Klaviyo, Google Ads (brand return estimated) and Meta Ads Manager.</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new customers and Amazon</a:t>
            </a:r>
            <a:endParaRPr lang="en-US" sz="2600" dirty="0"/>
          </a:p>
        </p:txBody>
      </p:sp>
      <p:sp>
        <p:nvSpPr>
          <p:cNvPr id="3" name="BB now panel"/>
          <p:cNvSpPr/>
          <p:nvPr/>
        </p:nvSpPr>
        <p:spPr>
          <a:xfrm>
            <a:off x="457200" y="1005840"/>
            <a:ext cx="4023360" cy="3383280"/>
          </a:xfrm>
          <a:prstGeom prst="roundRect">
            <a:avLst>
              <a:gd name="adj" fmla="val 2162"/>
            </a:avLst>
          </a:prstGeom>
          <a:solidFill>
            <a:schemeClr val="bg2"/>
          </a:solidFill>
          <a:ln/>
        </p:spPr>
      </p:sp>
      <p:sp>
        <p:nvSpPr>
          <p:cNvPr id="4" name="BB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Where we are</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Where we're heading</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Sales 35% below last month</a:t>
            </a:r>
            <a:endParaRPr lang="en-US" sz="1300" dirty="0"/>
          </a:p>
          <a:p>
            <a:pPr marL="342900" indent="-342900">
              <a:spcAft>
                <a:spcPts val="800"/>
              </a:spcAft>
              <a:buSzPct val="100000"/>
              <a:buChar char="•"/>
            </a:pPr>
            <a:r>
              <a:rPr lang="en-US" sz="1300" dirty="0">
                <a:solidFill>
                  <a:schemeClr val="tx1"/>
                </a:solidFill>
              </a:rPr>
              <a:t>Efficiency is good, but on a low investment</a:t>
            </a:r>
            <a:endParaRPr lang="en-US" sz="1300" dirty="0"/>
          </a:p>
          <a:p>
            <a:pPr marL="342900" indent="-342900">
              <a:spcAft>
                <a:spcPts val="800"/>
              </a:spcAft>
              <a:buSzPct val="100000"/>
              <a:buChar char="•"/>
            </a:pPr>
            <a:r>
              <a:rPr lang="en-US" sz="1300" dirty="0">
                <a:solidFill>
                  <a:schemeClr val="tx1"/>
                </a:solidFill>
              </a:rPr>
              <a:t>Search is very hard to compete in</a:t>
            </a:r>
            <a:endParaRPr lang="en-US" sz="1300" dirty="0"/>
          </a:p>
          <a:p>
            <a:pPr marL="342900" indent="-342900">
              <a:spcAft>
                <a:spcPts val="800"/>
              </a:spcAft>
              <a:buSzPct val="100000"/>
              <a:buChar char="•"/>
            </a:pPr>
            <a:r>
              <a:rPr lang="en-US" sz="1300" dirty="0">
                <a:solidFill>
                  <a:schemeClr val="tx1"/>
                </a:solidFill>
              </a:rPr>
              <a:t>Meta weighs twice as much as Google ($1,019 vs. $507) with a low return</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New-customer campaigns with promos, not brand</a:t>
            </a:r>
            <a:endParaRPr lang="en-US" sz="1300" dirty="0"/>
          </a:p>
          <a:p>
            <a:pPr marL="342900" indent="-342900">
              <a:spcAft>
                <a:spcPts val="800"/>
              </a:spcAft>
              <a:buSzPct val="100000"/>
              <a:buChar char="•"/>
            </a:pPr>
            <a:r>
              <a:rPr lang="en-US" sz="1300" dirty="0">
                <a:solidFill>
                  <a:schemeClr val="bg1"/>
                </a:solidFill>
              </a:rPr>
              <a:t>Shift paid media toward Amazon and measure its contribution</a:t>
            </a:r>
            <a:endParaRPr lang="en-US" sz="1300" dirty="0"/>
          </a:p>
          <a:p>
            <a:pPr marL="342900" indent="-342900">
              <a:spcAft>
                <a:spcPts val="800"/>
              </a:spcAft>
              <a:buSzPct val="100000"/>
              <a:buChar char="•"/>
            </a:pPr>
            <a:r>
              <a:rPr lang="en-US" sz="1300" dirty="0">
                <a:solidFill>
                  <a:schemeClr val="bg1"/>
                </a:solidFill>
              </a:rPr>
              <a:t>Full-page branding that goes straight to Amazon, plus catalog and retargeting</a:t>
            </a:r>
            <a:endParaRPr lang="en-US" sz="1300" dirty="0"/>
          </a:p>
          <a:p>
            <a:pPr marL="342900" indent="-342900">
              <a:spcAft>
                <a:spcPts val="800"/>
              </a:spcAft>
              <a:buSzPct val="100000"/>
              <a:buChar char="•"/>
            </a:pPr>
            <a:r>
              <a:rPr lang="en-US" sz="1300" dirty="0">
                <a:solidFill>
                  <a:schemeClr val="bg1"/>
                </a:solidFill>
              </a:rPr>
              <a:t>Lower the Meta budget and monitor its indirect return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high ticket and a profitable operation</a:t>
            </a:r>
            <a:endParaRPr lang="en-US" sz="2600" dirty="0"/>
          </a:p>
        </p:txBody>
      </p:sp>
      <p:sp>
        <p:nvSpPr>
          <p:cNvPr id="3" name="AY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$107.8K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gross sales year to date, from 1,188 orders</a:t>
            </a:r>
            <a:endParaRPr lang="en-US" sz="1200" dirty="0"/>
          </a:p>
        </p:txBody>
      </p:sp>
      <p:sp>
        <p:nvSpPr>
          <p:cNvPr id="6" name="AY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60%</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gross margin after product cost: $64.7K in contribution</a:t>
            </a:r>
            <a:endParaRPr lang="en-US" sz="1200" dirty="0"/>
          </a:p>
        </p:txBody>
      </p:sp>
      <p:sp>
        <p:nvSpPr>
          <p:cNvPr id="9" name="AY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4.2x</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sales for every dollar invested in paid media this year</a:t>
            </a:r>
            <a:endParaRPr lang="en-US" sz="1200" dirty="0"/>
          </a:p>
        </p:txBody>
      </p:sp>
      <p:sp>
        <p:nvSpPr>
          <p:cNvPr id="12" name="AY card 1"/>
          <p:cNvSpPr/>
          <p:nvPr/>
        </p:nvSpPr>
        <p:spPr>
          <a:xfrm>
            <a:off x="5029200" y="1005840"/>
            <a:ext cx="1783080" cy="1554480"/>
          </a:xfrm>
          <a:prstGeom prst="roundRect">
            <a:avLst>
              <a:gd name="adj" fmla="val 4706"/>
            </a:avLst>
          </a:prstGeom>
          <a:solidFill>
            <a:schemeClr val="bg2"/>
          </a:solidFill>
          <a:ln/>
        </p:spPr>
      </p:sp>
      <p:sp>
        <p:nvSpPr>
          <p:cNvPr id="13" name="AY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Highest ticket</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$91 average per order, the highest in the portfolio</a:t>
            </a:r>
            <a:endParaRPr lang="en-US" sz="1100" dirty="0"/>
          </a:p>
        </p:txBody>
      </p:sp>
      <p:sp>
        <p:nvSpPr>
          <p:cNvPr id="16" name="AY card 2"/>
          <p:cNvSpPr/>
          <p:nvPr/>
        </p:nvSpPr>
        <p:spPr>
          <a:xfrm>
            <a:off x="6903720" y="1005840"/>
            <a:ext cx="1783080" cy="1554480"/>
          </a:xfrm>
          <a:prstGeom prst="roundRect">
            <a:avLst>
              <a:gd name="adj" fmla="val 4706"/>
            </a:avLst>
          </a:prstGeom>
          <a:solidFill>
            <a:schemeClr val="bg2"/>
          </a:solidFill>
          <a:ln/>
        </p:spPr>
      </p:sp>
      <p:sp>
        <p:nvSpPr>
          <p:cNvPr id="17" name="AY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New customers</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523 this year, at about $49 each</a:t>
            </a:r>
            <a:endParaRPr lang="en-US" sz="1100" dirty="0"/>
          </a:p>
        </p:txBody>
      </p:sp>
      <p:sp>
        <p:nvSpPr>
          <p:cNvPr id="20" name="AY card 3"/>
          <p:cNvSpPr/>
          <p:nvPr/>
        </p:nvSpPr>
        <p:spPr>
          <a:xfrm>
            <a:off x="5029200" y="2697480"/>
            <a:ext cx="1783080" cy="1554480"/>
          </a:xfrm>
          <a:prstGeom prst="roundRect">
            <a:avLst>
              <a:gd name="adj" fmla="val 4706"/>
            </a:avLst>
          </a:prstGeom>
          <a:solidFill>
            <a:schemeClr val="bg2"/>
          </a:solidFill>
          <a:ln/>
        </p:spPr>
      </p:sp>
      <p:sp>
        <p:nvSpPr>
          <p:cNvPr id="21" name="AY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Healthy sales</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Discounts of just 5.7% and returns of 3.5% of sales</a:t>
            </a:r>
            <a:endParaRPr lang="en-US" sz="1100" dirty="0"/>
          </a:p>
        </p:txBody>
      </p:sp>
      <p:sp>
        <p:nvSpPr>
          <p:cNvPr id="24" name="AY card 4"/>
          <p:cNvSpPr/>
          <p:nvPr/>
        </p:nvSpPr>
        <p:spPr>
          <a:xfrm>
            <a:off x="6903720" y="2697480"/>
            <a:ext cx="1783080" cy="1554480"/>
          </a:xfrm>
          <a:prstGeom prst="roundRect">
            <a:avLst>
              <a:gd name="adj" fmla="val 4706"/>
            </a:avLst>
          </a:prstGeom>
          <a:solidFill>
            <a:schemeClr val="bg2"/>
          </a:solidFill>
          <a:ln/>
        </p:spPr>
      </p:sp>
      <p:sp>
        <p:nvSpPr>
          <p:cNvPr id="25" name="AY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Meta in October</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New customers at $26 per purchase, the most efficient campaign in the portfolio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Ayoba Shopify DTC dashboard (Jan 1 – Oct 13, 2026) and Meta Ads Manager (Oct 6–13).</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good traffic, the focus is Amazon</a:t>
            </a:r>
            <a:endParaRPr lang="en-US" sz="2600" dirty="0"/>
          </a:p>
        </p:txBody>
      </p:sp>
      <p:sp>
        <p:nvSpPr>
          <p:cNvPr id="3" name="AY now panel"/>
          <p:cNvSpPr/>
          <p:nvPr/>
        </p:nvSpPr>
        <p:spPr>
          <a:xfrm>
            <a:off x="457200" y="1005840"/>
            <a:ext cx="4023360" cy="3383280"/>
          </a:xfrm>
          <a:prstGeom prst="roundRect">
            <a:avLst>
              <a:gd name="adj" fmla="val 2162"/>
            </a:avLst>
          </a:prstGeom>
          <a:solidFill>
            <a:schemeClr val="bg2"/>
          </a:solidFill>
          <a:ln/>
        </p:spPr>
      </p:sp>
      <p:sp>
        <p:nvSpPr>
          <p:cNvPr id="4" name="AY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Where we are</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Where we're heading</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Very low sales on the website</a:t>
            </a:r>
            <a:endParaRPr lang="en-US" sz="1300" dirty="0"/>
          </a:p>
          <a:p>
            <a:pPr marL="342900" indent="-342900">
              <a:spcAft>
                <a:spcPts val="800"/>
              </a:spcAft>
              <a:buSzPct val="100000"/>
              <a:buChar char="•"/>
            </a:pPr>
            <a:r>
              <a:rPr lang="en-US" sz="1300" dirty="0">
                <a:solidFill>
                  <a:schemeClr val="tx1"/>
                </a:solidFill>
              </a:rPr>
              <a:t>Incoming traffic is good, but the shopping experience holds conversion back</a:t>
            </a:r>
            <a:endParaRPr lang="en-US" sz="1300" dirty="0"/>
          </a:p>
          <a:p>
            <a:pPr marL="342900" indent="-342900">
              <a:spcAft>
                <a:spcPts val="800"/>
              </a:spcAft>
              <a:buSzPct val="100000"/>
              <a:buChar char="•"/>
            </a:pPr>
            <a:r>
              <a:rPr lang="en-US" sz="1300" dirty="0">
                <a:solidFill>
                  <a:schemeClr val="tx1"/>
                </a:solidFill>
              </a:rPr>
              <a:t>October: $3.1K in sales at a 3.6x blended return</a:t>
            </a:r>
            <a:endParaRPr lang="en-US" sz="1300" dirty="0"/>
          </a:p>
          <a:p>
            <a:pPr marL="342900" indent="-342900">
              <a:spcAft>
                <a:spcPts val="800"/>
              </a:spcAft>
              <a:buSzPct val="100000"/>
              <a:buChar char="•"/>
            </a:pPr>
            <a:r>
              <a:rPr lang="en-US" sz="1300" dirty="0">
                <a:solidFill>
                  <a:schemeClr val="tx1"/>
                </a:solidFill>
              </a:rPr>
              <a:t>58% of customers are repeat buyers: the challenge is new-customer volume</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A/B test: brand campaign toward Amazon to measure the result</a:t>
            </a:r>
            <a:endParaRPr lang="en-US" sz="1300" dirty="0"/>
          </a:p>
          <a:p>
            <a:pPr marL="342900" indent="-342900">
              <a:spcAft>
                <a:spcPts val="800"/>
              </a:spcAft>
              <a:buSzPct val="100000"/>
              <a:buChar char="•"/>
            </a:pPr>
            <a:r>
              <a:rPr lang="en-US" sz="1300" dirty="0">
                <a:solidFill>
                  <a:schemeClr val="bg1"/>
                </a:solidFill>
              </a:rPr>
              <a:t>Goal: add 10% to Amazon sales (if it sells $10K, +$1K)</a:t>
            </a:r>
            <a:endParaRPr lang="en-US" sz="1300" dirty="0"/>
          </a:p>
          <a:p>
            <a:pPr marL="342900" indent="-342900">
              <a:spcAft>
                <a:spcPts val="800"/>
              </a:spcAft>
              <a:buSzPct val="100000"/>
              <a:buChar char="•"/>
            </a:pPr>
            <a:r>
              <a:rPr lang="en-US" sz="1300" dirty="0">
                <a:solidFill>
                  <a:schemeClr val="bg1"/>
                </a:solidFill>
              </a:rPr>
              <a:t>Low, performance-optimized web spend</a:t>
            </a:r>
            <a:endParaRPr lang="en-US" sz="1300" dirty="0"/>
          </a:p>
          <a:p>
            <a:pPr marL="342900" indent="-342900">
              <a:spcAft>
                <a:spcPts val="800"/>
              </a:spcAft>
              <a:buSzPct val="100000"/>
              <a:buChar char="•"/>
            </a:pPr>
            <a:r>
              <a:rPr lang="en-US" sz="1300" dirty="0">
                <a:solidFill>
                  <a:schemeClr val="bg1"/>
                </a:solidFill>
              </a:rPr>
              <a:t>Replicate Brooklyn's strategy: subscription and repeat purchase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we'll do this week</a:t>
            </a:r>
            <a:endParaRPr lang="en-US" sz="2600" dirty="0"/>
          </a:p>
        </p:txBody>
      </p:sp>
      <p:sp>
        <p:nvSpPr>
          <p:cNvPr id="3" name="Plan card 1"/>
          <p:cNvSpPr/>
          <p:nvPr/>
        </p:nvSpPr>
        <p:spPr>
          <a:xfrm>
            <a:off x="457200" y="1005840"/>
            <a:ext cx="2651760" cy="2377440"/>
          </a:xfrm>
          <a:prstGeom prst="roundRect">
            <a:avLst>
              <a:gd name="adj" fmla="val 3077"/>
            </a:avLst>
          </a:prstGeom>
          <a:solidFill>
            <a:schemeClr val="bg2"/>
          </a:solidFill>
          <a:ln/>
        </p:spPr>
      </p:sp>
      <p:sp>
        <p:nvSpPr>
          <p:cNvPr id="4" name="Plan dot 1"/>
          <p:cNvSpPr/>
          <p:nvPr/>
        </p:nvSpPr>
        <p:spPr>
          <a:xfrm>
            <a:off x="640080" y="1188720"/>
            <a:ext cx="274320" cy="274320"/>
          </a:xfrm>
          <a:prstGeom prst="ellipse">
            <a:avLst/>
          </a:prstGeom>
          <a:solidFill>
            <a:schemeClr val="accent1"/>
          </a:solidFill>
          <a:ln/>
        </p:spPr>
      </p:sp>
      <p:sp>
        <p:nvSpPr>
          <p:cNvPr id="5" name="Text 3"/>
          <p:cNvSpPr txBox="1"/>
          <p:nvPr/>
        </p:nvSpPr>
        <p:spPr>
          <a:xfrm>
            <a:off x="100584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Brooklyn Biltong</a:t>
            </a:r>
            <a:endParaRPr lang="en-US" sz="1500" dirty="0"/>
          </a:p>
        </p:txBody>
      </p:sp>
      <p:sp>
        <p:nvSpPr>
          <p:cNvPr id="6" name="Text 4"/>
          <p:cNvSpPr txBox="1"/>
          <p:nvPr/>
        </p:nvSpPr>
        <p:spPr>
          <a:xfrm>
            <a:off x="64008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Fast Sale: VIP 20% and list 15% (Oct 15), reminder Oct 16, last call Oct 18</a:t>
            </a:r>
            <a:endParaRPr lang="en-US" sz="1100" dirty="0"/>
          </a:p>
          <a:p>
            <a:pPr marL="342900" indent="-342900">
              <a:spcAft>
                <a:spcPts val="500"/>
              </a:spcAft>
              <a:buSzPct val="100000"/>
              <a:buChar char="•"/>
            </a:pPr>
            <a:r>
              <a:rPr lang="en-US" sz="1100" dirty="0">
                <a:solidFill>
                  <a:schemeClr val="tx1"/>
                </a:solidFill>
              </a:rPr>
              <a:t>New flows and hyper-segmented campaigns starting this week</a:t>
            </a:r>
            <a:endParaRPr lang="en-US" sz="1100" dirty="0"/>
          </a:p>
          <a:p>
            <a:pPr marL="342900" indent="-342900">
              <a:spcAft>
                <a:spcPts val="500"/>
              </a:spcAft>
              <a:buSzPct val="100000"/>
              <a:buChar char="•"/>
            </a:pPr>
            <a:r>
              <a:rPr lang="en-US" sz="1100" dirty="0">
                <a:solidFill>
                  <a:schemeClr val="tx1"/>
                </a:solidFill>
              </a:rPr>
              <a:t>Grow sales by scaling retargeting and Smile</a:t>
            </a:r>
            <a:endParaRPr lang="en-US" sz="1100" dirty="0"/>
          </a:p>
        </p:txBody>
      </p:sp>
      <p:sp>
        <p:nvSpPr>
          <p:cNvPr id="7" name="Plan card 2"/>
          <p:cNvSpPr/>
          <p:nvPr/>
        </p:nvSpPr>
        <p:spPr>
          <a:xfrm>
            <a:off x="3246120" y="1005840"/>
            <a:ext cx="2651760" cy="2377440"/>
          </a:xfrm>
          <a:prstGeom prst="roundRect">
            <a:avLst>
              <a:gd name="adj" fmla="val 3077"/>
            </a:avLst>
          </a:prstGeom>
          <a:solidFill>
            <a:schemeClr val="bg2"/>
          </a:solidFill>
          <a:ln/>
        </p:spPr>
      </p:sp>
      <p:sp>
        <p:nvSpPr>
          <p:cNvPr id="8" name="Plan dot 2"/>
          <p:cNvSpPr/>
          <p:nvPr/>
        </p:nvSpPr>
        <p:spPr>
          <a:xfrm>
            <a:off x="3429000" y="1188720"/>
            <a:ext cx="274320" cy="274320"/>
          </a:xfrm>
          <a:prstGeom prst="ellipse">
            <a:avLst/>
          </a:prstGeom>
          <a:solidFill>
            <a:schemeClr val="tx2"/>
          </a:solidFill>
          <a:ln/>
        </p:spPr>
      </p:sp>
      <p:sp>
        <p:nvSpPr>
          <p:cNvPr id="9" name="Text 7"/>
          <p:cNvSpPr txBox="1"/>
          <p:nvPr/>
        </p:nvSpPr>
        <p:spPr>
          <a:xfrm>
            <a:off x="379476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Beg &amp; Barker</a:t>
            </a:r>
            <a:endParaRPr lang="en-US" sz="1500" dirty="0"/>
          </a:p>
        </p:txBody>
      </p:sp>
      <p:sp>
        <p:nvSpPr>
          <p:cNvPr id="10" name="Text 8"/>
          <p:cNvSpPr txBox="1"/>
          <p:nvPr/>
        </p:nvSpPr>
        <p:spPr>
          <a:xfrm>
            <a:off x="342900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New-customer campaigns with promos</a:t>
            </a:r>
            <a:endParaRPr lang="en-US" sz="1100" dirty="0"/>
          </a:p>
          <a:p>
            <a:pPr marL="342900" indent="-342900">
              <a:spcAft>
                <a:spcPts val="500"/>
              </a:spcAft>
              <a:buSzPct val="100000"/>
              <a:buChar char="•"/>
            </a:pPr>
            <a:r>
              <a:rPr lang="en-US" sz="1100" dirty="0">
                <a:solidFill>
                  <a:schemeClr val="tx1"/>
                </a:solidFill>
              </a:rPr>
              <a:t>Paid media toward Amazon: full page, catalog and retargeting</a:t>
            </a:r>
            <a:endParaRPr lang="en-US" sz="1100" dirty="0"/>
          </a:p>
          <a:p>
            <a:pPr marL="342900" indent="-342900">
              <a:spcAft>
                <a:spcPts val="500"/>
              </a:spcAft>
              <a:buSzPct val="100000"/>
              <a:buChar char="•"/>
            </a:pPr>
            <a:r>
              <a:rPr lang="en-US" sz="1100" dirty="0">
                <a:solidFill>
                  <a:schemeClr val="tx1"/>
                </a:solidFill>
              </a:rPr>
              <a:t>Lower Meta and monitor its indirect return</a:t>
            </a:r>
            <a:endParaRPr lang="en-US" sz="1100" dirty="0"/>
          </a:p>
        </p:txBody>
      </p:sp>
      <p:sp>
        <p:nvSpPr>
          <p:cNvPr id="11" name="Plan card 3"/>
          <p:cNvSpPr/>
          <p:nvPr/>
        </p:nvSpPr>
        <p:spPr>
          <a:xfrm>
            <a:off x="6035040" y="1005840"/>
            <a:ext cx="2651760" cy="2377440"/>
          </a:xfrm>
          <a:prstGeom prst="roundRect">
            <a:avLst>
              <a:gd name="adj" fmla="val 3077"/>
            </a:avLst>
          </a:prstGeom>
          <a:solidFill>
            <a:schemeClr val="bg2"/>
          </a:solidFill>
          <a:ln/>
        </p:spPr>
      </p:sp>
      <p:sp>
        <p:nvSpPr>
          <p:cNvPr id="12" name="Plan dot 3"/>
          <p:cNvSpPr/>
          <p:nvPr/>
        </p:nvSpPr>
        <p:spPr>
          <a:xfrm>
            <a:off x="6217920" y="1188720"/>
            <a:ext cx="274320" cy="274320"/>
          </a:xfrm>
          <a:prstGeom prst="ellipse">
            <a:avLst/>
          </a:prstGeom>
          <a:solidFill>
            <a:schemeClr val="tx2"/>
          </a:solidFill>
          <a:ln/>
        </p:spPr>
      </p:sp>
      <p:sp>
        <p:nvSpPr>
          <p:cNvPr id="13" name="Text 11"/>
          <p:cNvSpPr txBox="1"/>
          <p:nvPr/>
        </p:nvSpPr>
        <p:spPr>
          <a:xfrm>
            <a:off x="658368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Ayoba Foods</a:t>
            </a:r>
            <a:endParaRPr lang="en-US" sz="1500" dirty="0"/>
          </a:p>
        </p:txBody>
      </p:sp>
      <p:sp>
        <p:nvSpPr>
          <p:cNvPr id="14" name="Text 12"/>
          <p:cNvSpPr txBox="1"/>
          <p:nvPr/>
        </p:nvSpPr>
        <p:spPr>
          <a:xfrm>
            <a:off x="621792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A/B test of a brand campaign toward Amazon (+10%)</a:t>
            </a:r>
            <a:endParaRPr lang="en-US" sz="1100" dirty="0"/>
          </a:p>
          <a:p>
            <a:pPr marL="342900" indent="-342900">
              <a:spcAft>
                <a:spcPts val="500"/>
              </a:spcAft>
              <a:buSzPct val="100000"/>
              <a:buChar char="•"/>
            </a:pPr>
            <a:r>
              <a:rPr lang="en-US" sz="1100" dirty="0">
                <a:solidFill>
                  <a:schemeClr val="tx1"/>
                </a:solidFill>
              </a:rPr>
              <a:t>Replicate Brooklyn's subscription strategy</a:t>
            </a:r>
            <a:endParaRPr lang="en-US" sz="1100" dirty="0"/>
          </a:p>
          <a:p>
            <a:pPr marL="342900" indent="-342900">
              <a:spcAft>
                <a:spcPts val="500"/>
              </a:spcAft>
              <a:buSzPct val="100000"/>
              <a:buChar char="•"/>
            </a:pPr>
            <a:r>
              <a:rPr lang="en-US" sz="1100" dirty="0">
                <a:solidFill>
                  <a:schemeClr val="tx1"/>
                </a:solidFill>
              </a:rPr>
              <a:t>Campaigns: Taco Night, Oktoberfest and Cabin Weekend</a:t>
            </a:r>
            <a:endParaRPr lang="en-US" sz="1100" dirty="0"/>
          </a:p>
        </p:txBody>
      </p:sp>
      <p:sp>
        <p:nvSpPr>
          <p:cNvPr id="15" name="Follow-up panel"/>
          <p:cNvSpPr/>
          <p:nvPr/>
        </p:nvSpPr>
        <p:spPr>
          <a:xfrm>
            <a:off x="457200" y="3566160"/>
            <a:ext cx="8229600" cy="960120"/>
          </a:xfrm>
          <a:prstGeom prst="roundRect">
            <a:avLst>
              <a:gd name="adj" fmla="val 7619"/>
            </a:avLst>
          </a:prstGeom>
          <a:solidFill>
            <a:schemeClr val="tx1"/>
          </a:solidFill>
          <a:ln/>
        </p:spPr>
      </p:sp>
      <p:sp>
        <p:nvSpPr>
          <p:cNvPr id="16" name="Text 14"/>
          <p:cNvSpPr txBox="1"/>
          <p:nvPr/>
        </p:nvSpPr>
        <p:spPr>
          <a:xfrm>
            <a:off x="685800" y="3657600"/>
            <a:ext cx="7772400" cy="320040"/>
          </a:xfrm>
          <a:prstGeom prst="rect">
            <a:avLst/>
          </a:prstGeom>
          <a:noFill/>
          <a:ln/>
        </p:spPr>
        <p:txBody>
          <a:bodyPr wrap="square" lIns="0" tIns="0" rIns="0" bIns="0" rtlCol="0" anchor="ctr"/>
          <a:lstStyle/>
          <a:p>
            <a:pPr indent="0" marL="0">
              <a:buNone/>
            </a:pPr>
            <a:r>
              <a:rPr lang="en-US" sz="1500" b="1" dirty="0">
                <a:solidFill>
                  <a:schemeClr val="bg1"/>
                </a:solidFill>
                <a:latin typeface="Cambria" pitchFamily="34" charset="0"/>
                <a:ea typeface="Cambria" pitchFamily="34" charset="-122"/>
                <a:cs typeface="Cambria" pitchFamily="34" charset="-120"/>
              </a:rPr>
              <a:t>Next follow-up: October 21</a:t>
            </a:r>
            <a:endParaRPr lang="en-US" sz="1500" dirty="0"/>
          </a:p>
        </p:txBody>
      </p:sp>
      <p:sp>
        <p:nvSpPr>
          <p:cNvPr id="17" name="Text 15"/>
          <p:cNvSpPr txBox="1"/>
          <p:nvPr/>
        </p:nvSpPr>
        <p:spPr>
          <a:xfrm>
            <a:off x="685800" y="3995928"/>
            <a:ext cx="7772400" cy="457200"/>
          </a:xfrm>
          <a:prstGeom prst="rect">
            <a:avLst/>
          </a:prstGeom>
          <a:noFill/>
          <a:ln/>
        </p:spPr>
        <p:txBody>
          <a:bodyPr wrap="square" lIns="0" tIns="0" rIns="0" bIns="0" rtlCol="0" anchor="t"/>
          <a:lstStyle/>
          <a:p>
            <a:pPr indent="0" marL="0">
              <a:buNone/>
            </a:pPr>
            <a:r>
              <a:rPr lang="en-US" sz="1200" dirty="0">
                <a:solidFill>
                  <a:schemeClr val="accent6"/>
                </a:solidFill>
              </a:rPr>
              <a:t>We'll share the results of Brooklyn's Fast Sale and the first read of the Amazon tests for Beg &amp; Barker and Ayoba.</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October 9 commitments: status by brand</a:t>
            </a:r>
            <a:endParaRPr lang="en-US" sz="2600" dirty="0"/>
          </a:p>
        </p:txBody>
      </p:sp>
      <p:graphicFrame>
        <p:nvGraphicFramePr>
          <p:cNvPr id="13" name="Commitment tracker"/>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960120"/>
                <a:gridCol w="2240280"/>
                <a:gridCol w="777240"/>
                <a:gridCol w="42519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Brand</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Commitment</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 it stands</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New-customer campaign on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Live since Oct 5. On Oct 13 we trimmed its budget ($1,000 → $800) due to a high cost per purchase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Offer vs. No-Offer A/B test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Closed Oct 6; 10%-off new-customer ad sets launched Oct 7</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Smile / W10 program</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List-based and lookalike audiences live on Meta; $210 invested</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Game Day email and SMS (Oct 11)</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Sent to 6,770 emails and 308 SMS: 7 orders, $585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Fast Sale VIP 20% / list 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C98418"/>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6 sends built: launch Oct 15, reminder Oct 16, last call Oct 18</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Recurring → Subscription flow</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 setup</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C7B70"/>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Built and in testing; not live yet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Ayoba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 customers + Smile10 on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3 purchases at $26 each: the lowest cost per purchase in the portfolio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Beg &amp; Barker</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 customers + new BARK15 Welcome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Campaign live since Oct 7 (budget $200 → $300); Welcome live since Oct 6</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All 3 brands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Dynamic retargeting (added)</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Oct 10: catalog ads to 90-day viewers and cart adders, excluding buyers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Meta: more volume, efficiency still being built</a:t>
            </a:r>
            <a:endParaRPr lang="en-US" sz="2600" dirty="0"/>
          </a:p>
        </p:txBody>
      </p:sp>
      <p:graphicFrame>
        <p:nvGraphicFramePr>
          <p:cNvPr id="3" name="Purchases chart" descr=""/>
          <p:cNvGraphicFramePr/>
          <p:nvPr/>
        </p:nvGraphicFramePr>
        <p:xfrm>
          <a:off x="457200" y="96012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937760" y="1005840"/>
            <a:ext cx="374904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What's working</a:t>
            </a:r>
            <a:endParaRPr lang="en-US" sz="1500" dirty="0"/>
          </a:p>
        </p:txBody>
      </p:sp>
      <p:sp>
        <p:nvSpPr>
          <p:cNvPr id="5" name="Text 2"/>
          <p:cNvSpPr txBox="1"/>
          <p:nvPr/>
        </p:nvSpPr>
        <p:spPr>
          <a:xfrm>
            <a:off x="4937760" y="1371600"/>
            <a:ext cx="3749040" cy="115214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Ayoba new customers: $26 per purchase, 1.6x return</a:t>
            </a:r>
            <a:endParaRPr lang="en-US" sz="1200" dirty="0"/>
          </a:p>
          <a:p>
            <a:pPr marL="342900" indent="-342900">
              <a:spcAft>
                <a:spcPts val="400"/>
              </a:spcAft>
              <a:buSzPct val="100000"/>
              <a:buChar char="•"/>
            </a:pPr>
            <a:r>
              <a:rPr lang="en-US" sz="1200" dirty="0">
                <a:solidFill>
                  <a:schemeClr val="tx1"/>
                </a:solidFill>
              </a:rPr>
              <a:t>Brooklyn dynamic retargeting: $26 per purchase, 2.9x return</a:t>
            </a:r>
            <a:endParaRPr lang="en-US" sz="1200" dirty="0"/>
          </a:p>
          <a:p>
            <a:pPr marL="342900" indent="-342900">
              <a:spcAft>
                <a:spcPts val="400"/>
              </a:spcAft>
              <a:buSzPct val="100000"/>
              <a:buChar char="•"/>
            </a:pPr>
            <a:r>
              <a:rPr lang="en-US" sz="1200" dirty="0">
                <a:solidFill>
                  <a:schemeClr val="tx1"/>
                </a:solidFill>
              </a:rPr>
              <a:t>Beg &amp; Barker dynamic retargeting: 3.1x return</a:t>
            </a:r>
            <a:endParaRPr lang="en-US" sz="1200" dirty="0"/>
          </a:p>
        </p:txBody>
      </p:sp>
      <p:sp>
        <p:nvSpPr>
          <p:cNvPr id="6" name="Text 3"/>
          <p:cNvSpPr txBox="1"/>
          <p:nvPr/>
        </p:nvSpPr>
        <p:spPr>
          <a:xfrm>
            <a:off x="4937760" y="2697480"/>
            <a:ext cx="374904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What we're fixing</a:t>
            </a:r>
            <a:endParaRPr lang="en-US" sz="1500" dirty="0"/>
          </a:p>
        </p:txBody>
      </p:sp>
      <p:sp>
        <p:nvSpPr>
          <p:cNvPr id="7" name="Text 4"/>
          <p:cNvSpPr txBox="1"/>
          <p:nvPr/>
        </p:nvSpPr>
        <p:spPr>
          <a:xfrm>
            <a:off x="4937760" y="3063240"/>
            <a:ext cx="3749040" cy="7680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Brooklyn new customers: $170 per purchase → budget trimmed on Oct 13</a:t>
            </a:r>
            <a:endParaRPr lang="en-US" sz="1200" dirty="0"/>
          </a:p>
          <a:p>
            <a:pPr marL="342900" indent="-342900">
              <a:spcAft>
                <a:spcPts val="400"/>
              </a:spcAft>
              <a:buSzPct val="100000"/>
              <a:buChar char="•"/>
            </a:pPr>
            <a:r>
              <a:rPr lang="en-US" sz="1200" dirty="0">
                <a:solidFill>
                  <a:schemeClr val="tx1"/>
                </a:solidFill>
              </a:rPr>
              <a:t>New retargeting (since Oct 10) is still learning; budget raised for Ayoba and Beg &amp; Barker</a:t>
            </a:r>
            <a:endParaRPr lang="en-US" sz="1200" dirty="0"/>
          </a:p>
        </p:txBody>
      </p:sp>
      <p:sp>
        <p:nvSpPr>
          <p:cNvPr id="8"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Meta Ads Manager, platform-attributed purchases and return. Excludes Google Ads and total store sales (see dashboards).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tormberg Status">
  <a:themeElements>
    <a:clrScheme name="Stormberg Status">
      <a:dk1>
        <a:srgbClr val="2A1F1C"/>
      </a:dk1>
      <a:lt1>
        <a:srgbClr val="FFFFFF"/>
      </a:lt1>
      <a:dk2>
        <a:srgbClr val="5A3A2E"/>
      </a:dk2>
      <a:lt2>
        <a:srgbClr val="F3EEE9"/>
      </a:lt2>
      <a:accent1>
        <a:srgbClr val="B4472B"/>
      </a:accent1>
      <a:accent2>
        <a:srgbClr val="2E6B4F"/>
      </a:accent2>
      <a:accent3>
        <a:srgbClr val="C98418"/>
      </a:accent3>
      <a:accent4>
        <a:srgbClr val="8C7B70"/>
      </a:accent4>
      <a:accent5>
        <a:srgbClr val="6E2A1E"/>
      </a:accent5>
      <a:accent6>
        <a:srgbClr val="C9B8A6"/>
      </a:accent6>
      <a:hlink>
        <a:srgbClr val="B4472B"/>
      </a:hlink>
      <a:folHlink>
        <a:srgbClr val="6E2A1E"/>
      </a:folHlink>
    </a:clrScheme>
    <a:fontScheme name="Stormberg Statu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Stormberg Foods: October progress</dc:title>
  <dc:subject>PptxGenJS Presentation</dc:subject>
  <dc:creator>Rebold</dc:creator>
  <cp:lastModifiedBy>Rebold</cp:lastModifiedBy>
  <cp:revision>1</cp:revision>
  <dcterms:created xsi:type="dcterms:W3CDTF">2026-10-14T16:27:16Z</dcterms:created>
  <dcterms:modified xsi:type="dcterms:W3CDTF">2026-10-14T16:27:16Z</dcterms:modified>
</cp:coreProperties>
</file>