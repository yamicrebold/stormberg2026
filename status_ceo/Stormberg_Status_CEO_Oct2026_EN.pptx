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aaa6873c-beeb-7725-bda5-16fded7950df}">
          <p14:sldIdLst>
            <p14:sldId id="256"/>
            <p14:sldId id="257"/>
          </p14:sldIdLst>
        </p14:section>
        <p14:section name="Progress" id="{b7fdf1aa-7b92-e32d-fb9d-2a7f0797a362}">
          <p14:sldIdLst>
            <p14:sldId id="258"/>
            <p14:sldId id="259"/>
            <p14:sldId id="260"/>
          </p14:sldIdLst>
        </p14:section>
        <p14:section name="Next steps" id="{c7e28eb3-e09f-fb17-f89a-ae1806f2de5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F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F1C"/>
                </a:solidFill>
                <a:latin typeface="+mn-lt"/>
              </a:rPr>
              <a:t>Meta-attributed purchases by brand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1–5 (5 days)</c:v>
                </c:pt>
              </c:strCache>
            </c:strRef>
          </c:tx>
          <c:spPr>
            <a:solidFill>
              <a:srgbClr val="C9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Brooklyn</c:v>
                  </c:pt>
                  <c:pt idx="1">
                    <c:v>Ayoba</c:v>
                  </c:pt>
                  <c:pt idx="2">
                    <c:v>Beg &amp; Barker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Oct 6–13 (8 days)</c:v>
                </c:pt>
              </c:strCache>
            </c:strRef>
          </c:tx>
          <c:spPr>
            <a:solidFill>
              <a:srgbClr val="B447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Brooklyn</c:v>
                  </c:pt>
                  <c:pt idx="1">
                    <c:v>Ayoba</c:v>
                  </c:pt>
                  <c:pt idx="2">
                    <c:v>Beg &amp; Barker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F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1F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F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F1C"/>
                </a:solidFill>
                <a:latin typeface="+mn-lt"/>
              </a:rPr>
              <a:t>Sales by program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program (USD)</c:v>
                </c:pt>
              </c:strCache>
            </c:strRef>
          </c:tx>
          <c:spPr>
            <a:solidFill>
              <a:srgbClr val="B4472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Other flows and sends</c:v>
                  </c:pt>
                  <c:pt idx="1">
                    <c:v>$10-off reminder</c:v>
                  </c:pt>
                  <c:pt idx="2">
                    <c:v>Win-back</c:v>
                  </c:pt>
                  <c:pt idx="3">
                    <c:v>SMS Welcome</c:v>
                  </c:pt>
                  <c:pt idx="4">
                    <c:v>Game Day (email + SMS)</c:v>
                  </c:pt>
                  <c:pt idx="5">
                    <c:v>First-purchase flow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266</c:v>
                </c:pt>
                <c:pt idx="1">
                  <c:v>145</c:v>
                </c:pt>
                <c:pt idx="2">
                  <c:v>166</c:v>
                </c:pt>
                <c:pt idx="3">
                  <c:v>265</c:v>
                </c:pt>
                <c:pt idx="4">
                  <c:v>585</c:v>
                </c:pt>
                <c:pt idx="5">
                  <c:v>647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F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Stormberg Foods · October status update · Data as of October 13,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EXECUTIVE STATUS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Stormberg Foods: October progress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Follow-up on the commitments in the October 1–9 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Brooklyn Biltong · Ayoba Foods · Beg &amp; Barker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October 14, 2026</a:t>
            </a:r>
            <a:endParaRPr lang="en-US" sz="1200" dirty="0"/>
          </a:p>
        </p:txBody>
      </p:sp>
      <p:sp>
        <p:nvSpPr>
          <p:cNvPr id="6" name="Motif circle"/>
          <p:cNvSpPr/>
          <p:nvPr/>
        </p:nvSpPr>
        <p:spPr>
          <a:xfrm>
            <a:off x="7498080" y="35661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Motif circle small"/>
          <p:cNvSpPr/>
          <p:nvPr/>
        </p:nvSpPr>
        <p:spPr>
          <a:xfrm>
            <a:off x="7086600" y="40690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actions are live and purchases are picking up</a:t>
            </a:r>
            <a:endParaRPr lang="en-US" sz="2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5156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15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143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Meta-attributed purchases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Oct 1–5 vs. Oct 6–13</a:t>
            </a:r>
            <a:endParaRPr lang="en-US" sz="1100" dirty="0"/>
          </a:p>
        </p:txBody>
      </p:sp>
      <p:sp>
        <p:nvSpPr>
          <p:cNvPr id="6" name="Stat card 2"/>
          <p:cNvSpPr/>
          <p:nvPr/>
        </p:nvSpPr>
        <p:spPr>
          <a:xfrm>
            <a:off x="457200" y="224028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2.3x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Daily Meta investment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$72 → $166 per day</a:t>
            </a:r>
            <a:endParaRPr lang="en-US" sz="1100" dirty="0"/>
          </a:p>
        </p:txBody>
      </p:sp>
      <p:sp>
        <p:nvSpPr>
          <p:cNvPr id="9" name="Stat card 3"/>
          <p:cNvSpPr/>
          <p:nvPr/>
        </p:nvSpPr>
        <p:spPr>
          <a:xfrm>
            <a:off x="457200" y="342900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5204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$2,074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520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Email and SMS sales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Brooklyn, Oct 1–14 (31 orders)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know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50876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Execution: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Meta commitment is live across all 3 brands, and we restructured retargeting on October 10.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Results: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purchases are up sharply, but Meta return (0.76x) is still below breakeven. Budget has already moved toward what converts best.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What's next: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Brooklyn's Fast Sale (Oct 15–18) is the biggest lever of the month.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9 commitments: status by brand</a:t>
            </a:r>
            <a:endParaRPr lang="en-US" sz="2600" dirty="0"/>
          </a:p>
        </p:txBody>
      </p:sp>
      <p:graphicFrame>
        <p:nvGraphicFramePr>
          <p:cNvPr id="4" name="Commitment track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40280"/>
                <a:gridCol w="777240"/>
                <a:gridCol w="4251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stands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New-customer campaign on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since Oct 5. On Oct 13 we trimmed its budget ($1,000 → $800) due to a high cost per 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vs. No-Offer A/B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Oct 6; 10%-off new-customer ad sets launched Oct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Smile / W10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List-based and lookalike audiences live on Meta; $210 invested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Day email and SMS (Oct 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to 6,770 emails and 308 SMS: 7 orders, $585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Sale VIP 20% / list 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4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sends built: launch Oct 15, reminder Oct 16, last call Oct 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→ Subscription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and in testing; not live yet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Ayoba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 + Smile10 on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purchases at $26 each: the lowest cost per purchase in the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 &amp; Barker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 + new BARK15 Welcome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live since Oct 7 (budget $200 → $300); Welcome live since Oct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brands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retargeting (added)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10: catalog ads to 90-day viewers and cart adders, excluding buyers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Meta: more volume, efficiency still being built</a:t>
            </a:r>
            <a:endParaRPr lang="en-US" sz="2600" dirty="0"/>
          </a:p>
        </p:txBody>
      </p:sp>
      <p:graphicFrame>
        <p:nvGraphicFramePr>
          <p:cNvPr id="3" name="Purchases chart" descr=""/>
          <p:cNvGraphicFramePr/>
          <p:nvPr/>
        </p:nvGraphicFramePr>
        <p:xfrm>
          <a:off x="457200" y="960120"/>
          <a:ext cx="4206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371600"/>
            <a:ext cx="3749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Ayoba new customers: $26 per purchase, 1.6x return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Brooklyn dynamic retargeting: $26 per purchase, 2.9x return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Beg &amp; Barker dynamic retargeting: 3.1x return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fixing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3063240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Brooklyn new customers: $170 per purchase → budget trimmed on Oct 13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 retargeting (since Oct 10) is still learning; budget raised for Ayoba and Beg &amp; Barker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Source: Meta Ads Manager, platform-attributed purchases and return. Excludes Google Ads and total store sales (see dashboards).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Brooklyn: email and SMS are driving repeat sales</a:t>
            </a:r>
            <a:endParaRPr lang="en-US" sz="2600" dirty="0"/>
          </a:p>
        </p:txBody>
      </p:sp>
      <p:sp>
        <p:nvSpPr>
          <p:cNvPr id="3" name="Retention stat panel"/>
          <p:cNvSpPr/>
          <p:nvPr/>
        </p:nvSpPr>
        <p:spPr>
          <a:xfrm>
            <a:off x="457200" y="100584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$2,074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 email and SMS-attributed sales,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Oct 1–14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orders; 17 came in automatically through flows</a:t>
            </a:r>
            <a:endParaRPr lang="en-US" sz="1200" dirty="0"/>
          </a:p>
        </p:txBody>
      </p:sp>
      <p:graphicFrame>
        <p:nvGraphicFramePr>
          <p:cNvPr id="8" name="Sales by program chart" descr=""/>
          <p:cNvGraphicFramePr/>
          <p:nvPr/>
        </p:nvGraphicFramePr>
        <p:xfrm>
          <a:off x="3840480" y="96012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3192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Game Day had a 60% open rate. The Subscribe &amp; Save and Second Order flows have been live since Oct 7.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Source: Klaviyo (Brooklyn Biltong), platform-attributed orders.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two weeks</a:t>
            </a:r>
            <a:endParaRPr lang="en-US" sz="2600" dirty="0"/>
          </a:p>
        </p:txBody>
      </p:sp>
      <p:sp>
        <p:nvSpPr>
          <p:cNvPr id="3" name="Timeline line"/>
          <p:cNvSpPr/>
          <p:nvPr/>
        </p:nvSpPr>
        <p:spPr>
          <a:xfrm>
            <a:off x="777240" y="1463040"/>
            <a:ext cx="75895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Oct 15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Brooklyn Fast Sale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VIP (2+ orders) 20%, rest of list 15%</a:t>
            </a:r>
            <a:endParaRPr lang="en-US" sz="1100" dirty="0"/>
          </a:p>
        </p:txBody>
      </p:sp>
      <p:sp>
        <p:nvSpPr>
          <p:cNvPr id="8" name="Timeline dot 2"/>
          <p:cNvSpPr/>
          <p:nvPr/>
        </p:nvSpPr>
        <p:spPr>
          <a:xfrm>
            <a:off x="2667305" y="12801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0145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Oct 16–18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30145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 and last call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30145" y="239572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Email to VIP and full list</a:t>
            </a:r>
            <a:endParaRPr lang="en-US" sz="1100" dirty="0"/>
          </a:p>
        </p:txBody>
      </p:sp>
      <p:sp>
        <p:nvSpPr>
          <p:cNvPr id="12" name="Timeline dot 3"/>
          <p:cNvSpPr/>
          <p:nvPr/>
        </p:nvSpPr>
        <p:spPr>
          <a:xfrm>
            <a:off x="4740250" y="128016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309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Week of Oct 20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0309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winners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03090" y="239572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More budget to retargeting and Ayoba new customers; less to what's expensive</a:t>
            </a:r>
            <a:endParaRPr lang="en-US" sz="1100" dirty="0"/>
          </a:p>
        </p:txBody>
      </p:sp>
      <p:sp>
        <p:nvSpPr>
          <p:cNvPr id="16" name="Timeline dot 4"/>
          <p:cNvSpPr/>
          <p:nvPr/>
        </p:nvSpPr>
        <p:spPr>
          <a:xfrm>
            <a:off x="6813194" y="128016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6034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October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603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6034" y="239572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Recurring → Subscription (Brooklyn), SMS Welcome (Beg &amp; Barker), Ayoba flows</a:t>
            </a:r>
            <a:endParaRPr lang="en-US" sz="1100" dirty="0"/>
          </a:p>
        </p:txBody>
      </p:sp>
      <p:sp>
        <p:nvSpPr>
          <p:cNvPr id="20" name="Meeting asks panel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for Wednesday's meeting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Target cost per new-customer purchase by brand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Fast Sale results vs. September's promotional week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mberg Status">
  <a:themeElements>
    <a:clrScheme name="Stormberg Status">
      <a:dk1>
        <a:srgbClr val="2A1F1C"/>
      </a:dk1>
      <a:lt1>
        <a:srgbClr val="FFFFFF"/>
      </a:lt1>
      <a:dk2>
        <a:srgbClr val="5A3A2E"/>
      </a:dk2>
      <a:lt2>
        <a:srgbClr val="F3EEE9"/>
      </a:lt2>
      <a:accent1>
        <a:srgbClr val="B4472B"/>
      </a:accent1>
      <a:accent2>
        <a:srgbClr val="2E6B4F"/>
      </a:accent2>
      <a:accent3>
        <a:srgbClr val="C98418"/>
      </a:accent3>
      <a:accent4>
        <a:srgbClr val="8C7B70"/>
      </a:accent4>
      <a:accent5>
        <a:srgbClr val="6E2A1E"/>
      </a:accent5>
      <a:accent6>
        <a:srgbClr val="C9B8A6"/>
      </a:accent6>
      <a:hlink>
        <a:srgbClr val="B4472B"/>
      </a:hlink>
      <a:folHlink>
        <a:srgbClr val="6E2A1E"/>
      </a:folHlink>
    </a:clrScheme>
    <a:fontScheme name="Stormberg Stat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Stormberg Foods: October progress</dc:title>
  <dc:subject>PptxGenJS Presentation</dc:subject>
  <dc:creator>Rebold</dc:creator>
  <cp:lastModifiedBy>Rebold</cp:lastModifiedBy>
  <cp:revision>1</cp:revision>
  <dcterms:created xsi:type="dcterms:W3CDTF">2026-10-14T14:29:03Z</dcterms:created>
  <dcterms:modified xsi:type="dcterms:W3CDTF">2026-10-14T14:29:03Z</dcterms:modified>
</cp:coreProperties>
</file>