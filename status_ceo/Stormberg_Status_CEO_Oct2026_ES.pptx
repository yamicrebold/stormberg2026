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942286a6-1709-ca31-d2e2-d9025e495ceb}">
          <p14:sldIdLst>
            <p14:sldId id="256"/>
            <p14:sldId id="257"/>
            <p14:sldId id="258"/>
          </p14:sldIdLst>
        </p14:section>
        <p14:section name="Avances" id="{5522b7fe-d0dd-1b6c-a411-d29463125f8c}">
          <p14:sldIdLst>
            <p14:sldId id="259"/>
            <p14:sldId id="260"/>
            <p14:sldId id="261"/>
          </p14:sldIdLst>
        </p14:section>
        <p14:section name="Próximos pasos" id="{6aa2f217-acdd-3f72-7879-2a5d2a5abe7a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2A1F1C"/>
                </a:solidFill>
                <a:latin typeface="+mn-lt"/>
              </a:rPr>
              <a:t>Venta diaria de la tienda Brooklyn (USD)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1375</c:v>
                </c:pt>
                <c:pt idx="1">
                  <c:v>525</c:v>
                </c:pt>
                <c:pt idx="2">
                  <c:v>854</c:v>
                </c:pt>
                <c:pt idx="3">
                  <c:v>931</c:v>
                </c:pt>
                <c:pt idx="4">
                  <c:v>698</c:v>
                </c:pt>
                <c:pt idx="5">
                  <c:v>1485</c:v>
                </c:pt>
                <c:pt idx="6">
                  <c:v>739</c:v>
                </c:pt>
                <c:pt idx="7">
                  <c:v>777</c:v>
                </c:pt>
                <c:pt idx="8">
                  <c:v>885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866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hl</c:v>
                </c:pt>
              </c:strCache>
            </c:strRef>
          </c:tx>
          <c:spPr>
            <a:solidFill>
              <a:srgbClr val="2E6B4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Sheet1!$A$2:$A$14</c:f>
              <c:multiLvlStrCache>
                <c:ptCount val="13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1569</c:v>
                </c:pt>
                <c:pt idx="10">
                  <c:v>1637</c:v>
                </c:pt>
                <c:pt idx="11">
                  <c:v>2030</c:v>
                </c:pt>
                <c:pt idx="1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00"/>
        </c:scaling>
        <c:delete val="0"/>
        <c:axPos val="l"/>
        <c:majorGridlines>
          <c:spPr>
            <a:ln w="9525" cap="flat">
              <a:solidFill>
                <a:srgbClr val="F3EEE9"/>
              </a:solidFill>
              <a:prstDash val="solid"/>
              <a:round/>
            </a:ln>
          </c:spPr>
        </c:majorGridlines>
        <c:numFmt formatCode="$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C7B7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Compras atribuidas a Meta por marca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1–5 oct (5 días)</c:v>
                </c:pt>
              </c:strCache>
            </c:strRef>
          </c:tx>
          <c:spPr>
            <a:solidFill>
              <a:srgbClr val="C9B8A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6–13 oct (8 días)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Brooklyn</c:v>
                  </c:pt>
                  <c:pt idx="1">
                    <c:v>Ayoba</c:v>
                  </c:pt>
                  <c:pt idx="2">
                    <c:v>Beg &amp; Barker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</c:v>
                </c:pt>
                <c:pt idx="1">
                  <c:v>4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A1F1C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A1F1C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2A1F1C"/>
                </a:solidFill>
                <a:latin typeface="+mn-lt"/>
              </a:rPr>
              <a:t>Ventas por programa (USD)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Ventas por programa (USD)</c:v>
                </c:pt>
              </c:strCache>
            </c:strRef>
          </c:tx>
          <c:spPr>
            <a:solidFill>
              <a:srgbClr val="B447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A1F1C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Otros flujos y envíos</c:v>
                  </c:pt>
                  <c:pt idx="1">
                    <c:v>Recordatorio $10 off</c:v>
                  </c:pt>
                  <c:pt idx="2">
                    <c:v>Win-back</c:v>
                  </c:pt>
                  <c:pt idx="3">
                    <c:v>Welcome por SMS</c:v>
                  </c:pt>
                  <c:pt idx="4">
                    <c:v>Game Day (email + SMS)</c:v>
                  </c:pt>
                  <c:pt idx="5">
                    <c:v>Flujo primera compra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266</c:v>
                </c:pt>
                <c:pt idx="1">
                  <c:v>145</c:v>
                </c:pt>
                <c:pt idx="2">
                  <c:v>166</c:v>
                </c:pt>
                <c:pt idx="3">
                  <c:v>265</c:v>
                </c:pt>
                <c:pt idx="4">
                  <c:v>585</c:v>
                </c:pt>
                <c:pt idx="5">
                  <c:v>647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A1F1C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A1F1C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300" kern="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5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Stormberg Foods · Status de octubre · Datos al 13 de octubre de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430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6"/>
                </a:solidFill>
              </a:rPr>
              <a:t>STATUS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087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Stormberg Foods: avances de octubre</a:t>
            </a:r>
            <a:endParaRPr lang="en-US" sz="3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6060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Seguimiento a lo comprometido en el update del 1–9 de octubre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Brooklyn Biltong · Ayoba Foods · Beg &amp; Barker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1605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14 de octubre de 2026</a:t>
            </a:r>
            <a:endParaRPr lang="en-US" sz="1200" dirty="0"/>
          </a:p>
        </p:txBody>
      </p:sp>
      <p:sp>
        <p:nvSpPr>
          <p:cNvPr id="6" name="Motif circle"/>
          <p:cNvSpPr/>
          <p:nvPr/>
        </p:nvSpPr>
        <p:spPr>
          <a:xfrm>
            <a:off x="7498080" y="3566160"/>
            <a:ext cx="1097280" cy="109728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Motif circle small"/>
          <p:cNvSpPr/>
          <p:nvPr/>
        </p:nvSpPr>
        <p:spPr>
          <a:xfrm>
            <a:off x="7086600" y="4069080"/>
            <a:ext cx="548640" cy="548640"/>
          </a:xfrm>
          <a:prstGeom prst="ellipse">
            <a:avLst/>
          </a:prstGeom>
          <a:solidFill>
            <a:schemeClr val="accent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Las ventas repuntan: tres días seguidos sobre $1.500</a:t>
            </a:r>
            <a:endParaRPr lang="en-US" sz="2600" dirty="0"/>
          </a:p>
        </p:txBody>
      </p:sp>
      <p:sp>
        <p:nvSpPr>
          <p:cNvPr id="3" name="Stat card 1"/>
          <p:cNvSpPr/>
          <p:nvPr/>
        </p:nvSpPr>
        <p:spPr>
          <a:xfrm>
            <a:off x="457200" y="105156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14300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→ 15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2103120" y="11430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Compras atribuidas a Meta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1–5 oct vs. 6–13 oct</a:t>
            </a:r>
            <a:endParaRPr lang="en-US" sz="1100" dirty="0"/>
          </a:p>
        </p:txBody>
      </p:sp>
      <p:sp>
        <p:nvSpPr>
          <p:cNvPr id="6" name="Stat card 2"/>
          <p:cNvSpPr/>
          <p:nvPr/>
        </p:nvSpPr>
        <p:spPr>
          <a:xfrm>
            <a:off x="457200" y="224028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40080" y="233172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+90%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2103120" y="233172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 diaria de Brooklyn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10–12 oct vs. 1–9 oct</a:t>
            </a:r>
            <a:endParaRPr lang="en-US" sz="1100" dirty="0"/>
          </a:p>
        </p:txBody>
      </p:sp>
      <p:sp>
        <p:nvSpPr>
          <p:cNvPr id="9" name="Stat card 3"/>
          <p:cNvSpPr/>
          <p:nvPr/>
        </p:nvSpPr>
        <p:spPr>
          <a:xfrm>
            <a:off x="457200" y="3429000"/>
            <a:ext cx="3291840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40080" y="3520440"/>
            <a:ext cx="1417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2103120" y="352044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Ventas por email y SMS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Brooklyn, 1–14 oct (31 órdenes)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0" y="10515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tiene que saber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1508760"/>
            <a:ext cx="45720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Tracción: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Brooklyn vendió $1.745 diarios del 10 al 12 de octubre, casi el doble que en los primeros nueve días del mes, justo cuando se encendió Meta. Y la utilidad se mantiene en $4,5–5K al mes con casi la mitad de la inversión en medios.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Ejecución: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todo lo comprometido en Meta ya está en el aire en las 3 marcas.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A cuidar: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retorno directo de Meta (0,76x) aún está en construcción; ya movimos presupuesto a lo que mejor convierte.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400" b="1" dirty="0">
                <a:solidFill>
                  <a:schemeClr val="accent1"/>
                </a:solidFill>
              </a:rPr>
              <a:t>Lo que viene: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el Fast Sale de Brooklyn (15–18 oct) es la palanca más grande del 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Señales positivas de la última semana</a:t>
            </a:r>
            <a:endParaRPr lang="en-US" sz="2600" dirty="0"/>
          </a:p>
        </p:txBody>
      </p:sp>
      <p:graphicFrame>
        <p:nvGraphicFramePr>
          <p:cNvPr id="3" name="Daily sales chart" descr=""/>
          <p:cNvGraphicFramePr/>
          <p:nvPr/>
        </p:nvGraphicFramePr>
        <p:xfrm>
          <a:off x="457200" y="960120"/>
          <a:ext cx="429768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1188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$4,5–5K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2377440" y="361188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 utilidad mensual estable desde mayo, con casi la mitad de la inversión en medios</a:t>
            </a:r>
            <a:endParaRPr lang="en-US" sz="1200" dirty="0"/>
          </a:p>
        </p:txBody>
      </p:sp>
      <p:sp>
        <p:nvSpPr>
          <p:cNvPr id="6" name="Positive card 1"/>
          <p:cNvSpPr/>
          <p:nvPr/>
        </p:nvSpPr>
        <p:spPr>
          <a:xfrm>
            <a:off x="502920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7" name="Positive dot 1"/>
          <p:cNvSpPr/>
          <p:nvPr/>
        </p:nvSpPr>
        <p:spPr>
          <a:xfrm>
            <a:off x="516636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Flujos más rentables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516636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Tras los ajustes, los flujos generan $1,04 por receptor (vs. $0,21 en septiembre) y $80 diarios (+40%)</a:t>
            </a:r>
            <a:endParaRPr lang="en-US" sz="1050" dirty="0"/>
          </a:p>
        </p:txBody>
      </p:sp>
      <p:sp>
        <p:nvSpPr>
          <p:cNvPr id="10" name="Positive card 2"/>
          <p:cNvSpPr/>
          <p:nvPr/>
        </p:nvSpPr>
        <p:spPr>
          <a:xfrm>
            <a:off x="6903720" y="100584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Positive dot 2"/>
          <p:cNvSpPr/>
          <p:nvPr/>
        </p:nvSpPr>
        <p:spPr>
          <a:xfrm>
            <a:off x="7040880" y="11430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7360920" y="109728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Smile en crecimiento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150876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Clientes que ganan puntos por compra: de 74 a 82 por semana (+11%) desde que arrancó la pauta</a:t>
            </a:r>
            <a:endParaRPr lang="en-US" sz="1050" dirty="0"/>
          </a:p>
        </p:txBody>
      </p:sp>
      <p:sp>
        <p:nvSpPr>
          <p:cNvPr id="14" name="Positive card 3"/>
          <p:cNvSpPr/>
          <p:nvPr/>
        </p:nvSpPr>
        <p:spPr>
          <a:xfrm>
            <a:off x="502920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5" name="Positive dot 3"/>
          <p:cNvSpPr/>
          <p:nvPr/>
        </p:nvSpPr>
        <p:spPr>
          <a:xfrm>
            <a:off x="516636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48640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Suscripciones al alza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16636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Más ventas por suscripción, con el flujo Subscribe &amp; Save activo desde el 7 oct</a:t>
            </a:r>
            <a:endParaRPr lang="en-US" sz="1050" dirty="0"/>
          </a:p>
        </p:txBody>
      </p:sp>
      <p:sp>
        <p:nvSpPr>
          <p:cNvPr id="18" name="Positive card 4"/>
          <p:cNvSpPr/>
          <p:nvPr/>
        </p:nvSpPr>
        <p:spPr>
          <a:xfrm>
            <a:off x="6903720" y="2697480"/>
            <a:ext cx="17830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9" name="Positive dot 4"/>
          <p:cNvSpPr/>
          <p:nvPr/>
        </p:nvSpPr>
        <p:spPr>
          <a:xfrm>
            <a:off x="7040880" y="283464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7360920" y="2788920"/>
            <a:ext cx="1261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Google: Marca y PMax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7040880" y="3200400"/>
            <a:ext cx="1536192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tx1"/>
                </a:solidFill>
              </a:rPr>
              <a:t>ROAS muy sólido la última semana, en paralelo con el encendido de Meta</a:t>
            </a:r>
            <a:endParaRPr lang="en-US" sz="1050" dirty="0"/>
          </a:p>
        </p:txBody>
      </p:sp>
      <p:sp>
        <p:nvSpPr>
          <p:cNvPr id="22" name="Text 19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 para ventas de la tienda, flujos y Smile. Utilidad: análisis financiero de Brooklyn. Suscripciones y Google: reportes de plataforma del equipo.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comprometido el 9 de octubre: estado por marca</a:t>
            </a:r>
            <a:endParaRPr lang="en-US" sz="2600" dirty="0"/>
          </a:p>
        </p:txBody>
      </p:sp>
      <p:graphicFrame>
        <p:nvGraphicFramePr>
          <p:cNvPr id="5" name="Commitment tracker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2240280"/>
                <a:gridCol w="777240"/>
                <a:gridCol w="42519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Compromiso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Dónde está hoy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1F1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de clientes nuevos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 desde el 5 oct. El 13 oct bajamos su presupuesto ($1.000 → $800) por costo por compra alto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A/B Oferta vs. Sin oferta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Cerrado el 6 oct; el 7 oct salieron los conjuntos de clientes nuevos con 10% de descuento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Programa Smile / W10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Públicos de lista y similares activos en Meta; $210 invertidos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Game Day por email y SMS (11 oct)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Enviado a 6.770 correos y 308 SMS: 7 órdenes, $585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 Sale VIP 20% / lista 15%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curso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9841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envíos armados: lanzamiento 15 oct, recordatorio 16 oct, último llamado 18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Brooklyn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Flujo Recurrente → Suscripción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montaje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C7B7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Construido y en pruebas; aún no está activo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Ayoba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Smile10 en Meta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compras a $26 c/u: el costo por compra más bajo del portafolio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Beg &amp; Barker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Clientes nuevos + nueva Welcome BARK15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Campaña activa desde el 7 oct (presupuesto $200 → $300); Welcome activa desde el 6 oct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 3 marcas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Retargeting dinámico (adicional)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Hecho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4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A1F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oct: anuncios de catálogo a quienes vieron o agregaron al carrito en 90 días, sin compradores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EE9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Meta: más volumen, eficiencia todavía en construcción</a:t>
            </a:r>
            <a:endParaRPr lang="en-US" sz="2600" dirty="0"/>
          </a:p>
        </p:txBody>
      </p:sp>
      <p:graphicFrame>
        <p:nvGraphicFramePr>
          <p:cNvPr id="3" name="Purchases chart" descr=""/>
          <p:cNvGraphicFramePr/>
          <p:nvPr/>
        </p:nvGraphicFramePr>
        <p:xfrm>
          <a:off x="457200" y="960120"/>
          <a:ext cx="420624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937760" y="100584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funciona</a:t>
            </a:r>
            <a:endParaRPr lang="en-US" sz="1500" dirty="0"/>
          </a:p>
        </p:txBody>
      </p:sp>
      <p:sp>
        <p:nvSpPr>
          <p:cNvPr id="5" name="Text 2"/>
          <p:cNvSpPr txBox="1"/>
          <p:nvPr/>
        </p:nvSpPr>
        <p:spPr>
          <a:xfrm>
            <a:off x="4937760" y="1371600"/>
            <a:ext cx="3749040" cy="1152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Ayoba, clientes nuevos: $26 por compra, retorno 1,6x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retargeting dinámico: $26 por compra, retorno 2,9x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Beg &amp; Barker, retargeting dinámico: retorno 3,1x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4937760" y="269748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estamos corrigiendo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3063240"/>
            <a:ext cx="3749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Brooklyn, clientes nuevos: $170 por compra → presupuesto recortado el 13 oct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Retargeting nuevo (desde el 10 oct) aún en aprendizaje; le subimos presupuesto en Ayoba y Beg &amp; Barker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Meta Ads Manager, compras y retorno atribuidos por la plataforma. No incluye Google Ads ni el total de ventas de la tienda (ver dashboards).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Brooklyn: email y SMS ya generan ventas recurrentes</a:t>
            </a:r>
            <a:endParaRPr lang="en-US" sz="2600" dirty="0"/>
          </a:p>
        </p:txBody>
      </p:sp>
      <p:sp>
        <p:nvSpPr>
          <p:cNvPr id="3" name="Retention stat panel"/>
          <p:cNvSpPr/>
          <p:nvPr/>
        </p:nvSpPr>
        <p:spPr>
          <a:xfrm>
            <a:off x="457200" y="1005840"/>
            <a:ext cx="3108960" cy="3291840"/>
          </a:xfrm>
          <a:prstGeom prst="roundRect">
            <a:avLst>
              <a:gd name="adj" fmla="val 2353"/>
            </a:avLst>
          </a:prstGeom>
          <a:solidFill>
            <a:schemeClr val="tx1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$2.074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7452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en ventas atribuidas a email y SMS,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1–14 oct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4688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154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órdenes; 17 llegan solas por flujos automáticos</a:t>
            </a:r>
            <a:endParaRPr lang="en-US" sz="1200" dirty="0"/>
          </a:p>
        </p:txBody>
      </p:sp>
      <p:graphicFrame>
        <p:nvGraphicFramePr>
          <p:cNvPr id="8" name="Sales by program chart" descr=""/>
          <p:cNvGraphicFramePr/>
          <p:nvPr/>
        </p:nvGraphicFramePr>
        <p:xfrm>
          <a:off x="3840480" y="960120"/>
          <a:ext cx="48463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3931920" y="37490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El Game Day tuvo 60% de apertura. Los flujos de Subscribe &amp; Save y Segunda Orden están activos desde el 7 oct.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chemeClr val="accent4"/>
                </a:solidFill>
              </a:rPr>
              <a:t>Fuente: Klaviyo (Brooklyn Biltong), órdenes atribuidas por la plataforma.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haremos esta semana</a:t>
            </a:r>
            <a:endParaRPr lang="en-US" sz="2600" dirty="0"/>
          </a:p>
        </p:txBody>
      </p:sp>
      <p:sp>
        <p:nvSpPr>
          <p:cNvPr id="3" name="Plan card 1"/>
          <p:cNvSpPr/>
          <p:nvPr/>
        </p:nvSpPr>
        <p:spPr>
          <a:xfrm>
            <a:off x="45720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4" name="Plan dot 1"/>
          <p:cNvSpPr/>
          <p:nvPr/>
        </p:nvSpPr>
        <p:spPr>
          <a:xfrm>
            <a:off x="640080" y="1188720"/>
            <a:ext cx="274320" cy="27432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Brooklyn Biltong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Fast Sale: VIP 20% y lista 15% (15 oct), recordatorio el 16 y cierre el 18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el retargeting dinámico y Smile; ajustar clientes nuevos según su costo por compra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Recuperar la frecuencia de email y activar el flujo Recurrente → Suscripción</a:t>
            </a:r>
            <a:endParaRPr lang="en-US" sz="1100" dirty="0"/>
          </a:p>
        </p:txBody>
      </p:sp>
      <p:sp>
        <p:nvSpPr>
          <p:cNvPr id="7" name="Plan card 2"/>
          <p:cNvSpPr/>
          <p:nvPr/>
        </p:nvSpPr>
        <p:spPr>
          <a:xfrm>
            <a:off x="324612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8" name="Plan dot 2"/>
          <p:cNvSpPr/>
          <p:nvPr/>
        </p:nvSpPr>
        <p:spPr>
          <a:xfrm>
            <a:off x="342900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79476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Ayoba Foods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la campaña de clientes nuevos, la de menor costo por compra del portafolio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Activar los flujos de retención para que corran solos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Campañas: Spicy Taco Night, Droëwors Oktoberfest y Cabin Weekend</a:t>
            </a:r>
            <a:endParaRPr lang="en-US" sz="1100" dirty="0"/>
          </a:p>
        </p:txBody>
      </p:sp>
      <p:sp>
        <p:nvSpPr>
          <p:cNvPr id="11" name="Plan card 3"/>
          <p:cNvSpPr/>
          <p:nvPr/>
        </p:nvSpPr>
        <p:spPr>
          <a:xfrm>
            <a:off x="6035040" y="1005840"/>
            <a:ext cx="265176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12" name="Plan dot 3"/>
          <p:cNvSpPr/>
          <p:nvPr/>
        </p:nvSpPr>
        <p:spPr>
          <a:xfrm>
            <a:off x="6217920" y="1188720"/>
            <a:ext cx="274320" cy="274320"/>
          </a:xfrm>
          <a:prstGeom prst="ellipse">
            <a:avLst/>
          </a:prstGeom>
          <a:solidFill>
            <a:schemeClr val="tx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1143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 &amp; Barker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600200"/>
            <a:ext cx="23317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Escalar la campaña de clientes nuevos a medida que gana datos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Lanzar la SMS Welcome Series y medir la nueva Welcome BARK15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Sostener el retargeting dinámico con su nuevo presupuesto</a:t>
            </a:r>
            <a:endParaRPr lang="en-US" sz="1100" dirty="0"/>
          </a:p>
        </p:txBody>
      </p:sp>
      <p:sp>
        <p:nvSpPr>
          <p:cNvPr id="15" name="Follow-up panel"/>
          <p:cNvSpPr/>
          <p:nvPr/>
        </p:nvSpPr>
        <p:spPr>
          <a:xfrm>
            <a:off x="457200" y="356616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tx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85800" y="365760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Próximo seguimiento: 21 de octubre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Le compartiremos los resultados del Fast Sale de Brooklyn (ventas, órdenes y respuesta de VIP vs. lista) y cómo evolucionan las campañas de clientes nuevos en las 3 marcas.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ormberg Status">
  <a:themeElements>
    <a:clrScheme name="Stormberg Status">
      <a:dk1>
        <a:srgbClr val="2A1F1C"/>
      </a:dk1>
      <a:lt1>
        <a:srgbClr val="FFFFFF"/>
      </a:lt1>
      <a:dk2>
        <a:srgbClr val="5A3A2E"/>
      </a:dk2>
      <a:lt2>
        <a:srgbClr val="F3EEE9"/>
      </a:lt2>
      <a:accent1>
        <a:srgbClr val="B4472B"/>
      </a:accent1>
      <a:accent2>
        <a:srgbClr val="2E6B4F"/>
      </a:accent2>
      <a:accent3>
        <a:srgbClr val="C98418"/>
      </a:accent3>
      <a:accent4>
        <a:srgbClr val="8C7B70"/>
      </a:accent4>
      <a:accent5>
        <a:srgbClr val="6E2A1E"/>
      </a:accent5>
      <a:accent6>
        <a:srgbClr val="C9B8A6"/>
      </a:accent6>
      <a:hlink>
        <a:srgbClr val="B4472B"/>
      </a:hlink>
      <a:folHlink>
        <a:srgbClr val="6E2A1E"/>
      </a:folHlink>
    </a:clrScheme>
    <a:fontScheme name="Stormberg Statu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Stormberg Foods: avances de octubre</dc:title>
  <dc:subject>PptxGenJS Presentation</dc:subject>
  <dc:creator>Rebold</dc:creator>
  <cp:lastModifiedBy>Rebold</cp:lastModifiedBy>
  <cp:revision>1</cp:revision>
  <dcterms:created xsi:type="dcterms:W3CDTF">2026-10-14T15:18:13Z</dcterms:created>
  <dcterms:modified xsi:type="dcterms:W3CDTF">2026-10-14T15:18:13Z</dcterms:modified>
</cp:coreProperties>
</file>