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6a855431-6e3a-05b1-8ea6-7829ddc7bee5}">
          <p14:sldIdLst>
            <p14:sldId id="256"/>
            <p14:sldId id="257"/>
          </p14:sldIdLst>
        </p14:section>
        <p14:section name="Brooklyn Biltong" id="{0079fb7e-f3d3-f438-b387-d8062ca1eab5}">
          <p14:sldIdLst>
            <p14:sldId id="258"/>
            <p14:sldId id="259"/>
            <p14:sldId id="260"/>
            <p14:sldId id="261"/>
          </p14:sldIdLst>
        </p14:section>
        <p14:section name="Beg &amp; Barker" id="{330161c6-c482-8e73-b538-063dbb834779}">
          <p14:sldIdLst>
            <p14:sldId id="262"/>
            <p14:sldId id="263"/>
          </p14:sldIdLst>
        </p14:section>
        <p14:section name="Ayoba Foods" id="{67be9982-31c2-3f6b-f03a-619a6ea08f78}">
          <p14:sldIdLst>
            <p14:sldId id="264"/>
            <p14:sldId id="265"/>
          </p14:sldIdLst>
        </p14:section>
        <p14:section name="Próximos pasos" id="{00ba5860-1492-5eed-03e7-81cd258aae0f}">
          <p14:sldIdLst>
            <p14:sldId id="266"/>
          </p14:sldIdLst>
        </p14:section>
        <p14:section name="Anexo" id="{4c709f5c-7b2a-53b4-bfb0-955ed30587be}">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F1C"/>
                </a:solidFill>
                <a:latin typeface="+mn-lt"/>
              </a:defRPr>
            </a:pPr>
            <a:r>
              <a:rPr sz="1200" b="0" i="0" u="none" strike="noStrike">
                <a:solidFill>
                  <a:srgbClr val="2A1F1C"/>
                </a:solidFill>
                <a:latin typeface="+mn-lt"/>
              </a:rPr>
              <a:t>Venta diaria de la tienda Brooklyn (USD)</a:t>
            </a:r>
          </a:p>
        </c:rich>
      </c:tx>
      <c:layout/>
      <c:overlay val="0"/>
    </c:title>
    <c:autoTitleDeleted val="0"/>
    <c:plotArea>
      <c:layout/>
      <c:barChart>
        <c:barDir val="col"/>
        <c:grouping val="stacked"/>
        <c:varyColors val="0"/>
        <c:ser>
          <c:idx val="0"/>
          <c:order val="0"/>
          <c:tx>
            <c:strRef>
              <c:f>Sheet1!$B$1</c:f>
              <c:strCache>
                <c:ptCount val="1"/>
                <c:pt idx="0">
                  <c:v>base</c:v>
                </c:pt>
              </c:strCache>
            </c:strRef>
          </c:tx>
          <c:spPr>
            <a:solidFill>
              <a:srgbClr val="C9B8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1</c:v>
                  </c:pt>
                  <c:pt idx="1">
                    <c:v>2</c:v>
                  </c:pt>
                  <c:pt idx="2">
                    <c:v>3</c:v>
                  </c:pt>
                  <c:pt idx="3">
                    <c:v>4</c:v>
                  </c:pt>
                  <c:pt idx="4">
                    <c:v>5</c:v>
                  </c:pt>
                  <c:pt idx="5">
                    <c:v>6</c:v>
                  </c:pt>
                  <c:pt idx="6">
                    <c:v>7</c:v>
                  </c:pt>
                  <c:pt idx="7">
                    <c:v>8</c:v>
                  </c:pt>
                  <c:pt idx="8">
                    <c:v>9</c:v>
                  </c:pt>
                  <c:pt idx="9">
                    <c:v>10</c:v>
                  </c:pt>
                  <c:pt idx="10">
                    <c:v>11</c:v>
                  </c:pt>
                  <c:pt idx="11">
                    <c:v>12</c:v>
                  </c:pt>
                  <c:pt idx="12">
                    <c:v>13</c:v>
                  </c:pt>
                </c:lvl>
              </c:multiLvlStrCache>
            </c:multiLvlStrRef>
          </c:cat>
          <c:val>
            <c:numRef>
              <c:f>Sheet1!$B$2:$B$14</c:f>
              <c:numCache>
                <c:formatCode>General</c:formatCode>
                <c:ptCount val="13"/>
                <c:pt idx="0">
                  <c:v>1375</c:v>
                </c:pt>
                <c:pt idx="1">
                  <c:v>525</c:v>
                </c:pt>
                <c:pt idx="2">
                  <c:v>854</c:v>
                </c:pt>
                <c:pt idx="3">
                  <c:v>931</c:v>
                </c:pt>
                <c:pt idx="4">
                  <c:v>698</c:v>
                </c:pt>
                <c:pt idx="5">
                  <c:v>1485</c:v>
                </c:pt>
                <c:pt idx="6">
                  <c:v>739</c:v>
                </c:pt>
                <c:pt idx="7">
                  <c:v>777</c:v>
                </c:pt>
                <c:pt idx="8">
                  <c:v>885</c:v>
                </c:pt>
                <c:pt idx="9">
                  <c:v>0</c:v>
                </c:pt>
                <c:pt idx="10">
                  <c:v>0</c:v>
                </c:pt>
                <c:pt idx="11">
                  <c:v>0</c:v>
                </c:pt>
                <c:pt idx="12">
                  <c:v>866</c:v>
                </c:pt>
              </c:numCache>
            </c:numRef>
          </c:val>
        </c:ser>
        <c:ser>
          <c:idx val="1"/>
          <c:order val="1"/>
          <c:tx>
            <c:strRef>
              <c:f>Sheet1!$C$1</c:f>
              <c:strCache>
                <c:ptCount val="1"/>
                <c:pt idx="0">
                  <c:v>hl</c:v>
                </c:pt>
              </c:strCache>
            </c:strRef>
          </c:tx>
          <c:spPr>
            <a:solidFill>
              <a:srgbClr val="2E6B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1</c:v>
                  </c:pt>
                  <c:pt idx="1">
                    <c:v>2</c:v>
                  </c:pt>
                  <c:pt idx="2">
                    <c:v>3</c:v>
                  </c:pt>
                  <c:pt idx="3">
                    <c:v>4</c:v>
                  </c:pt>
                  <c:pt idx="4">
                    <c:v>5</c:v>
                  </c:pt>
                  <c:pt idx="5">
                    <c:v>6</c:v>
                  </c:pt>
                  <c:pt idx="6">
                    <c:v>7</c:v>
                  </c:pt>
                  <c:pt idx="7">
                    <c:v>8</c:v>
                  </c:pt>
                  <c:pt idx="8">
                    <c:v>9</c:v>
                  </c:pt>
                  <c:pt idx="9">
                    <c:v>10</c:v>
                  </c:pt>
                  <c:pt idx="10">
                    <c:v>11</c:v>
                  </c:pt>
                  <c:pt idx="11">
                    <c:v>12</c:v>
                  </c:pt>
                  <c:pt idx="12">
                    <c:v>13</c:v>
                  </c:pt>
                </c:lvl>
              </c:multiLvlStrCache>
            </c:multiLvlStrRef>
          </c:cat>
          <c:val>
            <c:numRef>
              <c:f>Sheet1!$C$2:$C$14</c:f>
              <c:numCache>
                <c:formatCode>General</c:formatCode>
                <c:ptCount val="13"/>
                <c:pt idx="0">
                  <c:v>0</c:v>
                </c:pt>
                <c:pt idx="1">
                  <c:v>0</c:v>
                </c:pt>
                <c:pt idx="2">
                  <c:v>0</c:v>
                </c:pt>
                <c:pt idx="3">
                  <c:v>0</c:v>
                </c:pt>
                <c:pt idx="4">
                  <c:v>0</c:v>
                </c:pt>
                <c:pt idx="5">
                  <c:v>0</c:v>
                </c:pt>
                <c:pt idx="6">
                  <c:v>0</c:v>
                </c:pt>
                <c:pt idx="7">
                  <c:v>0</c:v>
                </c:pt>
                <c:pt idx="8">
                  <c:v>0</c:v>
                </c:pt>
                <c:pt idx="9">
                  <c:v>1569</c:v>
                </c:pt>
                <c:pt idx="10">
                  <c:v>1637</c:v>
                </c:pt>
                <c:pt idx="11">
                  <c:v>2030</c:v>
                </c:pt>
                <c:pt idx="1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max val="2500"/>
        </c:scaling>
        <c:delete val="0"/>
        <c:axPos val="l"/>
        <c:majorGridlines>
          <c:spPr>
            <a:ln w="9525" cap="flat">
              <a:solidFill>
                <a:srgbClr val="F3EEE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7B70"/>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F1C"/>
                </a:solidFill>
                <a:latin typeface="+mn-lt"/>
              </a:defRPr>
            </a:pPr>
            <a:r>
              <a:rPr sz="1200" b="0" i="0" u="none" strike="noStrike">
                <a:solidFill>
                  <a:srgbClr val="2A1F1C"/>
                </a:solidFill>
                <a:latin typeface="+mn-lt"/>
              </a:rPr>
              <a:t>Inversión mensual en medios (USD)</a:t>
            </a:r>
          </a:p>
        </c:rich>
      </c:tx>
      <c:layout/>
      <c:overlay val="0"/>
    </c:title>
    <c:autoTitleDeleted val="0"/>
    <c:plotArea>
      <c:layout/>
      <c:barChart>
        <c:barDir val="col"/>
        <c:grouping val="clustered"/>
        <c:varyColors val="0"/>
        <c:ser>
          <c:idx val="0"/>
          <c:order val="0"/>
          <c:tx>
            <c:strRef>
              <c:f>Sheet1!$B$1</c:f>
              <c:strCache>
                <c:ptCount val="1"/>
                <c:pt idx="0">
                  <c:v>Inversión mensual en medios (USD)</c:v>
                </c:pt>
              </c:strCache>
            </c:strRef>
          </c:tx>
          <c:spPr>
            <a:solidFill>
              <a:srgbClr val="8C7B70"/>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Mayo</c:v>
                  </c:pt>
                  <c:pt idx="1">
                    <c:v>Septiembre</c:v>
                  </c:pt>
                  <c:pt idx="2">
                    <c:v>Octubre</c:v>
                  </c:pt>
                </c:lvl>
              </c:multiLvlStrCache>
            </c:multiLvlStrRef>
          </c:cat>
          <c:val>
            <c:numRef>
              <c:f>Sheet1!$B$2:$B$4</c:f>
              <c:numCache>
                <c:formatCode>General</c:formatCode>
                <c:ptCount val="3"/>
                <c:pt idx="0">
                  <c:v>13000</c:v>
                </c:pt>
                <c:pt idx="1">
                  <c:v>7100</c:v>
                </c:pt>
                <c:pt idx="2">
                  <c:v>6300</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max val="15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A1F1C"/>
                </a:solidFill>
                <a:latin typeface="+mn-lt"/>
              </a:defRPr>
            </a:pPr>
            <a:r>
              <a:rPr sz="1300" b="0" i="0" u="none" strike="noStrike">
                <a:solidFill>
                  <a:srgbClr val="2A1F1C"/>
                </a:solidFill>
                <a:latin typeface="+mn-lt"/>
              </a:rPr>
              <a:t>Ventas por programa (USD)</a:t>
            </a:r>
          </a:p>
        </c:rich>
      </c:tx>
      <c:layout/>
      <c:overlay val="0"/>
    </c:title>
    <c:autoTitleDeleted val="0"/>
    <c:plotArea>
      <c:layout/>
      <c:barChart>
        <c:barDir val="bar"/>
        <c:grouping val="clustered"/>
        <c:varyColors val="0"/>
        <c:ser>
          <c:idx val="0"/>
          <c:order val="0"/>
          <c:tx>
            <c:strRef>
              <c:f>Sheet1!$B$1</c:f>
              <c:strCache>
                <c:ptCount val="1"/>
                <c:pt idx="0">
                  <c:v>Ventas por programa (USD)</c:v>
                </c:pt>
              </c:strCache>
            </c:strRef>
          </c:tx>
          <c:spPr>
            <a:solidFill>
              <a:srgbClr val="B4472B"/>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Sheet1!$A$2:$A$7</c:f>
              <c:multiLvlStrCache>
                <c:ptCount val="6"/>
                <c:lvl>
                  <c:pt idx="0">
                    <c:v>Otros flujos y envíos</c:v>
                  </c:pt>
                  <c:pt idx="1">
                    <c:v>Recordatorio $10 off</c:v>
                  </c:pt>
                  <c:pt idx="2">
                    <c:v>Win-back</c:v>
                  </c:pt>
                  <c:pt idx="3">
                    <c:v>Welcome por SMS</c:v>
                  </c:pt>
                  <c:pt idx="4">
                    <c:v>Game Day (email + SMS)</c:v>
                  </c:pt>
                  <c:pt idx="5">
                    <c:v>Flujo primera compra</c:v>
                  </c:pt>
                </c:lvl>
              </c:multiLvlStrCache>
            </c:multiLvlStrRef>
          </c:cat>
          <c:val>
            <c:numRef>
              <c:f>Sheet1!$B$2:$B$7</c:f>
              <c:numCache>
                <c:formatCode>General</c:formatCode>
                <c:ptCount val="6"/>
                <c:pt idx="0">
                  <c:v>266</c:v>
                </c:pt>
                <c:pt idx="1">
                  <c:v>145</c:v>
                </c:pt>
                <c:pt idx="2">
                  <c:v>166</c:v>
                </c:pt>
                <c:pt idx="3">
                  <c:v>265</c:v>
                </c:pt>
                <c:pt idx="4">
                  <c:v>585</c:v>
                </c:pt>
                <c:pt idx="5">
                  <c:v>647</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A1F1C"/>
                </a:solidFill>
                <a:latin typeface="+mn-lt"/>
              </a:defRPr>
            </a:pPr>
            <a:r>
              <a:rPr sz="1300" b="0" i="0" u="none" strike="noStrike">
                <a:solidFill>
                  <a:srgbClr val="2A1F1C"/>
                </a:solidFill>
                <a:latin typeface="+mn-lt"/>
              </a:rPr>
              <a:t>Compras atribuidas a Meta por marca</a:t>
            </a:r>
          </a:p>
        </c:rich>
      </c:tx>
      <c:layout/>
      <c:overlay val="0"/>
    </c:title>
    <c:autoTitleDeleted val="0"/>
    <c:plotArea>
      <c:layout/>
      <c:barChart>
        <c:barDir val="col"/>
        <c:grouping val="clustered"/>
        <c:varyColors val="0"/>
        <c:ser>
          <c:idx val="0"/>
          <c:order val="0"/>
          <c:tx>
            <c:strRef>
              <c:f>Sheet1!$B$1</c:f>
              <c:strCache>
                <c:ptCount val="1"/>
                <c:pt idx="0">
                  <c:v>1–5 oct (5 días)</c:v>
                </c:pt>
              </c:strCache>
            </c:strRef>
          </c:tx>
          <c:spPr>
            <a:solidFill>
              <a:srgbClr val="C9B8A6"/>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Brooklyn</c:v>
                  </c:pt>
                  <c:pt idx="1">
                    <c:v>Ayoba</c:v>
                  </c:pt>
                  <c:pt idx="2">
                    <c:v>Beg &amp; Barker</c:v>
                  </c:pt>
                </c:lvl>
              </c:multiLvlStrCache>
            </c:multiLvlStrRef>
          </c:cat>
          <c:val>
            <c:numRef>
              <c:f>Sheet1!$B$2:$B$4</c:f>
              <c:numCache>
                <c:formatCode>General</c:formatCode>
                <c:ptCount val="3"/>
                <c:pt idx="0">
                  <c:v>0</c:v>
                </c:pt>
                <c:pt idx="1">
                  <c:v>1</c:v>
                </c:pt>
                <c:pt idx="2">
                  <c:v>1</c:v>
                </c:pt>
              </c:numCache>
            </c:numRef>
          </c:val>
        </c:ser>
        <c:ser>
          <c:idx val="1"/>
          <c:order val="1"/>
          <c:tx>
            <c:strRef>
              <c:f>Sheet1!$C$1</c:f>
              <c:strCache>
                <c:ptCount val="1"/>
                <c:pt idx="0">
                  <c:v>6–13 oct (8 días)</c:v>
                </c:pt>
              </c:strCache>
            </c:strRef>
          </c:tx>
          <c:spPr>
            <a:solidFill>
              <a:srgbClr val="B4472B"/>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Brooklyn</c:v>
                  </c:pt>
                  <c:pt idx="1">
                    <c:v>Ayoba</c:v>
                  </c:pt>
                  <c:pt idx="2">
                    <c:v>Beg &amp; Barker</c:v>
                  </c:pt>
                </c:lvl>
              </c:multiLvlStrCache>
            </c:multiLvlStrRef>
          </c:cat>
          <c:val>
            <c:numRef>
              <c:f>Sheet1!$C$2:$C$4</c:f>
              <c:numCache>
                <c:formatCode>General</c:formatCode>
                <c:ptCount val="3"/>
                <c:pt idx="0">
                  <c:v>9</c:v>
                </c:pt>
                <c:pt idx="1">
                  <c:v>4</c:v>
                </c:pt>
                <c:pt idx="2">
                  <c:v>2</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A1F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agradeciendo el tiempo. Este es el seguimiento al mail del 1–9 de octubre: qué hicimos, qué estamos viendo en los datos y qué vamos a hacer esta semana en cada marca. No venimos a pedir decisiones; le contamos el plan y le reportamos resultados en una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cómo trabajamos: no nos quedamos con lo que dice una herramienta de IA; entramos al dashboard y a cada plataforma para entender qué explica cada número. Con eso, el mensaje es uno por marca. Brooklyn: logramos mantener el margen con la mitad de la inversión, y ahora el reto es crecer en ventas. Beg &amp; Barker: es eficiente, pero competir en búsqueda es muy difícil, así que movemos el foco a clientes nuevos con promo y a Amazon. Ayoba: el tráfico es bueno, pero la web convierte poco; por eso proponemos probar hacia Amazon.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Brooklyn es la marca que mejor responde. Del 10 al 12 de octubre vendió $1.745 diarios, casi el doble que en los primeros nueve días del mes, justo cuando encendimos Meta. Los flujos ajustados ya rinden cinco veces más por receptor que en septiembre, Smile crece desde que lo pautamos y las suscripciones van al alza. En Google, Marca y PMax tuvieron una muy buena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central: bajamos la inversión de $13 mil en mayo a $7,1 mil en septiembre y $6,3 mil en octubre, y el margen se mantuvo. Subieron las suscripciones y el valor por compra. La conversión bajó de 2,54% a 2,16%, pero es por el tráfico: las sesiones cayeron 11%. Meta retargeting ayuda a lo que tiene que ayudar, con impacto indirecto en las otras campañas. En email vamos a mandar más correos y más enfocados. El siguiente paso es crecer en ventas, y empieza mañana con el Fast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Email y SMS ya generan ventas recurrentes: $2.074 y 31 órdenes del 1 al 14 de octubre, 17 de ellas por flujos automáticos. El Game Day tuvo 60% de apertura.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le contamos lo que viene en email para Brooklyn. Primero, el recorrido del cliente: cada compra lo lleva al siguiente flujo, desde la primera compra hasta la Bienvenida VIP y el aniversario, y si deja de comprar entra al Win-Back que le corresponde. Sumamos cinco flujos nuevos: Browse Abandonment, que es el que más rápido genera ventas; Reposición según el pack que compró; Bienvenida VIP en la tercera compra, sin descuento; Aniversario; y Win-Back B para 2.493 compradores repetidos inactivos. Además, pasamos a campañas simultáneas hipersegmentadas: varias campañas el mismo día, cada una a su grupo, sin que nadie reciba dos. Arrancamos esta semana después del Fast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 &amp; Barker tiene una base sólida: $89,9 mil en ventas en el año, 44% en renovaciones de suscripción, ventas estables mes a mes y flujos que rinden 13 veces más que las campañas. La búsqueda de marca es la línea más rentable de Google.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Siendo transparentes: las ventas van 35% por debajo del mes pasado. La eficiencia es buena, pero la inversión es baja, y en búsqueda es muy difícil competir. Por eso el enfoque es eficiencia con crecimiento de clientes nuevos a través de promo, no de marca, y llevar la pauta hacia Amazon midiendo cuánto contribuye: branding con una página completa que lleva directo a Amazon, más catálogo y retargeting. En Facebook no recomendamos seguir con el nivel actual: Meta pesa el doble que Google con bajo retorno, así que bajamos su presupuesto y monitoreamos su retorno indirecto.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Ayoba tiene el ticket más alto del portafolio, $91 por orden, un margen bruto de 60% y 4,2 dólares en ventas por cada dólar invertido en el 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Ayoba pasa algo parecido: vende muy poco en la web. El tráfico que llega es bueno, pero la experiencia de compra frena la conversión. Octubre va en $3,1 mil con un retorno blended de 3,6x. 58% de los clientes son recurrentes; el reto es el volumen de clientes nuevos. La propuesta es un test A/B: una campaña de marca hacia Amazon para medir el resultado, con la meta de sumar 10% a las ventas de Amazon. Mantenemos la pauta web baja y optimizada, y replicamos la estrategia de Brooklyn.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el plan de la semana por marca y el compromiso de seguimiento: el 21 de octubre le compartimos los resultados del Fast Sale de Brooklyn y la primera lectura de los tests hacia Amazon. No pedimos decisiones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estado de cada compromiso del mail del 9 de octubre. Usar solo si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detalle de Meta por marca. Usar solo si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200" b="1" spc="3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1508760"/>
            <a:ext cx="8046720" cy="10058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4" name="Text 0"/>
          <p:cNvSpPr/>
          <p:nvPr>
            <p:ph idx="102" type="body" hasCustomPrompt="1"/>
          </p:nvPr>
        </p:nvSpPr>
        <p:spPr>
          <a:xfrm>
            <a:off x="548640" y="2606040"/>
            <a:ext cx="8046720" cy="73152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
        <p:nvSpPr>
          <p:cNvPr id="5" name="Text 0"/>
          <p:cNvSpPr/>
          <p:nvPr>
            <p:ph idx="103" type="body" hasCustomPrompt="1"/>
          </p:nvPr>
        </p:nvSpPr>
        <p:spPr>
          <a:xfrm>
            <a:off x="548640" y="4160520"/>
            <a:ext cx="4572000" cy="320040"/>
          </a:xfrm>
          <a:prstGeom prst="rect">
            <a:avLst/>
          </a:prstGeom>
          <a:noFill/>
          <a:ln/>
        </p:spPr>
        <p:txBody>
          <a:bodyPr wrap="square" rtlCol="0"/>
          <a:lstStyle>
            <a:lvl1pPr indent="0" marL="0">
              <a:buNone/>
              <a:defRPr lang="en-US" sz="1200" dirty="0">
                <a:solidFill>
                  <a:schemeClr val="accent6"/>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chemeClr val="accent4"/>
                </a:solidFill>
              </a:rPr>
              <a:t>Stormberg Foods · Status de octubre · Datos al 13 de octubre de 2026</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n-US" sz="1200" b="1" spc="300" kern="0" dirty="0">
                <a:solidFill>
                  <a:schemeClr val="accent6"/>
                </a:solidFill>
              </a:rPr>
              <a:t>STATUS EJECUTIVO</a:t>
            </a:r>
            <a:endParaRPr lang="en-US" sz="1200" dirty="0"/>
          </a:p>
        </p:txBody>
      </p:sp>
      <p:sp>
        <p:nvSpPr>
          <p:cNvPr id="3" name="Text 0"/>
          <p:cNvSpPr/>
          <p:nvPr>
            <p:ph idx="101" type="title" hasCustomPrompt="1"/>
          </p:nvPr>
        </p:nvSpPr>
        <p:spPr>
          <a:xfrm>
            <a:off x="548640" y="1508760"/>
            <a:ext cx="8046720" cy="1005840"/>
          </a:xfrm>
          <a:prstGeom prst="rect">
            <a:avLst/>
          </a:prstGeom>
          <a:noFill/>
          <a:ln/>
        </p:spPr>
        <p:txBody>
          <a:bodyPr wrap="square" lIns="0" tIns="0" rIns="0" bIns="0" rtlCol="0" anchor="t"/>
          <a:lstStyle/>
          <a:p>
            <a:pPr algn="l" indent="0" marL="0">
              <a:buNone/>
            </a:pPr>
            <a:r>
              <a:rPr lang="en-US" sz="3800" b="1" dirty="0">
                <a:solidFill>
                  <a:schemeClr val="bg1"/>
                </a:solidFill>
                <a:latin typeface="Cambria" pitchFamily="34" charset="0"/>
                <a:ea typeface="Cambria" pitchFamily="34" charset="-122"/>
                <a:cs typeface="Cambria" pitchFamily="34" charset="-120"/>
              </a:rPr>
              <a:t>Stormberg Foods: avances de octubre</a:t>
            </a:r>
            <a:endParaRPr lang="en-US" sz="3800" dirty="0"/>
          </a:p>
        </p:txBody>
      </p:sp>
      <p:sp>
        <p:nvSpPr>
          <p:cNvPr id="4" name="Text 0"/>
          <p:cNvSpPr/>
          <p:nvPr>
            <p:ph idx="102" type="body" hasCustomPrompt="1"/>
          </p:nvPr>
        </p:nvSpPr>
        <p:spPr>
          <a:xfrm>
            <a:off x="548640" y="2606040"/>
            <a:ext cx="8046720" cy="731520"/>
          </a:xfrm>
          <a:prstGeom prst="rect">
            <a:avLst/>
          </a:prstGeom>
          <a:noFill/>
          <a:ln/>
        </p:spPr>
        <p:txBody>
          <a:bodyPr wrap="square" lIns="0" tIns="0" rIns="0" bIns="0" rtlCol="0" anchor="t"/>
          <a:lstStyle/>
          <a:p>
            <a:pPr indent="0" marL="0">
              <a:buNone/>
            </a:pPr>
            <a:r>
              <a:rPr lang="en-US" sz="1500" dirty="0">
                <a:solidFill>
                  <a:schemeClr val="accent6"/>
                </a:solidFill>
              </a:rPr>
              <a:t>Seguimiento a lo comprometido en el update del 1–9 de octubre</a:t>
            </a:r>
            <a:endParaRPr lang="en-US" sz="1500" dirty="0"/>
          </a:p>
          <a:p>
            <a:pPr indent="0" marL="0">
              <a:buNone/>
            </a:pPr>
            <a:r>
              <a:rPr lang="en-US" sz="1500" dirty="0">
                <a:solidFill>
                  <a:schemeClr val="accent6"/>
                </a:solidFill>
              </a:rPr>
              <a:t>Brooklyn Biltong · Ayoba Foods · Beg &amp; Barker</a:t>
            </a:r>
            <a:endParaRPr lang="en-US" sz="1500" dirty="0"/>
          </a:p>
        </p:txBody>
      </p:sp>
      <p:sp>
        <p:nvSpPr>
          <p:cNvPr id="5" name="Text 0"/>
          <p:cNvSpPr/>
          <p:nvPr>
            <p:ph idx="103" type="body" hasCustomPrompt="1"/>
          </p:nvPr>
        </p:nvSpPr>
        <p:spPr>
          <a:xfrm>
            <a:off x="548640" y="4160520"/>
            <a:ext cx="4572000" cy="320040"/>
          </a:xfrm>
          <a:prstGeom prst="rect">
            <a:avLst/>
          </a:prstGeom>
          <a:noFill/>
          <a:ln/>
        </p:spPr>
        <p:txBody>
          <a:bodyPr wrap="square" lIns="0" tIns="0" rIns="0" bIns="0" rtlCol="0"/>
          <a:lstStyle/>
          <a:p>
            <a:pPr indent="0" marL="0">
              <a:buNone/>
            </a:pPr>
            <a:r>
              <a:rPr lang="en-US" sz="1200" dirty="0">
                <a:solidFill>
                  <a:schemeClr val="accent6"/>
                </a:solidFill>
              </a:rPr>
              <a:t>14 de octubre de 2026</a:t>
            </a:r>
            <a:endParaRPr lang="en-US" sz="1200" dirty="0"/>
          </a:p>
        </p:txBody>
      </p:sp>
      <p:sp>
        <p:nvSpPr>
          <p:cNvPr id="6" name="Motif circle"/>
          <p:cNvSpPr/>
          <p:nvPr/>
        </p:nvSpPr>
        <p:spPr>
          <a:xfrm>
            <a:off x="7498080" y="3566160"/>
            <a:ext cx="1097280" cy="1097280"/>
          </a:xfrm>
          <a:prstGeom prst="ellipse">
            <a:avLst/>
          </a:prstGeom>
          <a:solidFill>
            <a:schemeClr val="accent1"/>
          </a:solidFill>
          <a:ln/>
        </p:spPr>
      </p:sp>
      <p:sp>
        <p:nvSpPr>
          <p:cNvPr id="7" name="Motif circle small"/>
          <p:cNvSpPr/>
          <p:nvPr/>
        </p:nvSpPr>
        <p:spPr>
          <a:xfrm>
            <a:off x="7086600" y="4069080"/>
            <a:ext cx="548640" cy="548640"/>
          </a:xfrm>
          <a:prstGeom prst="ellipse">
            <a:avLst/>
          </a:prstGeom>
          <a:solidFill>
            <a:schemeClr val="accent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Un enfoque: eficiencia y crecimiento rentable</a:t>
            </a:r>
            <a:endParaRPr lang="en-US" sz="2600" dirty="0"/>
          </a:p>
        </p:txBody>
      </p:sp>
      <p:sp>
        <p:nvSpPr>
          <p:cNvPr id="3" name="Stat card 1"/>
          <p:cNvSpPr/>
          <p:nvPr/>
        </p:nvSpPr>
        <p:spPr>
          <a:xfrm>
            <a:off x="457200" y="1051560"/>
            <a:ext cx="3291840" cy="1005840"/>
          </a:xfrm>
          <a:prstGeom prst="roundRect">
            <a:avLst>
              <a:gd name="adj" fmla="val 7273"/>
            </a:avLst>
          </a:prstGeom>
          <a:solidFill>
            <a:schemeClr val="bg2"/>
          </a:solidFill>
          <a:ln/>
        </p:spPr>
      </p:sp>
      <p:sp>
        <p:nvSpPr>
          <p:cNvPr id="4" name="Text 2"/>
          <p:cNvSpPr txBox="1"/>
          <p:nvPr/>
        </p:nvSpPr>
        <p:spPr>
          <a:xfrm>
            <a:off x="640080" y="1143000"/>
            <a:ext cx="1417320" cy="822960"/>
          </a:xfrm>
          <a:prstGeom prst="rect">
            <a:avLst/>
          </a:prstGeom>
          <a:noFill/>
          <a:ln/>
        </p:spPr>
        <p:txBody>
          <a:bodyPr wrap="square" lIns="0" tIns="0" rIns="0" bIns="0" rtlCol="0" anchor="ctr">
            <a:normAutofit/>
          </a:bodyPr>
          <a:lstStyle/>
          <a:p>
            <a:pPr indent="0" marL="0">
              <a:buNone/>
            </a:pPr>
            <a:r>
              <a:rPr lang="en-US" sz="2800" b="1" dirty="0">
                <a:solidFill>
                  <a:schemeClr val="accent1"/>
                </a:solidFill>
                <a:latin typeface="Cambria" pitchFamily="34" charset="0"/>
                <a:ea typeface="Cambria" pitchFamily="34" charset="-122"/>
                <a:cs typeface="Cambria" pitchFamily="34" charset="-120"/>
              </a:rPr>
              <a:t>+90%</a:t>
            </a:r>
            <a:endParaRPr lang="en-US" sz="2800" dirty="0"/>
          </a:p>
        </p:txBody>
      </p:sp>
      <p:sp>
        <p:nvSpPr>
          <p:cNvPr id="5" name="Text 3"/>
          <p:cNvSpPr txBox="1"/>
          <p:nvPr/>
        </p:nvSpPr>
        <p:spPr>
          <a:xfrm>
            <a:off x="2103120" y="1143000"/>
            <a:ext cx="1554480" cy="822960"/>
          </a:xfrm>
          <a:prstGeom prst="rect">
            <a:avLst/>
          </a:prstGeom>
          <a:noFill/>
          <a:ln/>
        </p:spPr>
        <p:txBody>
          <a:bodyPr wrap="square" lIns="0" tIns="0" rIns="0" bIns="0" rtlCol="0" anchor="ctr"/>
          <a:lstStyle/>
          <a:p>
            <a:pPr indent="0" marL="0">
              <a:buNone/>
            </a:pPr>
            <a:r>
              <a:rPr lang="en-US" sz="1100" dirty="0">
                <a:solidFill>
                  <a:schemeClr val="tx1"/>
                </a:solidFill>
              </a:rPr>
              <a:t>Venta diaria de Brooklyn</a:t>
            </a:r>
            <a:endParaRPr lang="en-US" sz="1100" dirty="0"/>
          </a:p>
          <a:p>
            <a:pPr indent="0" marL="0">
              <a:buNone/>
            </a:pPr>
            <a:r>
              <a:rPr lang="en-US" sz="1100" dirty="0">
                <a:solidFill>
                  <a:schemeClr val="tx1"/>
                </a:solidFill>
              </a:rPr>
              <a:t>10–12 oct vs. 1–9 oct</a:t>
            </a:r>
            <a:endParaRPr lang="en-US" sz="1100" dirty="0"/>
          </a:p>
        </p:txBody>
      </p:sp>
      <p:sp>
        <p:nvSpPr>
          <p:cNvPr id="6" name="Stat card 2"/>
          <p:cNvSpPr/>
          <p:nvPr/>
        </p:nvSpPr>
        <p:spPr>
          <a:xfrm>
            <a:off x="457200" y="2240280"/>
            <a:ext cx="3291840" cy="1005840"/>
          </a:xfrm>
          <a:prstGeom prst="roundRect">
            <a:avLst>
              <a:gd name="adj" fmla="val 7273"/>
            </a:avLst>
          </a:prstGeom>
          <a:solidFill>
            <a:schemeClr val="bg2"/>
          </a:solidFill>
          <a:ln/>
        </p:spPr>
      </p:sp>
      <p:sp>
        <p:nvSpPr>
          <p:cNvPr id="7" name="Text 5"/>
          <p:cNvSpPr txBox="1"/>
          <p:nvPr/>
        </p:nvSpPr>
        <p:spPr>
          <a:xfrm>
            <a:off x="640080" y="2331720"/>
            <a:ext cx="1417320" cy="822960"/>
          </a:xfrm>
          <a:prstGeom prst="rect">
            <a:avLst/>
          </a:prstGeom>
          <a:noFill/>
          <a:ln/>
        </p:spPr>
        <p:txBody>
          <a:bodyPr wrap="square" lIns="0" tIns="0" rIns="0" bIns="0" rtlCol="0" anchor="ctr">
            <a:normAutofit/>
          </a:bodyPr>
          <a:lstStyle/>
          <a:p>
            <a:pPr indent="0" marL="0">
              <a:buNone/>
            </a:pPr>
            <a:r>
              <a:rPr lang="en-US" sz="1800" b="1" dirty="0">
                <a:solidFill>
                  <a:schemeClr val="accent2"/>
                </a:solidFill>
                <a:latin typeface="Cambria" pitchFamily="34" charset="0"/>
                <a:ea typeface="Cambria" pitchFamily="34" charset="-122"/>
                <a:cs typeface="Cambria" pitchFamily="34" charset="-120"/>
              </a:rPr>
              <a:t>$13K → $6,3K</a:t>
            </a:r>
            <a:endParaRPr lang="en-US" sz="1800" dirty="0"/>
          </a:p>
        </p:txBody>
      </p:sp>
      <p:sp>
        <p:nvSpPr>
          <p:cNvPr id="8" name="Text 6"/>
          <p:cNvSpPr txBox="1"/>
          <p:nvPr/>
        </p:nvSpPr>
        <p:spPr>
          <a:xfrm>
            <a:off x="2103120" y="2331720"/>
            <a:ext cx="1554480" cy="822960"/>
          </a:xfrm>
          <a:prstGeom prst="rect">
            <a:avLst/>
          </a:prstGeom>
          <a:noFill/>
          <a:ln/>
        </p:spPr>
        <p:txBody>
          <a:bodyPr wrap="square" lIns="0" tIns="0" rIns="0" bIns="0" rtlCol="0" anchor="ctr"/>
          <a:lstStyle/>
          <a:p>
            <a:pPr indent="0" marL="0">
              <a:buNone/>
            </a:pPr>
            <a:r>
              <a:rPr lang="en-US" sz="1100" dirty="0">
                <a:solidFill>
                  <a:schemeClr val="tx1"/>
                </a:solidFill>
              </a:rPr>
              <a:t>Inversión de Brooklyn</a:t>
            </a:r>
            <a:endParaRPr lang="en-US" sz="1100" dirty="0"/>
          </a:p>
          <a:p>
            <a:pPr indent="0" marL="0">
              <a:buNone/>
            </a:pPr>
            <a:r>
              <a:rPr lang="en-US" sz="1100" dirty="0">
                <a:solidFill>
                  <a:schemeClr val="tx1"/>
                </a:solidFill>
              </a:rPr>
              <a:t>mayo vs. oct., margen estable</a:t>
            </a:r>
            <a:endParaRPr lang="en-US" sz="1100" dirty="0"/>
          </a:p>
        </p:txBody>
      </p:sp>
      <p:sp>
        <p:nvSpPr>
          <p:cNvPr id="9" name="Stat card 3"/>
          <p:cNvSpPr/>
          <p:nvPr/>
        </p:nvSpPr>
        <p:spPr>
          <a:xfrm>
            <a:off x="457200" y="3429000"/>
            <a:ext cx="3291840" cy="1005840"/>
          </a:xfrm>
          <a:prstGeom prst="roundRect">
            <a:avLst>
              <a:gd name="adj" fmla="val 7273"/>
            </a:avLst>
          </a:prstGeom>
          <a:solidFill>
            <a:schemeClr val="bg2"/>
          </a:solidFill>
          <a:ln/>
        </p:spPr>
      </p:sp>
      <p:sp>
        <p:nvSpPr>
          <p:cNvPr id="10" name="Text 8"/>
          <p:cNvSpPr txBox="1"/>
          <p:nvPr/>
        </p:nvSpPr>
        <p:spPr>
          <a:xfrm>
            <a:off x="640080" y="3520440"/>
            <a:ext cx="1417320" cy="822960"/>
          </a:xfrm>
          <a:prstGeom prst="rect">
            <a:avLst/>
          </a:prstGeom>
          <a:noFill/>
          <a:ln/>
        </p:spPr>
        <p:txBody>
          <a:bodyPr wrap="square" lIns="0" tIns="0" rIns="0" bIns="0" rtlCol="0" anchor="ctr">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58%</a:t>
            </a:r>
            <a:endParaRPr lang="en-US" sz="2800" dirty="0"/>
          </a:p>
        </p:txBody>
      </p:sp>
      <p:sp>
        <p:nvSpPr>
          <p:cNvPr id="11" name="Text 9"/>
          <p:cNvSpPr txBox="1"/>
          <p:nvPr/>
        </p:nvSpPr>
        <p:spPr>
          <a:xfrm>
            <a:off x="2103120" y="3520440"/>
            <a:ext cx="1554480" cy="822960"/>
          </a:xfrm>
          <a:prstGeom prst="rect">
            <a:avLst/>
          </a:prstGeom>
          <a:noFill/>
          <a:ln/>
        </p:spPr>
        <p:txBody>
          <a:bodyPr wrap="square" lIns="0" tIns="0" rIns="0" bIns="0" rtlCol="0" anchor="ctr"/>
          <a:lstStyle/>
          <a:p>
            <a:pPr indent="0" marL="0">
              <a:buNone/>
            </a:pPr>
            <a:r>
              <a:rPr lang="en-US" sz="1100" dirty="0">
                <a:solidFill>
                  <a:schemeClr val="tx1"/>
                </a:solidFill>
              </a:rPr>
              <a:t>De los clientes de Ayoba</a:t>
            </a:r>
            <a:endParaRPr lang="en-US" sz="1100" dirty="0"/>
          </a:p>
          <a:p>
            <a:pPr indent="0" marL="0">
              <a:buNone/>
            </a:pPr>
            <a:r>
              <a:rPr lang="en-US" sz="1100" dirty="0">
                <a:solidFill>
                  <a:schemeClr val="tx1"/>
                </a:solidFill>
              </a:rPr>
              <a:t>son recurrentes</a:t>
            </a:r>
            <a:endParaRPr lang="en-US" sz="1100" dirty="0"/>
          </a:p>
        </p:txBody>
      </p:sp>
      <p:sp>
        <p:nvSpPr>
          <p:cNvPr id="12" name="Text 10"/>
          <p:cNvSpPr txBox="1"/>
          <p:nvPr/>
        </p:nvSpPr>
        <p:spPr>
          <a:xfrm>
            <a:off x="4114800" y="1051560"/>
            <a:ext cx="45720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El mensaje por marca</a:t>
            </a:r>
            <a:endParaRPr lang="en-US" sz="1800" dirty="0"/>
          </a:p>
        </p:txBody>
      </p:sp>
      <p:sp>
        <p:nvSpPr>
          <p:cNvPr id="13" name="Text 11"/>
          <p:cNvSpPr txBox="1"/>
          <p:nvPr/>
        </p:nvSpPr>
        <p:spPr>
          <a:xfrm>
            <a:off x="4114800" y="1508760"/>
            <a:ext cx="4572000" cy="3017520"/>
          </a:xfrm>
          <a:prstGeom prst="rect">
            <a:avLst/>
          </a:prstGeom>
          <a:noFill/>
          <a:ln/>
        </p:spPr>
        <p:txBody>
          <a:bodyPr wrap="square" lIns="0" tIns="0" rIns="0" bIns="0" rtlCol="0" anchor="t"/>
          <a:lstStyle/>
          <a:p>
            <a:pPr marL="342900" indent="-342900">
              <a:spcAft>
                <a:spcPts val="1000"/>
              </a:spcAft>
              <a:buSzPct val="100000"/>
              <a:buChar char="•"/>
            </a:pPr>
            <a:r>
              <a:rPr lang="en-US" sz="1300" b="1" dirty="0">
                <a:solidFill>
                  <a:schemeClr val="accent1"/>
                </a:solidFill>
              </a:rPr>
              <a:t>Cómo leemos los datos: </a:t>
            </a:r>
            <a:pPr indent="0" marL="0">
              <a:buNone/>
            </a:pPr>
            <a:r>
              <a:rPr lang="en-US" sz="1300" dirty="0">
                <a:solidFill>
                  <a:schemeClr val="tx1"/>
                </a:solidFill>
              </a:rPr>
              <a:t>cruzamos el dashboard con la analítica de cada plataforma; no solo IA, buscamos los insights que explican cada número.</a:t>
            </a:r>
            <a:endParaRPr lang="en-US" sz="1300" dirty="0"/>
          </a:p>
          <a:p>
            <a:pPr marL="342900" indent="-342900">
              <a:spcAft>
                <a:spcPts val="1000"/>
              </a:spcAft>
              <a:buSzPct val="100000"/>
              <a:buChar char="•"/>
            </a:pPr>
            <a:r>
              <a:rPr lang="en-US" sz="1300" b="1" dirty="0">
                <a:solidFill>
                  <a:schemeClr val="accent1"/>
                </a:solidFill>
              </a:rPr>
              <a:t>Brooklyn: </a:t>
            </a:r>
            <a:pPr indent="0" marL="0">
              <a:buNone/>
            </a:pPr>
            <a:r>
              <a:rPr lang="en-US" sz="1300" dirty="0">
                <a:solidFill>
                  <a:schemeClr val="tx1"/>
                </a:solidFill>
              </a:rPr>
              <a:t>bajamos la inversión a la mitad y el margen se mantuvo. Ahora el foco es crecer en ventas, empezando con el Fast Sale de mañana.</a:t>
            </a:r>
            <a:endParaRPr lang="en-US" sz="1300" dirty="0"/>
          </a:p>
          <a:p>
            <a:pPr marL="342900" indent="-342900">
              <a:spcAft>
                <a:spcPts val="1000"/>
              </a:spcAft>
              <a:buSzPct val="100000"/>
              <a:buChar char="•"/>
            </a:pPr>
            <a:r>
              <a:rPr lang="en-US" sz="1300" b="1" dirty="0">
                <a:solidFill>
                  <a:schemeClr val="accent1"/>
                </a:solidFill>
              </a:rPr>
              <a:t>Beg &amp; Barker: </a:t>
            </a:r>
            <a:pPr indent="0" marL="0">
              <a:buNone/>
            </a:pPr>
            <a:r>
              <a:rPr lang="en-US" sz="1300" dirty="0">
                <a:solidFill>
                  <a:schemeClr val="tx1"/>
                </a:solidFill>
              </a:rPr>
              <a:t>es eficiente, pero en búsqueda es muy difícil competir. Enfocamos la pauta en clientes nuevos con promo y en Amazon.</a:t>
            </a:r>
            <a:endParaRPr lang="en-US" sz="1300" dirty="0"/>
          </a:p>
          <a:p>
            <a:pPr marL="342900" indent="-342900">
              <a:spcAft>
                <a:spcPts val="1000"/>
              </a:spcAft>
              <a:buSzPct val="100000"/>
              <a:buChar char="•"/>
            </a:pPr>
            <a:r>
              <a:rPr lang="en-US" sz="1300" b="1" dirty="0">
                <a:solidFill>
                  <a:schemeClr val="accent1"/>
                </a:solidFill>
              </a:rPr>
              <a:t>Ayoba: </a:t>
            </a:r>
            <a:pPr indent="0" marL="0">
              <a:buNone/>
            </a:pPr>
            <a:r>
              <a:rPr lang="en-US" sz="1300" dirty="0">
                <a:solidFill>
                  <a:schemeClr val="tx1"/>
                </a:solidFill>
              </a:rPr>
              <a:t>el tráfico es bueno pero la web convierte poco. Proponemos un test hacia Amazon y replicar la estrategia de Brooklyn.</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señales positivas de la última semana</a:t>
            </a:r>
            <a:endParaRPr lang="en-US" sz="2600" dirty="0"/>
          </a:p>
        </p:txBody>
      </p:sp>
      <p:graphicFrame>
        <p:nvGraphicFramePr>
          <p:cNvPr id="3" name="Daily sales chart" descr=""/>
          <p:cNvGraphicFramePr/>
          <p:nvPr/>
        </p:nvGraphicFramePr>
        <p:xfrm>
          <a:off x="457200" y="960120"/>
          <a:ext cx="4297680" cy="25146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611880"/>
            <a:ext cx="1828800" cy="685800"/>
          </a:xfrm>
          <a:prstGeom prst="rect">
            <a:avLst/>
          </a:prstGeom>
          <a:noFill/>
          <a:ln/>
        </p:spPr>
        <p:txBody>
          <a:bodyPr wrap="square" lIns="0" tIns="0" rIns="0" bIns="0" rtlCol="0" anchor="ctr">
            <a:normAutofit/>
          </a:bodyPr>
          <a:lstStyle/>
          <a:p>
            <a:pPr indent="0" marL="0">
              <a:buNone/>
            </a:pPr>
            <a:r>
              <a:rPr lang="en-US" sz="2800" b="1" dirty="0">
                <a:solidFill>
                  <a:schemeClr val="accent2"/>
                </a:solidFill>
                <a:latin typeface="Cambria" pitchFamily="34" charset="0"/>
                <a:ea typeface="Cambria" pitchFamily="34" charset="-122"/>
                <a:cs typeface="Cambria" pitchFamily="34" charset="-120"/>
              </a:rPr>
              <a:t>$4,5–5K</a:t>
            </a:r>
            <a:endParaRPr lang="en-US" sz="2800" dirty="0"/>
          </a:p>
        </p:txBody>
      </p:sp>
      <p:sp>
        <p:nvSpPr>
          <p:cNvPr id="5" name="Text 2"/>
          <p:cNvSpPr txBox="1"/>
          <p:nvPr/>
        </p:nvSpPr>
        <p:spPr>
          <a:xfrm>
            <a:off x="2377440" y="3611880"/>
            <a:ext cx="2377440" cy="685800"/>
          </a:xfrm>
          <a:prstGeom prst="rect">
            <a:avLst/>
          </a:prstGeom>
          <a:noFill/>
          <a:ln/>
        </p:spPr>
        <p:txBody>
          <a:bodyPr wrap="square" lIns="0" tIns="0" rIns="0" bIns="0" rtlCol="0" anchor="ctr"/>
          <a:lstStyle/>
          <a:p>
            <a:pPr indent="0" marL="0">
              <a:buNone/>
            </a:pPr>
            <a:r>
              <a:rPr lang="en-US" sz="1200" dirty="0">
                <a:solidFill>
                  <a:schemeClr val="tx1"/>
                </a:solidFill>
              </a:rPr>
              <a:t>de utilidad mensual estable desde mayo, con casi la mitad de la inversión en medios</a:t>
            </a:r>
            <a:endParaRPr lang="en-US" sz="1200" dirty="0"/>
          </a:p>
        </p:txBody>
      </p:sp>
      <p:sp>
        <p:nvSpPr>
          <p:cNvPr id="6" name="Positive card 1"/>
          <p:cNvSpPr/>
          <p:nvPr/>
        </p:nvSpPr>
        <p:spPr>
          <a:xfrm>
            <a:off x="5029200" y="1005840"/>
            <a:ext cx="1783080" cy="1554480"/>
          </a:xfrm>
          <a:prstGeom prst="roundRect">
            <a:avLst>
              <a:gd name="adj" fmla="val 4706"/>
            </a:avLst>
          </a:prstGeom>
          <a:solidFill>
            <a:schemeClr val="bg2"/>
          </a:solidFill>
          <a:ln/>
        </p:spPr>
      </p:sp>
      <p:sp>
        <p:nvSpPr>
          <p:cNvPr id="7" name="Positive dot 1"/>
          <p:cNvSpPr/>
          <p:nvPr/>
        </p:nvSpPr>
        <p:spPr>
          <a:xfrm>
            <a:off x="5166360" y="1143000"/>
            <a:ext cx="256032" cy="256032"/>
          </a:xfrm>
          <a:prstGeom prst="ellipse">
            <a:avLst/>
          </a:prstGeom>
          <a:solidFill>
            <a:schemeClr val="accent2"/>
          </a:solidFill>
          <a:ln/>
        </p:spPr>
      </p:sp>
      <p:sp>
        <p:nvSpPr>
          <p:cNvPr id="8" name="Text 5"/>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Flujos más rentables</a:t>
            </a:r>
            <a:endParaRPr lang="en-US" sz="1200" dirty="0"/>
          </a:p>
        </p:txBody>
      </p:sp>
      <p:sp>
        <p:nvSpPr>
          <p:cNvPr id="9" name="Text 6"/>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050" dirty="0">
                <a:solidFill>
                  <a:schemeClr val="tx1"/>
                </a:solidFill>
              </a:rPr>
              <a:t>Tras los ajustes, los flujos generan $1,04 por receptor (vs. $0,21 en septiembre) y $80 diarios (+40%)</a:t>
            </a:r>
            <a:endParaRPr lang="en-US" sz="1050" dirty="0"/>
          </a:p>
        </p:txBody>
      </p:sp>
      <p:sp>
        <p:nvSpPr>
          <p:cNvPr id="10" name="Positive card 2"/>
          <p:cNvSpPr/>
          <p:nvPr/>
        </p:nvSpPr>
        <p:spPr>
          <a:xfrm>
            <a:off x="6903720" y="1005840"/>
            <a:ext cx="1783080" cy="1554480"/>
          </a:xfrm>
          <a:prstGeom prst="roundRect">
            <a:avLst>
              <a:gd name="adj" fmla="val 4706"/>
            </a:avLst>
          </a:prstGeom>
          <a:solidFill>
            <a:schemeClr val="bg2"/>
          </a:solidFill>
          <a:ln/>
        </p:spPr>
      </p:sp>
      <p:sp>
        <p:nvSpPr>
          <p:cNvPr id="11" name="Positive dot 2"/>
          <p:cNvSpPr/>
          <p:nvPr/>
        </p:nvSpPr>
        <p:spPr>
          <a:xfrm>
            <a:off x="7040880" y="1143000"/>
            <a:ext cx="256032" cy="256032"/>
          </a:xfrm>
          <a:prstGeom prst="ellipse">
            <a:avLst/>
          </a:prstGeom>
          <a:solidFill>
            <a:schemeClr val="accent2"/>
          </a:solidFill>
          <a:ln/>
        </p:spPr>
      </p:sp>
      <p:sp>
        <p:nvSpPr>
          <p:cNvPr id="12" name="Text 9"/>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Smile en crecimiento</a:t>
            </a:r>
            <a:endParaRPr lang="en-US" sz="1200" dirty="0"/>
          </a:p>
        </p:txBody>
      </p:sp>
      <p:sp>
        <p:nvSpPr>
          <p:cNvPr id="13" name="Text 10"/>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050" dirty="0">
                <a:solidFill>
                  <a:schemeClr val="tx1"/>
                </a:solidFill>
              </a:rPr>
              <a:t>Clientes que ganan puntos por compra: de 74 a 82 por semana (+11%) desde que arrancó la pauta</a:t>
            </a:r>
            <a:endParaRPr lang="en-US" sz="1050" dirty="0"/>
          </a:p>
        </p:txBody>
      </p:sp>
      <p:sp>
        <p:nvSpPr>
          <p:cNvPr id="14" name="Positive card 3"/>
          <p:cNvSpPr/>
          <p:nvPr/>
        </p:nvSpPr>
        <p:spPr>
          <a:xfrm>
            <a:off x="5029200" y="2697480"/>
            <a:ext cx="1783080" cy="1554480"/>
          </a:xfrm>
          <a:prstGeom prst="roundRect">
            <a:avLst>
              <a:gd name="adj" fmla="val 4706"/>
            </a:avLst>
          </a:prstGeom>
          <a:solidFill>
            <a:schemeClr val="bg2"/>
          </a:solidFill>
          <a:ln/>
        </p:spPr>
      </p:sp>
      <p:sp>
        <p:nvSpPr>
          <p:cNvPr id="15" name="Positive dot 3"/>
          <p:cNvSpPr/>
          <p:nvPr/>
        </p:nvSpPr>
        <p:spPr>
          <a:xfrm>
            <a:off x="5166360" y="2834640"/>
            <a:ext cx="256032" cy="256032"/>
          </a:xfrm>
          <a:prstGeom prst="ellipse">
            <a:avLst/>
          </a:prstGeom>
          <a:solidFill>
            <a:schemeClr val="accent2"/>
          </a:solidFill>
          <a:ln/>
        </p:spPr>
      </p:sp>
      <p:sp>
        <p:nvSpPr>
          <p:cNvPr id="16" name="Text 13"/>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Suscripciones al alza</a:t>
            </a:r>
            <a:endParaRPr lang="en-US" sz="1200" dirty="0"/>
          </a:p>
        </p:txBody>
      </p:sp>
      <p:sp>
        <p:nvSpPr>
          <p:cNvPr id="17" name="Text 14"/>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050" dirty="0">
                <a:solidFill>
                  <a:schemeClr val="tx1"/>
                </a:solidFill>
              </a:rPr>
              <a:t>Más ventas por suscripción, con el flujo Subscribe &amp; Save activo desde el 7 oct</a:t>
            </a:r>
            <a:endParaRPr lang="en-US" sz="1050" dirty="0"/>
          </a:p>
        </p:txBody>
      </p:sp>
      <p:sp>
        <p:nvSpPr>
          <p:cNvPr id="18" name="Positive card 4"/>
          <p:cNvSpPr/>
          <p:nvPr/>
        </p:nvSpPr>
        <p:spPr>
          <a:xfrm>
            <a:off x="6903720" y="2697480"/>
            <a:ext cx="1783080" cy="1554480"/>
          </a:xfrm>
          <a:prstGeom prst="roundRect">
            <a:avLst>
              <a:gd name="adj" fmla="val 4706"/>
            </a:avLst>
          </a:prstGeom>
          <a:solidFill>
            <a:schemeClr val="bg2"/>
          </a:solidFill>
          <a:ln/>
        </p:spPr>
      </p:sp>
      <p:sp>
        <p:nvSpPr>
          <p:cNvPr id="19" name="Positive dot 4"/>
          <p:cNvSpPr/>
          <p:nvPr/>
        </p:nvSpPr>
        <p:spPr>
          <a:xfrm>
            <a:off x="7040880" y="2834640"/>
            <a:ext cx="256032" cy="256032"/>
          </a:xfrm>
          <a:prstGeom prst="ellipse">
            <a:avLst/>
          </a:prstGeom>
          <a:solidFill>
            <a:schemeClr val="accent2"/>
          </a:solidFill>
          <a:ln/>
        </p:spPr>
      </p:sp>
      <p:sp>
        <p:nvSpPr>
          <p:cNvPr id="20" name="Text 17"/>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Google: Marca y PMax</a:t>
            </a:r>
            <a:endParaRPr lang="en-US" sz="1200" dirty="0"/>
          </a:p>
        </p:txBody>
      </p:sp>
      <p:sp>
        <p:nvSpPr>
          <p:cNvPr id="21" name="Text 18"/>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050" dirty="0">
                <a:solidFill>
                  <a:schemeClr val="tx1"/>
                </a:solidFill>
              </a:rPr>
              <a:t>ROAS muy sólido la última semana, en paralelo con el encendido de Meta</a:t>
            </a:r>
            <a:endParaRPr lang="en-US" sz="1050" dirty="0"/>
          </a:p>
        </p:txBody>
      </p:sp>
      <p:sp>
        <p:nvSpPr>
          <p:cNvPr id="22" name="Text 19"/>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Klaviyo (Brooklyn Biltong) para ventas de la tienda, flujos y Smile. Utilidad: análisis financiero de Brooklyn. Suscripciones y Google: reportes de plataforma del equipo.</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menos inversión, mismo margen</a:t>
            </a:r>
            <a:endParaRPr lang="en-US" sz="2600" dirty="0"/>
          </a:p>
        </p:txBody>
      </p:sp>
      <p:graphicFrame>
        <p:nvGraphicFramePr>
          <p:cNvPr id="3" name="Brooklyn spend chart" descr=""/>
          <p:cNvGraphicFramePr/>
          <p:nvPr/>
        </p:nvGraphicFramePr>
        <p:xfrm>
          <a:off x="457200" y="960120"/>
          <a:ext cx="3840480" cy="2743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0" y="1005840"/>
            <a:ext cx="4114800" cy="320040"/>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Lo que vemos en los datos</a:t>
            </a:r>
            <a:endParaRPr lang="en-US" sz="1500" dirty="0"/>
          </a:p>
        </p:txBody>
      </p:sp>
      <p:sp>
        <p:nvSpPr>
          <p:cNvPr id="5" name="Text 2"/>
          <p:cNvSpPr txBox="1"/>
          <p:nvPr/>
        </p:nvSpPr>
        <p:spPr>
          <a:xfrm>
            <a:off x="4572000" y="1417320"/>
            <a:ext cx="41148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Suben las suscripciones y el valor por compra</a:t>
            </a:r>
            <a:endParaRPr lang="en-US" sz="1300" dirty="0"/>
          </a:p>
          <a:p>
            <a:pPr marL="342900" indent="-342900">
              <a:spcAft>
                <a:spcPts val="600"/>
              </a:spcAft>
              <a:buSzPct val="100000"/>
              <a:buChar char="•"/>
            </a:pPr>
            <a:r>
              <a:rPr lang="en-US" sz="1300" dirty="0">
                <a:solidFill>
                  <a:schemeClr val="tx1"/>
                </a:solidFill>
              </a:rPr>
              <a:t>La conversión pasó de 2,54% a 2,16% por el tráfico: las sesiones bajaron 11%</a:t>
            </a:r>
            <a:endParaRPr lang="en-US" sz="1300" dirty="0"/>
          </a:p>
          <a:p>
            <a:pPr marL="342900" indent="-342900">
              <a:spcAft>
                <a:spcPts val="600"/>
              </a:spcAft>
              <a:buSzPct val="100000"/>
              <a:buChar char="•"/>
            </a:pPr>
            <a:r>
              <a:rPr lang="en-US" sz="1300" dirty="0">
                <a:solidFill>
                  <a:schemeClr val="tx1"/>
                </a:solidFill>
              </a:rPr>
              <a:t>Meta retargeting cumple su papel: impulsa de forma indirecta a las demás campañas</a:t>
            </a:r>
            <a:endParaRPr lang="en-US" sz="1300" dirty="0"/>
          </a:p>
          <a:p>
            <a:pPr marL="342900" indent="-342900">
              <a:spcAft>
                <a:spcPts val="600"/>
              </a:spcAft>
              <a:buSzPct val="100000"/>
              <a:buChar char="•"/>
            </a:pPr>
            <a:r>
              <a:rPr lang="en-US" sz="1300" dirty="0">
                <a:solidFill>
                  <a:schemeClr val="tx1"/>
                </a:solidFill>
              </a:rPr>
              <a:t>Email: más envíos y más enfocados, con flujos por tema</a:t>
            </a:r>
            <a:endParaRPr lang="en-US" sz="1300" dirty="0"/>
          </a:p>
        </p:txBody>
      </p:sp>
      <p:sp>
        <p:nvSpPr>
          <p:cNvPr id="6" name="Brooklyn next step"/>
          <p:cNvSpPr/>
          <p:nvPr/>
        </p:nvSpPr>
        <p:spPr>
          <a:xfrm>
            <a:off x="457200" y="3840480"/>
            <a:ext cx="8229600" cy="548640"/>
          </a:xfrm>
          <a:prstGeom prst="roundRect">
            <a:avLst>
              <a:gd name="adj" fmla="val 13333"/>
            </a:avLst>
          </a:prstGeom>
          <a:solidFill>
            <a:schemeClr val="tx1"/>
          </a:solidFill>
          <a:ln/>
        </p:spPr>
      </p:sp>
      <p:sp>
        <p:nvSpPr>
          <p:cNvPr id="7" name="Text 4"/>
          <p:cNvSpPr txBox="1"/>
          <p:nvPr/>
        </p:nvSpPr>
        <p:spPr>
          <a:xfrm>
            <a:off x="685800" y="3840480"/>
            <a:ext cx="7772400" cy="548640"/>
          </a:xfrm>
          <a:prstGeom prst="rect">
            <a:avLst/>
          </a:prstGeom>
          <a:noFill/>
          <a:ln/>
        </p:spPr>
        <p:txBody>
          <a:bodyPr wrap="square" lIns="0" tIns="0" rIns="0" bIns="0" rtlCol="0" anchor="ctr"/>
          <a:lstStyle/>
          <a:p>
            <a:pPr indent="0" marL="0">
              <a:buNone/>
            </a:pPr>
            <a:r>
              <a:rPr lang="en-US" sz="1400" b="1" dirty="0">
                <a:solidFill>
                  <a:schemeClr val="bg1"/>
                </a:solidFill>
              </a:rPr>
              <a:t>Siguiente paso: crecer en ventas. El Fast Sale arranca mañana, 15 de octubre.</a:t>
            </a:r>
            <a:endParaRPr lang="en-US" sz="1400" dirty="0"/>
          </a:p>
        </p:txBody>
      </p:sp>
      <p:sp>
        <p:nvSpPr>
          <p:cNvPr id="8" name="Text 5"/>
          <p:cNvSpPr txBox="1"/>
          <p:nvPr/>
        </p:nvSpPr>
        <p:spPr>
          <a:xfrm>
            <a:off x="457200" y="4462272"/>
            <a:ext cx="8229600" cy="256032"/>
          </a:xfrm>
          <a:prstGeom prst="rect">
            <a:avLst/>
          </a:prstGeom>
          <a:noFill/>
          <a:ln/>
        </p:spPr>
        <p:txBody>
          <a:bodyPr wrap="square" lIns="0" tIns="0" rIns="0" bIns="0" rtlCol="0" anchor="ctr"/>
          <a:lstStyle/>
          <a:p>
            <a:pPr indent="0" marL="0">
              <a:buNone/>
            </a:pPr>
            <a:r>
              <a:rPr lang="en-US" sz="900" i="1" dirty="0">
                <a:solidFill>
                  <a:schemeClr val="accent4"/>
                </a:solidFill>
              </a:rPr>
              <a:t>Fuente: dashboard de Brooklyn y analítica de plataformas.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email y SMS ya generan ventas recurrentes</a:t>
            </a:r>
            <a:endParaRPr lang="en-US" sz="2600" dirty="0"/>
          </a:p>
        </p:txBody>
      </p:sp>
      <p:sp>
        <p:nvSpPr>
          <p:cNvPr id="3" name="Retention stat panel"/>
          <p:cNvSpPr/>
          <p:nvPr/>
        </p:nvSpPr>
        <p:spPr>
          <a:xfrm>
            <a:off x="457200" y="1005840"/>
            <a:ext cx="3108960" cy="3291840"/>
          </a:xfrm>
          <a:prstGeom prst="roundRect">
            <a:avLst>
              <a:gd name="adj" fmla="val 2353"/>
            </a:avLst>
          </a:prstGeom>
          <a:solidFill>
            <a:schemeClr val="tx1"/>
          </a:solidFill>
          <a:ln/>
        </p:spPr>
      </p:sp>
      <p:sp>
        <p:nvSpPr>
          <p:cNvPr id="4" name="Text 2"/>
          <p:cNvSpPr txBox="1"/>
          <p:nvPr/>
        </p:nvSpPr>
        <p:spPr>
          <a:xfrm>
            <a:off x="685800" y="1188720"/>
            <a:ext cx="2651760" cy="68580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$2.074</a:t>
            </a:r>
            <a:endParaRPr lang="en-US" sz="4000" dirty="0"/>
          </a:p>
        </p:txBody>
      </p:sp>
      <p:sp>
        <p:nvSpPr>
          <p:cNvPr id="5" name="Text 3"/>
          <p:cNvSpPr txBox="1"/>
          <p:nvPr/>
        </p:nvSpPr>
        <p:spPr>
          <a:xfrm>
            <a:off x="685800" y="1874520"/>
            <a:ext cx="2651760" cy="457200"/>
          </a:xfrm>
          <a:prstGeom prst="rect">
            <a:avLst/>
          </a:prstGeom>
          <a:noFill/>
          <a:ln/>
        </p:spPr>
        <p:txBody>
          <a:bodyPr wrap="square" lIns="0" tIns="0" rIns="0" bIns="0" rtlCol="0" anchor="ctr"/>
          <a:lstStyle/>
          <a:p>
            <a:pPr indent="0" marL="0">
              <a:buNone/>
            </a:pPr>
            <a:r>
              <a:rPr lang="en-US" sz="1200" dirty="0">
                <a:solidFill>
                  <a:schemeClr val="accent6"/>
                </a:solidFill>
              </a:rPr>
              <a:t>en ventas atribuidas a email y SMS,</a:t>
            </a:r>
            <a:endParaRPr lang="en-US" sz="1200" dirty="0"/>
          </a:p>
          <a:p>
            <a:pPr indent="0" marL="0">
              <a:buNone/>
            </a:pPr>
            <a:r>
              <a:rPr lang="en-US" sz="1200" dirty="0">
                <a:solidFill>
                  <a:schemeClr val="accent6"/>
                </a:solidFill>
              </a:rPr>
              <a:t>1–14 oct</a:t>
            </a:r>
            <a:endParaRPr lang="en-US" sz="1200" dirty="0"/>
          </a:p>
        </p:txBody>
      </p:sp>
      <p:sp>
        <p:nvSpPr>
          <p:cNvPr id="6" name="Text 4"/>
          <p:cNvSpPr txBox="1"/>
          <p:nvPr/>
        </p:nvSpPr>
        <p:spPr>
          <a:xfrm>
            <a:off x="685800" y="2468880"/>
            <a:ext cx="2651760" cy="68580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31</a:t>
            </a:r>
            <a:endParaRPr lang="en-US" sz="4000" dirty="0"/>
          </a:p>
        </p:txBody>
      </p:sp>
      <p:sp>
        <p:nvSpPr>
          <p:cNvPr id="7" name="Text 5"/>
          <p:cNvSpPr txBox="1"/>
          <p:nvPr/>
        </p:nvSpPr>
        <p:spPr>
          <a:xfrm>
            <a:off x="685800" y="3154680"/>
            <a:ext cx="2651760" cy="457200"/>
          </a:xfrm>
          <a:prstGeom prst="rect">
            <a:avLst/>
          </a:prstGeom>
          <a:noFill/>
          <a:ln/>
        </p:spPr>
        <p:txBody>
          <a:bodyPr wrap="square" lIns="0" tIns="0" rIns="0" bIns="0" rtlCol="0" anchor="ctr"/>
          <a:lstStyle/>
          <a:p>
            <a:pPr indent="0" marL="0">
              <a:buNone/>
            </a:pPr>
            <a:r>
              <a:rPr lang="en-US" sz="1200" dirty="0">
                <a:solidFill>
                  <a:schemeClr val="accent6"/>
                </a:solidFill>
              </a:rPr>
              <a:t>órdenes; 17 llegan solas por flujos automáticos</a:t>
            </a:r>
            <a:endParaRPr lang="en-US" sz="1200" dirty="0"/>
          </a:p>
        </p:txBody>
      </p:sp>
      <p:graphicFrame>
        <p:nvGraphicFramePr>
          <p:cNvPr id="8" name="Sales by program chart" descr=""/>
          <p:cNvGraphicFramePr/>
          <p:nvPr/>
        </p:nvGraphicFramePr>
        <p:xfrm>
          <a:off x="3840480" y="960120"/>
          <a:ext cx="484632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3931920" y="3749040"/>
            <a:ext cx="4754880" cy="548640"/>
          </a:xfrm>
          <a:prstGeom prst="rect">
            <a:avLst/>
          </a:prstGeom>
          <a:noFill/>
          <a:ln/>
        </p:spPr>
        <p:txBody>
          <a:bodyPr wrap="square" lIns="0" tIns="0" rIns="0" bIns="0" rtlCol="0" anchor="t"/>
          <a:lstStyle/>
          <a:p>
            <a:pPr indent="0" marL="0">
              <a:buNone/>
            </a:pPr>
            <a:r>
              <a:rPr lang="en-US" sz="1200" dirty="0">
                <a:solidFill>
                  <a:schemeClr val="tx1"/>
                </a:solidFill>
              </a:rPr>
              <a:t>El Game Day tuvo 60% de apertura. Los flujos de Subscribe &amp; Save y Segunda Orden están activos desde el 7 oct.</a:t>
            </a:r>
            <a:endParaRPr lang="en-US" sz="1200" dirty="0"/>
          </a:p>
        </p:txBody>
      </p:sp>
      <p:sp>
        <p:nvSpPr>
          <p:cNvPr id="10" name="Text 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Klaviyo (Brooklyn Biltong), órdenes atribuidas por la plataforma.</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el nuevo programa de email</a:t>
            </a:r>
            <a:endParaRPr lang="en-US" sz="2600" dirty="0"/>
          </a:p>
        </p:txBody>
      </p:sp>
      <p:sp>
        <p:nvSpPr>
          <p:cNvPr id="3" name="Journey step 1"/>
          <p:cNvSpPr/>
          <p:nvPr/>
        </p:nvSpPr>
        <p:spPr>
          <a:xfrm>
            <a:off x="457200" y="960120"/>
            <a:ext cx="987552" cy="566928"/>
          </a:xfrm>
          <a:prstGeom prst="roundRect">
            <a:avLst>
              <a:gd name="adj" fmla="val 12903"/>
            </a:avLst>
          </a:prstGeom>
          <a:solidFill>
            <a:schemeClr val="tx1"/>
          </a:solidFill>
          <a:ln/>
        </p:spPr>
      </p:sp>
      <p:sp>
        <p:nvSpPr>
          <p:cNvPr id="4" name="Text 2"/>
          <p:cNvSpPr txBox="1"/>
          <p:nvPr/>
        </p:nvSpPr>
        <p:spPr>
          <a:xfrm>
            <a:off x="493776" y="960120"/>
            <a:ext cx="914400" cy="566928"/>
          </a:xfrm>
          <a:prstGeom prst="rect">
            <a:avLst/>
          </a:prstGeom>
          <a:noFill/>
          <a:ln/>
        </p:spPr>
        <p:txBody>
          <a:bodyPr wrap="square" lIns="0" tIns="0" rIns="0" bIns="0" rtlCol="0" anchor="ctr"/>
          <a:lstStyle/>
          <a:p>
            <a:pPr algn="ctr" indent="0" marL="0">
              <a:buNone/>
            </a:pPr>
            <a:r>
              <a:rPr lang="en-US" sz="950" b="1" dirty="0">
                <a:solidFill>
                  <a:schemeClr val="bg1"/>
                </a:solidFill>
              </a:rPr>
              <a:t>1ª compra</a:t>
            </a:r>
            <a:endParaRPr lang="en-US" sz="950" dirty="0"/>
          </a:p>
        </p:txBody>
      </p:sp>
      <p:sp>
        <p:nvSpPr>
          <p:cNvPr id="5" name="Text 3"/>
          <p:cNvSpPr txBox="1"/>
          <p:nvPr/>
        </p:nvSpPr>
        <p:spPr>
          <a:xfrm>
            <a:off x="144475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6" name="Journey step 2"/>
          <p:cNvSpPr/>
          <p:nvPr/>
        </p:nvSpPr>
        <p:spPr>
          <a:xfrm>
            <a:off x="1645920" y="960120"/>
            <a:ext cx="987552" cy="566928"/>
          </a:xfrm>
          <a:prstGeom prst="roundRect">
            <a:avLst>
              <a:gd name="adj" fmla="val 12903"/>
            </a:avLst>
          </a:prstGeom>
          <a:solidFill>
            <a:schemeClr val="bg2"/>
          </a:solidFill>
          <a:ln/>
        </p:spPr>
      </p:sp>
      <p:sp>
        <p:nvSpPr>
          <p:cNvPr id="7" name="Text 5"/>
          <p:cNvSpPr txBox="1"/>
          <p:nvPr/>
        </p:nvSpPr>
        <p:spPr>
          <a:xfrm>
            <a:off x="1682496" y="960120"/>
            <a:ext cx="914400" cy="566928"/>
          </a:xfrm>
          <a:prstGeom prst="rect">
            <a:avLst/>
          </a:prstGeom>
          <a:noFill/>
          <a:ln/>
        </p:spPr>
        <p:txBody>
          <a:bodyPr wrap="square" lIns="0" tIns="0" rIns="0" bIns="0" rtlCol="0" anchor="ctr"/>
          <a:lstStyle/>
          <a:p>
            <a:pPr algn="ctr" indent="0" marL="0">
              <a:buNone/>
            </a:pPr>
            <a:r>
              <a:rPr lang="en-US" sz="950" dirty="0">
                <a:solidFill>
                  <a:schemeClr val="tx1"/>
                </a:solidFill>
              </a:rPr>
              <a:t>First Purchase + Bounce-Back</a:t>
            </a:r>
            <a:endParaRPr lang="en-US" sz="950" dirty="0"/>
          </a:p>
        </p:txBody>
      </p:sp>
      <p:sp>
        <p:nvSpPr>
          <p:cNvPr id="8" name="Text 6"/>
          <p:cNvSpPr txBox="1"/>
          <p:nvPr/>
        </p:nvSpPr>
        <p:spPr>
          <a:xfrm>
            <a:off x="263347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9" name="Journey step 3"/>
          <p:cNvSpPr/>
          <p:nvPr/>
        </p:nvSpPr>
        <p:spPr>
          <a:xfrm>
            <a:off x="2834640" y="960120"/>
            <a:ext cx="987552" cy="566928"/>
          </a:xfrm>
          <a:prstGeom prst="roundRect">
            <a:avLst>
              <a:gd name="adj" fmla="val 12903"/>
            </a:avLst>
          </a:prstGeom>
          <a:solidFill>
            <a:schemeClr val="tx1"/>
          </a:solidFill>
          <a:ln/>
        </p:spPr>
      </p:sp>
      <p:sp>
        <p:nvSpPr>
          <p:cNvPr id="10" name="Text 8"/>
          <p:cNvSpPr txBox="1"/>
          <p:nvPr/>
        </p:nvSpPr>
        <p:spPr>
          <a:xfrm>
            <a:off x="2871216" y="960120"/>
            <a:ext cx="914400" cy="566928"/>
          </a:xfrm>
          <a:prstGeom prst="rect">
            <a:avLst/>
          </a:prstGeom>
          <a:noFill/>
          <a:ln/>
        </p:spPr>
        <p:txBody>
          <a:bodyPr wrap="square" lIns="0" tIns="0" rIns="0" bIns="0" rtlCol="0" anchor="ctr"/>
          <a:lstStyle/>
          <a:p>
            <a:pPr algn="ctr" indent="0" marL="0">
              <a:buNone/>
            </a:pPr>
            <a:r>
              <a:rPr lang="en-US" sz="950" b="1" dirty="0">
                <a:solidFill>
                  <a:schemeClr val="bg1"/>
                </a:solidFill>
              </a:rPr>
              <a:t>2ª compra</a:t>
            </a:r>
            <a:endParaRPr lang="en-US" sz="950" dirty="0"/>
          </a:p>
        </p:txBody>
      </p:sp>
      <p:sp>
        <p:nvSpPr>
          <p:cNvPr id="11" name="Text 9"/>
          <p:cNvSpPr txBox="1"/>
          <p:nvPr/>
        </p:nvSpPr>
        <p:spPr>
          <a:xfrm>
            <a:off x="382219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2" name="Journey step 4"/>
          <p:cNvSpPr/>
          <p:nvPr/>
        </p:nvSpPr>
        <p:spPr>
          <a:xfrm>
            <a:off x="4023360" y="960120"/>
            <a:ext cx="987552" cy="566928"/>
          </a:xfrm>
          <a:prstGeom prst="roundRect">
            <a:avLst>
              <a:gd name="adj" fmla="val 12903"/>
            </a:avLst>
          </a:prstGeom>
          <a:solidFill>
            <a:schemeClr val="bg2"/>
          </a:solidFill>
          <a:ln/>
        </p:spPr>
      </p:sp>
      <p:sp>
        <p:nvSpPr>
          <p:cNvPr id="13" name="Text 11"/>
          <p:cNvSpPr txBox="1"/>
          <p:nvPr/>
        </p:nvSpPr>
        <p:spPr>
          <a:xfrm>
            <a:off x="4059936" y="960120"/>
            <a:ext cx="914400" cy="566928"/>
          </a:xfrm>
          <a:prstGeom prst="rect">
            <a:avLst/>
          </a:prstGeom>
          <a:noFill/>
          <a:ln/>
        </p:spPr>
        <p:txBody>
          <a:bodyPr wrap="square" lIns="0" tIns="0" rIns="0" bIns="0" rtlCol="0" anchor="ctr"/>
          <a:lstStyle/>
          <a:p>
            <a:pPr algn="ctr" indent="0" marL="0">
              <a:buNone/>
            </a:pPr>
            <a:r>
              <a:rPr lang="en-US" sz="950" dirty="0">
                <a:solidFill>
                  <a:schemeClr val="tx1"/>
                </a:solidFill>
              </a:rPr>
              <a:t>Subscribe &amp; Save + Reposición</a:t>
            </a:r>
            <a:endParaRPr lang="en-US" sz="950" dirty="0"/>
          </a:p>
        </p:txBody>
      </p:sp>
      <p:sp>
        <p:nvSpPr>
          <p:cNvPr id="14" name="Text 12"/>
          <p:cNvSpPr txBox="1"/>
          <p:nvPr/>
        </p:nvSpPr>
        <p:spPr>
          <a:xfrm>
            <a:off x="501091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5" name="Journey step 5"/>
          <p:cNvSpPr/>
          <p:nvPr/>
        </p:nvSpPr>
        <p:spPr>
          <a:xfrm>
            <a:off x="5212080" y="960120"/>
            <a:ext cx="987552" cy="566928"/>
          </a:xfrm>
          <a:prstGeom prst="roundRect">
            <a:avLst>
              <a:gd name="adj" fmla="val 12903"/>
            </a:avLst>
          </a:prstGeom>
          <a:solidFill>
            <a:schemeClr val="tx1"/>
          </a:solidFill>
          <a:ln/>
        </p:spPr>
      </p:sp>
      <p:sp>
        <p:nvSpPr>
          <p:cNvPr id="16" name="Text 14"/>
          <p:cNvSpPr txBox="1"/>
          <p:nvPr/>
        </p:nvSpPr>
        <p:spPr>
          <a:xfrm>
            <a:off x="5248656" y="960120"/>
            <a:ext cx="914400" cy="566928"/>
          </a:xfrm>
          <a:prstGeom prst="rect">
            <a:avLst/>
          </a:prstGeom>
          <a:noFill/>
          <a:ln/>
        </p:spPr>
        <p:txBody>
          <a:bodyPr wrap="square" lIns="0" tIns="0" rIns="0" bIns="0" rtlCol="0" anchor="ctr"/>
          <a:lstStyle/>
          <a:p>
            <a:pPr algn="ctr" indent="0" marL="0">
              <a:buNone/>
            </a:pPr>
            <a:r>
              <a:rPr lang="en-US" sz="950" b="1" dirty="0">
                <a:solidFill>
                  <a:schemeClr val="bg1"/>
                </a:solidFill>
              </a:rPr>
              <a:t>3ª compra</a:t>
            </a:r>
            <a:endParaRPr lang="en-US" sz="950" dirty="0"/>
          </a:p>
        </p:txBody>
      </p:sp>
      <p:sp>
        <p:nvSpPr>
          <p:cNvPr id="17" name="Text 15"/>
          <p:cNvSpPr txBox="1"/>
          <p:nvPr/>
        </p:nvSpPr>
        <p:spPr>
          <a:xfrm>
            <a:off x="619963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8" name="Journey step 6"/>
          <p:cNvSpPr/>
          <p:nvPr/>
        </p:nvSpPr>
        <p:spPr>
          <a:xfrm>
            <a:off x="6400800" y="960120"/>
            <a:ext cx="987552" cy="566928"/>
          </a:xfrm>
          <a:prstGeom prst="roundRect">
            <a:avLst>
              <a:gd name="adj" fmla="val 12903"/>
            </a:avLst>
          </a:prstGeom>
          <a:solidFill>
            <a:schemeClr val="bg2"/>
          </a:solidFill>
          <a:ln/>
        </p:spPr>
      </p:sp>
      <p:sp>
        <p:nvSpPr>
          <p:cNvPr id="19" name="Text 17"/>
          <p:cNvSpPr txBox="1"/>
          <p:nvPr/>
        </p:nvSpPr>
        <p:spPr>
          <a:xfrm>
            <a:off x="6437376" y="960120"/>
            <a:ext cx="914400" cy="566928"/>
          </a:xfrm>
          <a:prstGeom prst="rect">
            <a:avLst/>
          </a:prstGeom>
          <a:noFill/>
          <a:ln/>
        </p:spPr>
        <p:txBody>
          <a:bodyPr wrap="square" lIns="0" tIns="0" rIns="0" bIns="0" rtlCol="0" anchor="ctr"/>
          <a:lstStyle/>
          <a:p>
            <a:pPr algn="ctr" indent="0" marL="0">
              <a:buNone/>
            </a:pPr>
            <a:r>
              <a:rPr lang="en-US" sz="950" dirty="0">
                <a:solidFill>
                  <a:schemeClr val="tx1"/>
                </a:solidFill>
              </a:rPr>
              <a:t>Bienvenida VIP</a:t>
            </a:r>
            <a:endParaRPr lang="en-US" sz="950" dirty="0"/>
          </a:p>
        </p:txBody>
      </p:sp>
      <p:sp>
        <p:nvSpPr>
          <p:cNvPr id="20" name="Text 18"/>
          <p:cNvSpPr txBox="1"/>
          <p:nvPr/>
        </p:nvSpPr>
        <p:spPr>
          <a:xfrm>
            <a:off x="7388352" y="960120"/>
            <a:ext cx="201168" cy="566928"/>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1" name="Journey step 7"/>
          <p:cNvSpPr/>
          <p:nvPr/>
        </p:nvSpPr>
        <p:spPr>
          <a:xfrm>
            <a:off x="7589520" y="960120"/>
            <a:ext cx="987552" cy="566928"/>
          </a:xfrm>
          <a:prstGeom prst="roundRect">
            <a:avLst>
              <a:gd name="adj" fmla="val 12903"/>
            </a:avLst>
          </a:prstGeom>
          <a:solidFill>
            <a:schemeClr val="tx1"/>
          </a:solidFill>
          <a:ln/>
        </p:spPr>
      </p:sp>
      <p:sp>
        <p:nvSpPr>
          <p:cNvPr id="22" name="Text 20"/>
          <p:cNvSpPr txBox="1"/>
          <p:nvPr/>
        </p:nvSpPr>
        <p:spPr>
          <a:xfrm>
            <a:off x="7626096" y="960120"/>
            <a:ext cx="914400" cy="566928"/>
          </a:xfrm>
          <a:prstGeom prst="rect">
            <a:avLst/>
          </a:prstGeom>
          <a:noFill/>
          <a:ln/>
        </p:spPr>
        <p:txBody>
          <a:bodyPr wrap="square" lIns="0" tIns="0" rIns="0" bIns="0" rtlCol="0" anchor="ctr"/>
          <a:lstStyle/>
          <a:p>
            <a:pPr algn="ctr" indent="0" marL="0">
              <a:buNone/>
            </a:pPr>
            <a:r>
              <a:rPr lang="en-US" sz="950" b="1" dirty="0">
                <a:solidFill>
                  <a:schemeClr val="bg1"/>
                </a:solidFill>
              </a:rPr>
              <a:t>Aniversario</a:t>
            </a:r>
            <a:endParaRPr lang="en-US" sz="950" dirty="0"/>
          </a:p>
        </p:txBody>
      </p:sp>
      <p:sp>
        <p:nvSpPr>
          <p:cNvPr id="23" name="Text 21"/>
          <p:cNvSpPr txBox="1"/>
          <p:nvPr/>
        </p:nvSpPr>
        <p:spPr>
          <a:xfrm>
            <a:off x="457200" y="1572768"/>
            <a:ext cx="8229600" cy="256032"/>
          </a:xfrm>
          <a:prstGeom prst="rect">
            <a:avLst/>
          </a:prstGeom>
          <a:noFill/>
          <a:ln/>
        </p:spPr>
        <p:txBody>
          <a:bodyPr wrap="square" lIns="0" tIns="0" rIns="0" bIns="0" rtlCol="0" anchor="ctr"/>
          <a:lstStyle/>
          <a:p>
            <a:pPr indent="0" marL="0">
              <a:buNone/>
            </a:pPr>
            <a:r>
              <a:rPr lang="en-US" sz="1100" i="1" dirty="0">
                <a:solidFill>
                  <a:schemeClr val="accent1"/>
                </a:solidFill>
              </a:rPr>
              <a:t>Si deja de comprar: Win-Back A (una compra) o Win-Back B (dos o más compras)</a:t>
            </a:r>
            <a:endParaRPr lang="en-US" sz="1100" dirty="0"/>
          </a:p>
        </p:txBody>
      </p:sp>
      <p:sp>
        <p:nvSpPr>
          <p:cNvPr id="24" name="Text 22"/>
          <p:cNvSpPr txBox="1"/>
          <p:nvPr/>
        </p:nvSpPr>
        <p:spPr>
          <a:xfrm>
            <a:off x="457200" y="1920240"/>
            <a:ext cx="4023360" cy="292608"/>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Flujos nuevos</a:t>
            </a:r>
            <a:endParaRPr lang="en-US" sz="1500" dirty="0"/>
          </a:p>
        </p:txBody>
      </p:sp>
      <p:sp>
        <p:nvSpPr>
          <p:cNvPr id="25" name="Text 23"/>
          <p:cNvSpPr txBox="1"/>
          <p:nvPr/>
        </p:nvSpPr>
        <p:spPr>
          <a:xfrm>
            <a:off x="457200" y="2240280"/>
            <a:ext cx="4023360" cy="1737360"/>
          </a:xfrm>
          <a:prstGeom prst="rect">
            <a:avLst/>
          </a:prstGeom>
          <a:noFill/>
          <a:ln/>
        </p:spPr>
        <p:txBody>
          <a:bodyPr wrap="square" lIns="0" tIns="0" rIns="0" bIns="0" rtlCol="0" anchor="t"/>
          <a:lstStyle/>
          <a:p>
            <a:pPr marL="342900" indent="-342900">
              <a:spcAft>
                <a:spcPts val="400"/>
              </a:spcAft>
              <a:buSzPct val="100000"/>
              <a:buChar char="•"/>
            </a:pPr>
            <a:r>
              <a:rPr lang="en-US" sz="1100" b="1" dirty="0">
                <a:solidFill>
                  <a:schemeClr val="tx1"/>
                </a:solidFill>
              </a:rPr>
              <a:t>Browse Abandonment: </a:t>
            </a:r>
            <a:pPr indent="0" marL="0">
              <a:buNone/>
            </a:pPr>
            <a:r>
              <a:rPr lang="en-US" sz="1100" dirty="0">
                <a:solidFill>
                  <a:schemeClr val="tx1"/>
                </a:solidFill>
              </a:rPr>
              <a:t>a quien ve un producto y no lo agrega al carrito</a:t>
            </a:r>
            <a:endParaRPr lang="en-US" sz="1100" dirty="0"/>
          </a:p>
          <a:p>
            <a:pPr marL="342900" indent="-342900">
              <a:spcAft>
                <a:spcPts val="400"/>
              </a:spcAft>
              <a:buSzPct val="100000"/>
              <a:buChar char="•"/>
            </a:pPr>
            <a:r>
              <a:rPr lang="en-US" sz="1100" b="1" dirty="0">
                <a:solidFill>
                  <a:schemeClr val="tx1"/>
                </a:solidFill>
              </a:rPr>
              <a:t>Reposición: </a:t>
            </a:r>
            <a:pPr indent="0" marL="0">
              <a:buNone/>
            </a:pPr>
            <a:r>
              <a:rPr lang="en-US" sz="1100" dirty="0">
                <a:solidFill>
                  <a:schemeClr val="tx1"/>
                </a:solidFill>
              </a:rPr>
              <a:t>"¿se te está acabando?" según el pack (3 bolsas a 21 días, 5 a 30, 7 a 40)</a:t>
            </a:r>
            <a:endParaRPr lang="en-US" sz="1100" dirty="0"/>
          </a:p>
          <a:p>
            <a:pPr marL="342900" indent="-342900">
              <a:spcAft>
                <a:spcPts val="400"/>
              </a:spcAft>
              <a:buSzPct val="100000"/>
              <a:buChar char="•"/>
            </a:pPr>
            <a:r>
              <a:rPr lang="en-US" sz="1100" b="1" dirty="0">
                <a:solidFill>
                  <a:schemeClr val="tx1"/>
                </a:solidFill>
              </a:rPr>
              <a:t>Bienvenida VIP: </a:t>
            </a:r>
            <a:pPr indent="0" marL="0">
              <a:buNone/>
            </a:pPr>
            <a:r>
              <a:rPr lang="en-US" sz="1100" dirty="0">
                <a:solidFill>
                  <a:schemeClr val="tx1"/>
                </a:solidFill>
              </a:rPr>
              <a:t>en la 3ª compra, sin descuento: estatus, acceso anticipado y un sabor nuevo</a:t>
            </a:r>
            <a:endParaRPr lang="en-US" sz="1100" dirty="0"/>
          </a:p>
          <a:p>
            <a:pPr marL="342900" indent="-342900">
              <a:spcAft>
                <a:spcPts val="400"/>
              </a:spcAft>
              <a:buSzPct val="100000"/>
              <a:buChar char="•"/>
            </a:pPr>
            <a:r>
              <a:rPr lang="en-US" sz="1100" b="1" dirty="0">
                <a:solidFill>
                  <a:schemeClr val="tx1"/>
                </a:solidFill>
              </a:rPr>
              <a:t>Aniversario: </a:t>
            </a:r>
            <a:pPr indent="0" marL="0">
              <a:buNone/>
            </a:pPr>
            <a:r>
              <a:rPr lang="en-US" sz="1100" dirty="0">
                <a:solidFill>
                  <a:schemeClr val="tx1"/>
                </a:solidFill>
              </a:rPr>
              <a:t>un año desde la primera compra</a:t>
            </a:r>
            <a:endParaRPr lang="en-US" sz="1100" dirty="0"/>
          </a:p>
          <a:p>
            <a:pPr marL="342900" indent="-342900">
              <a:spcAft>
                <a:spcPts val="400"/>
              </a:spcAft>
              <a:buSzPct val="100000"/>
              <a:buChar char="•"/>
            </a:pPr>
            <a:r>
              <a:rPr lang="en-US" sz="1100" b="1" dirty="0">
                <a:solidFill>
                  <a:schemeClr val="tx1"/>
                </a:solidFill>
              </a:rPr>
              <a:t>Win-Back B: </a:t>
            </a:r>
            <a:pPr indent="0" marL="0">
              <a:buNone/>
            </a:pPr>
            <a:r>
              <a:rPr lang="en-US" sz="1100" dirty="0">
                <a:solidFill>
                  <a:schemeClr val="tx1"/>
                </a:solidFill>
              </a:rPr>
              <a:t>reactivar a 2.493 compradores repetidos inactivos</a:t>
            </a:r>
            <a:endParaRPr lang="en-US" sz="1100" dirty="0"/>
          </a:p>
        </p:txBody>
      </p:sp>
      <p:sp>
        <p:nvSpPr>
          <p:cNvPr id="26" name="Campaigns panel"/>
          <p:cNvSpPr/>
          <p:nvPr/>
        </p:nvSpPr>
        <p:spPr>
          <a:xfrm>
            <a:off x="4663440" y="1920240"/>
            <a:ext cx="4023360" cy="2057400"/>
          </a:xfrm>
          <a:prstGeom prst="roundRect">
            <a:avLst>
              <a:gd name="adj" fmla="val 3556"/>
            </a:avLst>
          </a:prstGeom>
          <a:solidFill>
            <a:schemeClr val="tx1"/>
          </a:solidFill>
          <a:ln/>
        </p:spPr>
      </p:sp>
      <p:sp>
        <p:nvSpPr>
          <p:cNvPr id="27" name="Text 25"/>
          <p:cNvSpPr txBox="1"/>
          <p:nvPr/>
        </p:nvSpPr>
        <p:spPr>
          <a:xfrm>
            <a:off x="4846320" y="2011680"/>
            <a:ext cx="3657600" cy="365760"/>
          </a:xfrm>
          <a:prstGeom prst="rect">
            <a:avLst/>
          </a:prstGeom>
          <a:noFill/>
          <a:ln/>
        </p:spPr>
        <p:txBody>
          <a:bodyPr wrap="square" lIns="0" tIns="0" rIns="0" bIns="0" rtlCol="0" anchor="ctr"/>
          <a:lstStyle/>
          <a:p>
            <a:pPr indent="0" marL="0">
              <a:buNone/>
            </a:pPr>
            <a:r>
              <a:rPr lang="en-US" sz="1400" b="1" dirty="0">
                <a:solidFill>
                  <a:schemeClr val="accent6"/>
                </a:solidFill>
                <a:latin typeface="Cambria" pitchFamily="34" charset="0"/>
                <a:ea typeface="Cambria" pitchFamily="34" charset="-122"/>
                <a:cs typeface="Cambria" pitchFamily="34" charset="-120"/>
              </a:rPr>
              <a:t>Campañas simultáneas hipersegmentadas</a:t>
            </a:r>
            <a:endParaRPr lang="en-US" sz="1400" dirty="0"/>
          </a:p>
        </p:txBody>
      </p:sp>
      <p:sp>
        <p:nvSpPr>
          <p:cNvPr id="28" name="Text 26"/>
          <p:cNvSpPr txBox="1"/>
          <p:nvPr/>
        </p:nvSpPr>
        <p:spPr>
          <a:xfrm>
            <a:off x="4846320" y="2423160"/>
            <a:ext cx="3657600" cy="1463040"/>
          </a:xfrm>
          <a:prstGeom prst="rect">
            <a:avLst/>
          </a:prstGeom>
          <a:noFill/>
          <a:ln/>
        </p:spPr>
        <p:txBody>
          <a:bodyPr wrap="square" lIns="0" tIns="0" rIns="0" bIns="0" rtlCol="0" anchor="t"/>
          <a:lstStyle/>
          <a:p>
            <a:pPr indent="0" marL="0">
              <a:buNone/>
            </a:pPr>
            <a:r>
              <a:rPr lang="en-US" sz="1100" dirty="0">
                <a:solidFill>
                  <a:schemeClr val="bg1"/>
                </a:solidFill>
              </a:rPr>
              <a:t>El mismo día salen varias campañas, cada una a un microsegmento con su propio mensaje: suscriptores, VIP, clientes de una compra, quienes hacen clic sin comprar y la base fría. Cada cliente queda en un solo grupo, así nadie recibe dos campañas el mismo día.</a:t>
            </a:r>
            <a:endParaRPr lang="en-US" sz="1100" dirty="0"/>
          </a:p>
        </p:txBody>
      </p:sp>
      <p:sp>
        <p:nvSpPr>
          <p:cNvPr id="29" name="Email step 1"/>
          <p:cNvSpPr/>
          <p:nvPr/>
        </p:nvSpPr>
        <p:spPr>
          <a:xfrm>
            <a:off x="457200" y="4069080"/>
            <a:ext cx="2651760" cy="594360"/>
          </a:xfrm>
          <a:prstGeom prst="roundRect">
            <a:avLst>
              <a:gd name="adj" fmla="val 12308"/>
            </a:avLst>
          </a:prstGeom>
          <a:solidFill>
            <a:schemeClr val="bg2"/>
          </a:solidFill>
          <a:ln/>
        </p:spPr>
      </p:sp>
      <p:sp>
        <p:nvSpPr>
          <p:cNvPr id="30" name="Text 28"/>
          <p:cNvSpPr txBox="1"/>
          <p:nvPr/>
        </p:nvSpPr>
        <p:spPr>
          <a:xfrm>
            <a:off x="594360" y="4069080"/>
            <a:ext cx="2423160" cy="594360"/>
          </a:xfrm>
          <a:prstGeom prst="rect">
            <a:avLst/>
          </a:prstGeom>
          <a:noFill/>
          <a:ln/>
        </p:spPr>
        <p:txBody>
          <a:bodyPr wrap="square" lIns="0" tIns="0" rIns="0" bIns="0" rtlCol="0" anchor="ctr"/>
          <a:lstStyle/>
          <a:p>
            <a:pPr indent="0" marL="0">
              <a:buNone/>
            </a:pPr>
            <a:r>
              <a:rPr lang="en-US" sz="1000" b="1" dirty="0">
                <a:solidFill>
                  <a:schemeClr val="accent1"/>
                </a:solidFill>
              </a:rPr>
              <a:t>Esta semana  </a:t>
            </a:r>
            <a:pPr indent="0" marL="0">
              <a:buNone/>
            </a:pPr>
            <a:r>
              <a:rPr lang="en-US" sz="1000" dirty="0">
                <a:solidFill>
                  <a:schemeClr val="tx1"/>
                </a:solidFill>
              </a:rPr>
              <a:t>Microsegmentos y Browse Abandonment, después del Fast Sale</a:t>
            </a:r>
            <a:endParaRPr lang="en-US" sz="1000" dirty="0"/>
          </a:p>
        </p:txBody>
      </p:sp>
      <p:sp>
        <p:nvSpPr>
          <p:cNvPr id="31" name="Email step 2"/>
          <p:cNvSpPr/>
          <p:nvPr/>
        </p:nvSpPr>
        <p:spPr>
          <a:xfrm>
            <a:off x="3246120" y="4069080"/>
            <a:ext cx="2651760" cy="594360"/>
          </a:xfrm>
          <a:prstGeom prst="roundRect">
            <a:avLst>
              <a:gd name="adj" fmla="val 12308"/>
            </a:avLst>
          </a:prstGeom>
          <a:solidFill>
            <a:schemeClr val="bg2"/>
          </a:solidFill>
          <a:ln/>
        </p:spPr>
      </p:sp>
      <p:sp>
        <p:nvSpPr>
          <p:cNvPr id="32" name="Text 30"/>
          <p:cNvSpPr txBox="1"/>
          <p:nvPr/>
        </p:nvSpPr>
        <p:spPr>
          <a:xfrm>
            <a:off x="3383280" y="4069080"/>
            <a:ext cx="2423160" cy="594360"/>
          </a:xfrm>
          <a:prstGeom prst="rect">
            <a:avLst/>
          </a:prstGeom>
          <a:noFill/>
          <a:ln/>
        </p:spPr>
        <p:txBody>
          <a:bodyPr wrap="square" lIns="0" tIns="0" rIns="0" bIns="0" rtlCol="0" anchor="ctr"/>
          <a:lstStyle/>
          <a:p>
            <a:pPr indent="0" marL="0">
              <a:buNone/>
            </a:pPr>
            <a:r>
              <a:rPr lang="en-US" sz="1000" b="1" dirty="0">
                <a:solidFill>
                  <a:schemeClr val="accent1"/>
                </a:solidFill>
              </a:rPr>
              <a:t>Semana del 19  </a:t>
            </a:r>
            <a:pPr indent="0" marL="0">
              <a:buNone/>
            </a:pPr>
            <a:r>
              <a:rPr lang="en-US" sz="1000" dirty="0">
                <a:solidFill>
                  <a:schemeClr val="tx1"/>
                </a:solidFill>
              </a:rPr>
              <a:t>Primera tanda de campañas, Reposición y Bienvenida VIP</a:t>
            </a:r>
            <a:endParaRPr lang="en-US" sz="1000" dirty="0"/>
          </a:p>
        </p:txBody>
      </p:sp>
      <p:sp>
        <p:nvSpPr>
          <p:cNvPr id="33" name="Email step 3"/>
          <p:cNvSpPr/>
          <p:nvPr/>
        </p:nvSpPr>
        <p:spPr>
          <a:xfrm>
            <a:off x="6035040" y="4069080"/>
            <a:ext cx="2651760" cy="594360"/>
          </a:xfrm>
          <a:prstGeom prst="roundRect">
            <a:avLst>
              <a:gd name="adj" fmla="val 12308"/>
            </a:avLst>
          </a:prstGeom>
          <a:solidFill>
            <a:schemeClr val="bg2"/>
          </a:solidFill>
          <a:ln/>
        </p:spPr>
      </p:sp>
      <p:sp>
        <p:nvSpPr>
          <p:cNvPr id="34" name="Text 32"/>
          <p:cNvSpPr txBox="1"/>
          <p:nvPr/>
        </p:nvSpPr>
        <p:spPr>
          <a:xfrm>
            <a:off x="6172200" y="4069080"/>
            <a:ext cx="2423160" cy="594360"/>
          </a:xfrm>
          <a:prstGeom prst="rect">
            <a:avLst/>
          </a:prstGeom>
          <a:noFill/>
          <a:ln/>
        </p:spPr>
        <p:txBody>
          <a:bodyPr wrap="square" lIns="0" tIns="0" rIns="0" bIns="0" rtlCol="0" anchor="ctr"/>
          <a:lstStyle/>
          <a:p>
            <a:pPr indent="0" marL="0">
              <a:buNone/>
            </a:pPr>
            <a:r>
              <a:rPr lang="en-US" sz="1000" b="1" dirty="0">
                <a:solidFill>
                  <a:schemeClr val="accent1"/>
                </a:solidFill>
              </a:rPr>
              <a:t>Desde el 25  </a:t>
            </a:r>
            <a:pPr indent="0" marL="0">
              <a:buNone/>
            </a:pPr>
            <a:r>
              <a:rPr lang="en-US" sz="1000" dirty="0">
                <a:solidFill>
                  <a:schemeClr val="tx1"/>
                </a:solidFill>
              </a:rPr>
              <a:t>Win-Back B para compradores repetidos inactivos</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Beg &amp; Barker: una base sólida y recurrente</a:t>
            </a:r>
            <a:endParaRPr lang="en-US" sz="2600" dirty="0"/>
          </a:p>
        </p:txBody>
      </p:sp>
      <p:sp>
        <p:nvSpPr>
          <p:cNvPr id="3" name="BB stat 1"/>
          <p:cNvSpPr/>
          <p:nvPr/>
        </p:nvSpPr>
        <p:spPr>
          <a:xfrm>
            <a:off x="457200" y="1005840"/>
            <a:ext cx="4206240" cy="1005840"/>
          </a:xfrm>
          <a:prstGeom prst="roundRect">
            <a:avLst>
              <a:gd name="adj" fmla="val 7273"/>
            </a:avLst>
          </a:prstGeom>
          <a:solidFill>
            <a:schemeClr val="bg2"/>
          </a:solidFill>
          <a:ln/>
        </p:spPr>
      </p:sp>
      <p:sp>
        <p:nvSpPr>
          <p:cNvPr id="4" name="Text 2"/>
          <p:cNvSpPr txBox="1"/>
          <p:nvPr/>
        </p:nvSpPr>
        <p:spPr>
          <a:xfrm>
            <a:off x="640080" y="1097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tx2"/>
                </a:solidFill>
                <a:latin typeface="Cambria" pitchFamily="34" charset="0"/>
                <a:ea typeface="Cambria" pitchFamily="34" charset="-122"/>
                <a:cs typeface="Cambria" pitchFamily="34" charset="-120"/>
              </a:rPr>
              <a:t>$89,9K</a:t>
            </a:r>
            <a:endParaRPr lang="en-US" sz="3000" dirty="0"/>
          </a:p>
        </p:txBody>
      </p:sp>
      <p:sp>
        <p:nvSpPr>
          <p:cNvPr id="5" name="Text 3"/>
          <p:cNvSpPr txBox="1"/>
          <p:nvPr/>
        </p:nvSpPr>
        <p:spPr>
          <a:xfrm>
            <a:off x="2194560" y="1097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en ventas en lo que va del año, con 1.181 órdenes y ticket promedio de $76</a:t>
            </a:r>
            <a:endParaRPr lang="en-US" sz="1200" dirty="0"/>
          </a:p>
        </p:txBody>
      </p:sp>
      <p:sp>
        <p:nvSpPr>
          <p:cNvPr id="6" name="BB stat 2"/>
          <p:cNvSpPr/>
          <p:nvPr/>
        </p:nvSpPr>
        <p:spPr>
          <a:xfrm>
            <a:off x="457200" y="2148840"/>
            <a:ext cx="4206240" cy="1005840"/>
          </a:xfrm>
          <a:prstGeom prst="roundRect">
            <a:avLst>
              <a:gd name="adj" fmla="val 7273"/>
            </a:avLst>
          </a:prstGeom>
          <a:solidFill>
            <a:schemeClr val="bg2"/>
          </a:solidFill>
          <a:ln/>
        </p:spPr>
      </p:sp>
      <p:sp>
        <p:nvSpPr>
          <p:cNvPr id="7" name="Text 5"/>
          <p:cNvSpPr txBox="1"/>
          <p:nvPr/>
        </p:nvSpPr>
        <p:spPr>
          <a:xfrm>
            <a:off x="640080" y="2240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2"/>
                </a:solidFill>
                <a:latin typeface="Cambria" pitchFamily="34" charset="0"/>
                <a:ea typeface="Cambria" pitchFamily="34" charset="-122"/>
                <a:cs typeface="Cambria" pitchFamily="34" charset="-120"/>
              </a:rPr>
              <a:t>44%</a:t>
            </a:r>
            <a:endParaRPr lang="en-US" sz="3000" dirty="0"/>
          </a:p>
        </p:txBody>
      </p:sp>
      <p:sp>
        <p:nvSpPr>
          <p:cNvPr id="8" name="Text 6"/>
          <p:cNvSpPr txBox="1"/>
          <p:nvPr/>
        </p:nvSpPr>
        <p:spPr>
          <a:xfrm>
            <a:off x="2194560" y="2240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de las ventas son renovaciones de suscripción: $40K de ingreso recurrente en el año</a:t>
            </a:r>
            <a:endParaRPr lang="en-US" sz="1200" dirty="0"/>
          </a:p>
        </p:txBody>
      </p:sp>
      <p:sp>
        <p:nvSpPr>
          <p:cNvPr id="9" name="BB stat 3"/>
          <p:cNvSpPr/>
          <p:nvPr/>
        </p:nvSpPr>
        <p:spPr>
          <a:xfrm>
            <a:off x="457200" y="3291840"/>
            <a:ext cx="4206240" cy="1005840"/>
          </a:xfrm>
          <a:prstGeom prst="roundRect">
            <a:avLst>
              <a:gd name="adj" fmla="val 7273"/>
            </a:avLst>
          </a:prstGeom>
          <a:solidFill>
            <a:schemeClr val="bg2"/>
          </a:solidFill>
          <a:ln/>
        </p:spPr>
      </p:sp>
      <p:sp>
        <p:nvSpPr>
          <p:cNvPr id="10" name="Text 8"/>
          <p:cNvSpPr txBox="1"/>
          <p:nvPr/>
        </p:nvSpPr>
        <p:spPr>
          <a:xfrm>
            <a:off x="640080" y="3383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1"/>
                </a:solidFill>
                <a:latin typeface="Cambria" pitchFamily="34" charset="0"/>
                <a:ea typeface="Cambria" pitchFamily="34" charset="-122"/>
                <a:cs typeface="Cambria" pitchFamily="34" charset="-120"/>
              </a:rPr>
              <a:t>$2,21</a:t>
            </a:r>
            <a:endParaRPr lang="en-US" sz="3000" dirty="0"/>
          </a:p>
        </p:txBody>
      </p:sp>
      <p:sp>
        <p:nvSpPr>
          <p:cNvPr id="11" name="Text 9"/>
          <p:cNvSpPr txBox="1"/>
          <p:nvPr/>
        </p:nvSpPr>
        <p:spPr>
          <a:xfrm>
            <a:off x="2194560" y="3383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por destinatario en los flujos automáticos, 13 veces más que las campañas</a:t>
            </a:r>
            <a:endParaRPr lang="en-US" sz="1200" dirty="0"/>
          </a:p>
        </p:txBody>
      </p:sp>
      <p:sp>
        <p:nvSpPr>
          <p:cNvPr id="12" name="BB card 1"/>
          <p:cNvSpPr/>
          <p:nvPr/>
        </p:nvSpPr>
        <p:spPr>
          <a:xfrm>
            <a:off x="5029200" y="1005840"/>
            <a:ext cx="1783080" cy="1554480"/>
          </a:xfrm>
          <a:prstGeom prst="roundRect">
            <a:avLst>
              <a:gd name="adj" fmla="val 4706"/>
            </a:avLst>
          </a:prstGeom>
          <a:solidFill>
            <a:schemeClr val="bg2"/>
          </a:solidFill>
          <a:ln/>
        </p:spPr>
      </p:sp>
      <p:sp>
        <p:nvSpPr>
          <p:cNvPr id="13" name="BB dot 1"/>
          <p:cNvSpPr/>
          <p:nvPr/>
        </p:nvSpPr>
        <p:spPr>
          <a:xfrm>
            <a:off x="5166360" y="1143000"/>
            <a:ext cx="256032" cy="256032"/>
          </a:xfrm>
          <a:prstGeom prst="ellipse">
            <a:avLst/>
          </a:prstGeom>
          <a:solidFill>
            <a:schemeClr val="accent2"/>
          </a:solidFill>
          <a:ln/>
        </p:spPr>
      </p:sp>
      <p:sp>
        <p:nvSpPr>
          <p:cNvPr id="14" name="Text 12"/>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Ventas estables</a:t>
            </a:r>
            <a:endParaRPr lang="en-US" sz="1200" dirty="0"/>
          </a:p>
        </p:txBody>
      </p:sp>
      <p:sp>
        <p:nvSpPr>
          <p:cNvPr id="15" name="Text 13"/>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~$9,3K al mes en el primer trimestre y ~$9,7K de abril a septiembre</a:t>
            </a:r>
            <a:endParaRPr lang="en-US" sz="1100" dirty="0"/>
          </a:p>
        </p:txBody>
      </p:sp>
      <p:sp>
        <p:nvSpPr>
          <p:cNvPr id="16" name="BB card 2"/>
          <p:cNvSpPr/>
          <p:nvPr/>
        </p:nvSpPr>
        <p:spPr>
          <a:xfrm>
            <a:off x="6903720" y="1005840"/>
            <a:ext cx="1783080" cy="1554480"/>
          </a:xfrm>
          <a:prstGeom prst="roundRect">
            <a:avLst>
              <a:gd name="adj" fmla="val 4706"/>
            </a:avLst>
          </a:prstGeom>
          <a:solidFill>
            <a:schemeClr val="bg2"/>
          </a:solidFill>
          <a:ln/>
        </p:spPr>
      </p:sp>
      <p:sp>
        <p:nvSpPr>
          <p:cNvPr id="17" name="BB dot 2"/>
          <p:cNvSpPr/>
          <p:nvPr/>
        </p:nvSpPr>
        <p:spPr>
          <a:xfrm>
            <a:off x="7040880" y="1143000"/>
            <a:ext cx="256032" cy="256032"/>
          </a:xfrm>
          <a:prstGeom prst="ellipse">
            <a:avLst/>
          </a:prstGeom>
          <a:solidFill>
            <a:schemeClr val="accent2"/>
          </a:solidFill>
          <a:ln/>
        </p:spPr>
      </p:sp>
      <p:sp>
        <p:nvSpPr>
          <p:cNvPr id="18" name="Text 16"/>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Búsqueda de marca</a:t>
            </a:r>
            <a:endParaRPr lang="en-US" sz="1200" dirty="0"/>
          </a:p>
        </p:txBody>
      </p:sp>
      <p:sp>
        <p:nvSpPr>
          <p:cNvPr id="19" name="Text 17"/>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La línea más rentable de Google, con un retorno cercano a 3x</a:t>
            </a:r>
            <a:endParaRPr lang="en-US" sz="1100" dirty="0"/>
          </a:p>
        </p:txBody>
      </p:sp>
      <p:sp>
        <p:nvSpPr>
          <p:cNvPr id="20" name="BB card 3"/>
          <p:cNvSpPr/>
          <p:nvPr/>
        </p:nvSpPr>
        <p:spPr>
          <a:xfrm>
            <a:off x="5029200" y="2697480"/>
            <a:ext cx="1783080" cy="1554480"/>
          </a:xfrm>
          <a:prstGeom prst="roundRect">
            <a:avLst>
              <a:gd name="adj" fmla="val 4706"/>
            </a:avLst>
          </a:prstGeom>
          <a:solidFill>
            <a:schemeClr val="bg2"/>
          </a:solidFill>
          <a:ln/>
        </p:spPr>
      </p:sp>
      <p:sp>
        <p:nvSpPr>
          <p:cNvPr id="21" name="BB dot 3"/>
          <p:cNvSpPr/>
          <p:nvPr/>
        </p:nvSpPr>
        <p:spPr>
          <a:xfrm>
            <a:off x="5166360" y="2834640"/>
            <a:ext cx="256032" cy="256032"/>
          </a:xfrm>
          <a:prstGeom prst="ellipse">
            <a:avLst/>
          </a:prstGeom>
          <a:solidFill>
            <a:schemeClr val="accent2"/>
          </a:solidFill>
          <a:ln/>
        </p:spPr>
      </p:sp>
      <p:sp>
        <p:nvSpPr>
          <p:cNvPr id="22" name="Text 20"/>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Retargeting dinámico</a:t>
            </a:r>
            <a:endParaRPr lang="en-US" sz="1200" dirty="0"/>
          </a:p>
        </p:txBody>
      </p:sp>
      <p:sp>
        <p:nvSpPr>
          <p:cNvPr id="23" name="Text 21"/>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Retorno de 3,1x en Meta antes de la reestructura del 10 oct</a:t>
            </a:r>
            <a:endParaRPr lang="en-US" sz="1100" dirty="0"/>
          </a:p>
        </p:txBody>
      </p:sp>
      <p:sp>
        <p:nvSpPr>
          <p:cNvPr id="24" name="BB card 4"/>
          <p:cNvSpPr/>
          <p:nvPr/>
        </p:nvSpPr>
        <p:spPr>
          <a:xfrm>
            <a:off x="6903720" y="2697480"/>
            <a:ext cx="1783080" cy="1554480"/>
          </a:xfrm>
          <a:prstGeom prst="roundRect">
            <a:avLst>
              <a:gd name="adj" fmla="val 4706"/>
            </a:avLst>
          </a:prstGeom>
          <a:solidFill>
            <a:schemeClr val="bg2"/>
          </a:solidFill>
          <a:ln/>
        </p:spPr>
      </p:sp>
      <p:sp>
        <p:nvSpPr>
          <p:cNvPr id="25" name="BB dot 4"/>
          <p:cNvSpPr/>
          <p:nvPr/>
        </p:nvSpPr>
        <p:spPr>
          <a:xfrm>
            <a:off x="7040880" y="2834640"/>
            <a:ext cx="256032" cy="256032"/>
          </a:xfrm>
          <a:prstGeom prst="ellipse">
            <a:avLst/>
          </a:prstGeom>
          <a:solidFill>
            <a:schemeClr val="accent2"/>
          </a:solidFill>
          <a:ln/>
        </p:spPr>
      </p:sp>
      <p:sp>
        <p:nvSpPr>
          <p:cNvPr id="26" name="Text 24"/>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Bienvenida renovada</a:t>
            </a:r>
            <a:endParaRPr lang="en-US" sz="1200" dirty="0"/>
          </a:p>
        </p:txBody>
      </p:sp>
      <p:sp>
        <p:nvSpPr>
          <p:cNvPr id="27" name="Text 25"/>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Welcome BARK15 activa desde el 6 oct; SMS Welcome en camino</a:t>
            </a:r>
            <a:endParaRPr lang="en-US" sz="1100" dirty="0"/>
          </a:p>
        </p:txBody>
      </p:sp>
      <p:sp>
        <p:nvSpPr>
          <p:cNvPr id="28" name="Text 26"/>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dashboard de la tienda (1 ene – 13 oct 2026), Klaviyo, Google Ads (retorno de marca estimado) y Meta Ads Manager.</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Beg &amp; Barker: clientes nuevos y Amazon</a:t>
            </a:r>
            <a:endParaRPr lang="en-US" sz="2600" dirty="0"/>
          </a:p>
        </p:txBody>
      </p:sp>
      <p:sp>
        <p:nvSpPr>
          <p:cNvPr id="3" name="BB now panel"/>
          <p:cNvSpPr/>
          <p:nvPr/>
        </p:nvSpPr>
        <p:spPr>
          <a:xfrm>
            <a:off x="457200" y="1005840"/>
            <a:ext cx="4023360" cy="3383280"/>
          </a:xfrm>
          <a:prstGeom prst="roundRect">
            <a:avLst>
              <a:gd name="adj" fmla="val 2162"/>
            </a:avLst>
          </a:prstGeom>
          <a:solidFill>
            <a:schemeClr val="bg2"/>
          </a:solidFill>
          <a:ln/>
        </p:spPr>
      </p:sp>
      <p:sp>
        <p:nvSpPr>
          <p:cNvPr id="4" name="BB next panel"/>
          <p:cNvSpPr/>
          <p:nvPr/>
        </p:nvSpPr>
        <p:spPr>
          <a:xfrm>
            <a:off x="4663440" y="1005840"/>
            <a:ext cx="4023360" cy="3383280"/>
          </a:xfrm>
          <a:prstGeom prst="roundRect">
            <a:avLst>
              <a:gd name="adj" fmla="val 2162"/>
            </a:avLst>
          </a:prstGeom>
          <a:solidFill>
            <a:schemeClr val="tx1"/>
          </a:solidFill>
          <a:ln/>
        </p:spPr>
      </p:sp>
      <p:sp>
        <p:nvSpPr>
          <p:cNvPr id="5" name="Text 3"/>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700" b="1" dirty="0">
                <a:solidFill>
                  <a:schemeClr val="accent1"/>
                </a:solidFill>
                <a:latin typeface="Cambria" pitchFamily="34" charset="0"/>
                <a:ea typeface="Cambria" pitchFamily="34" charset="-122"/>
                <a:cs typeface="Cambria" pitchFamily="34" charset="-120"/>
              </a:rPr>
              <a:t>Dónde estamos</a:t>
            </a:r>
            <a:endParaRPr lang="en-US" sz="1700" dirty="0"/>
          </a:p>
        </p:txBody>
      </p:sp>
      <p:sp>
        <p:nvSpPr>
          <p:cNvPr id="6" name="Text 4"/>
          <p:cNvSpPr txBox="1"/>
          <p:nvPr/>
        </p:nvSpPr>
        <p:spPr>
          <a:xfrm>
            <a:off x="4892040" y="1188720"/>
            <a:ext cx="3566160" cy="365760"/>
          </a:xfrm>
          <a:prstGeom prst="rect">
            <a:avLst/>
          </a:prstGeom>
          <a:noFill/>
          <a:ln/>
        </p:spPr>
        <p:txBody>
          <a:bodyPr wrap="square" lIns="0" tIns="0" rIns="0" bIns="0" rtlCol="0" anchor="ctr"/>
          <a:lstStyle/>
          <a:p>
            <a:pPr indent="0" marL="0">
              <a:buNone/>
            </a:pPr>
            <a:r>
              <a:rPr lang="en-US" sz="1700" b="1" dirty="0">
                <a:solidFill>
                  <a:schemeClr val="accent6"/>
                </a:solidFill>
                <a:latin typeface="Cambria" pitchFamily="34" charset="0"/>
                <a:ea typeface="Cambria" pitchFamily="34" charset="-122"/>
                <a:cs typeface="Cambria" pitchFamily="34" charset="-120"/>
              </a:rPr>
              <a:t>Hacia dónde vamos</a:t>
            </a:r>
            <a:endParaRPr lang="en-US" sz="1700" dirty="0"/>
          </a:p>
        </p:txBody>
      </p:sp>
      <p:sp>
        <p:nvSpPr>
          <p:cNvPr id="7" name="Text 5"/>
          <p:cNvSpPr txBox="1"/>
          <p:nvPr/>
        </p:nvSpPr>
        <p:spPr>
          <a:xfrm>
            <a:off x="68580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Ventas 35% por debajo del mes pasado</a:t>
            </a:r>
            <a:endParaRPr lang="en-US" sz="1300" dirty="0"/>
          </a:p>
          <a:p>
            <a:pPr marL="342900" indent="-342900">
              <a:spcAft>
                <a:spcPts val="800"/>
              </a:spcAft>
              <a:buSzPct val="100000"/>
              <a:buChar char="•"/>
            </a:pPr>
            <a:r>
              <a:rPr lang="en-US" sz="1300" dirty="0">
                <a:solidFill>
                  <a:schemeClr val="tx1"/>
                </a:solidFill>
              </a:rPr>
              <a:t>La eficiencia es buena, pero con una inversión baja</a:t>
            </a:r>
            <a:endParaRPr lang="en-US" sz="1300" dirty="0"/>
          </a:p>
          <a:p>
            <a:pPr marL="342900" indent="-342900">
              <a:spcAft>
                <a:spcPts val="800"/>
              </a:spcAft>
              <a:buSzPct val="100000"/>
              <a:buChar char="•"/>
            </a:pPr>
            <a:r>
              <a:rPr lang="en-US" sz="1300" dirty="0">
                <a:solidFill>
                  <a:schemeClr val="tx1"/>
                </a:solidFill>
              </a:rPr>
              <a:t>En búsqueda es muy difícil competir</a:t>
            </a:r>
            <a:endParaRPr lang="en-US" sz="1300" dirty="0"/>
          </a:p>
          <a:p>
            <a:pPr marL="342900" indent="-342900">
              <a:spcAft>
                <a:spcPts val="800"/>
              </a:spcAft>
              <a:buSzPct val="100000"/>
              <a:buChar char="•"/>
            </a:pPr>
            <a:r>
              <a:rPr lang="en-US" sz="1300" dirty="0">
                <a:solidFill>
                  <a:schemeClr val="tx1"/>
                </a:solidFill>
              </a:rPr>
              <a:t>Meta pesa el doble que Google ($1.019 vs. $507) con bajo retorno</a:t>
            </a:r>
            <a:endParaRPr lang="en-US" sz="1300" dirty="0"/>
          </a:p>
        </p:txBody>
      </p:sp>
      <p:sp>
        <p:nvSpPr>
          <p:cNvPr id="8" name="Text 6"/>
          <p:cNvSpPr txBox="1"/>
          <p:nvPr/>
        </p:nvSpPr>
        <p:spPr>
          <a:xfrm>
            <a:off x="489204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Campañas de clientes nuevos con promo, no de marca</a:t>
            </a:r>
            <a:endParaRPr lang="en-US" sz="1300" dirty="0"/>
          </a:p>
          <a:p>
            <a:pPr marL="342900" indent="-342900">
              <a:spcAft>
                <a:spcPts val="800"/>
              </a:spcAft>
              <a:buSzPct val="100000"/>
              <a:buChar char="•"/>
            </a:pPr>
            <a:r>
              <a:rPr lang="en-US" sz="1300" dirty="0">
                <a:solidFill>
                  <a:schemeClr val="bg1"/>
                </a:solidFill>
              </a:rPr>
              <a:t>Llevar la pauta hacia Amazon y medir cuánto contribuye</a:t>
            </a:r>
            <a:endParaRPr lang="en-US" sz="1300" dirty="0"/>
          </a:p>
          <a:p>
            <a:pPr marL="342900" indent="-342900">
              <a:spcAft>
                <a:spcPts val="800"/>
              </a:spcAft>
              <a:buSzPct val="100000"/>
              <a:buChar char="•"/>
            </a:pPr>
            <a:r>
              <a:rPr lang="en-US" sz="1300" dirty="0">
                <a:solidFill>
                  <a:schemeClr val="bg1"/>
                </a:solidFill>
              </a:rPr>
              <a:t>Branding con página completa que lleva directo a Amazon, más catálogo y retargeting</a:t>
            </a:r>
            <a:endParaRPr lang="en-US" sz="1300" dirty="0"/>
          </a:p>
          <a:p>
            <a:pPr marL="342900" indent="-342900">
              <a:spcAft>
                <a:spcPts val="800"/>
              </a:spcAft>
              <a:buSzPct val="100000"/>
              <a:buChar char="•"/>
            </a:pPr>
            <a:r>
              <a:rPr lang="en-US" sz="1300" dirty="0">
                <a:solidFill>
                  <a:schemeClr val="bg1"/>
                </a:solidFill>
              </a:rPr>
              <a:t>Bajar el presupuesto de Meta y monitorear su retorno indirecto</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Ayoba: ticket alto y una operación rentable</a:t>
            </a:r>
            <a:endParaRPr lang="en-US" sz="2600" dirty="0"/>
          </a:p>
        </p:txBody>
      </p:sp>
      <p:sp>
        <p:nvSpPr>
          <p:cNvPr id="3" name="AY stat 1"/>
          <p:cNvSpPr/>
          <p:nvPr/>
        </p:nvSpPr>
        <p:spPr>
          <a:xfrm>
            <a:off x="457200" y="1005840"/>
            <a:ext cx="4206240" cy="1005840"/>
          </a:xfrm>
          <a:prstGeom prst="roundRect">
            <a:avLst>
              <a:gd name="adj" fmla="val 7273"/>
            </a:avLst>
          </a:prstGeom>
          <a:solidFill>
            <a:schemeClr val="bg2"/>
          </a:solidFill>
          <a:ln/>
        </p:spPr>
      </p:sp>
      <p:sp>
        <p:nvSpPr>
          <p:cNvPr id="4" name="Text 2"/>
          <p:cNvSpPr txBox="1"/>
          <p:nvPr/>
        </p:nvSpPr>
        <p:spPr>
          <a:xfrm>
            <a:off x="640080" y="1097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tx2"/>
                </a:solidFill>
                <a:latin typeface="Cambria" pitchFamily="34" charset="0"/>
                <a:ea typeface="Cambria" pitchFamily="34" charset="-122"/>
                <a:cs typeface="Cambria" pitchFamily="34" charset="-120"/>
              </a:rPr>
              <a:t>$107,8K</a:t>
            </a:r>
            <a:endParaRPr lang="en-US" sz="3000" dirty="0"/>
          </a:p>
        </p:txBody>
      </p:sp>
      <p:sp>
        <p:nvSpPr>
          <p:cNvPr id="5" name="Text 3"/>
          <p:cNvSpPr txBox="1"/>
          <p:nvPr/>
        </p:nvSpPr>
        <p:spPr>
          <a:xfrm>
            <a:off x="2194560" y="1097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en ventas brutas en lo que va del año, con 1.188 órdenes</a:t>
            </a:r>
            <a:endParaRPr lang="en-US" sz="1200" dirty="0"/>
          </a:p>
        </p:txBody>
      </p:sp>
      <p:sp>
        <p:nvSpPr>
          <p:cNvPr id="6" name="AY stat 2"/>
          <p:cNvSpPr/>
          <p:nvPr/>
        </p:nvSpPr>
        <p:spPr>
          <a:xfrm>
            <a:off x="457200" y="2148840"/>
            <a:ext cx="4206240" cy="1005840"/>
          </a:xfrm>
          <a:prstGeom prst="roundRect">
            <a:avLst>
              <a:gd name="adj" fmla="val 7273"/>
            </a:avLst>
          </a:prstGeom>
          <a:solidFill>
            <a:schemeClr val="bg2"/>
          </a:solidFill>
          <a:ln/>
        </p:spPr>
      </p:sp>
      <p:sp>
        <p:nvSpPr>
          <p:cNvPr id="7" name="Text 5"/>
          <p:cNvSpPr txBox="1"/>
          <p:nvPr/>
        </p:nvSpPr>
        <p:spPr>
          <a:xfrm>
            <a:off x="640080" y="2240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2"/>
                </a:solidFill>
                <a:latin typeface="Cambria" pitchFamily="34" charset="0"/>
                <a:ea typeface="Cambria" pitchFamily="34" charset="-122"/>
                <a:cs typeface="Cambria" pitchFamily="34" charset="-120"/>
              </a:rPr>
              <a:t>60%</a:t>
            </a:r>
            <a:endParaRPr lang="en-US" sz="3000" dirty="0"/>
          </a:p>
        </p:txBody>
      </p:sp>
      <p:sp>
        <p:nvSpPr>
          <p:cNvPr id="8" name="Text 6"/>
          <p:cNvSpPr txBox="1"/>
          <p:nvPr/>
        </p:nvSpPr>
        <p:spPr>
          <a:xfrm>
            <a:off x="2194560" y="2240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de margen bruto después del costo de producto: $64,7K de contribución</a:t>
            </a:r>
            <a:endParaRPr lang="en-US" sz="1200" dirty="0"/>
          </a:p>
        </p:txBody>
      </p:sp>
      <p:sp>
        <p:nvSpPr>
          <p:cNvPr id="9" name="AY stat 3"/>
          <p:cNvSpPr/>
          <p:nvPr/>
        </p:nvSpPr>
        <p:spPr>
          <a:xfrm>
            <a:off x="457200" y="3291840"/>
            <a:ext cx="4206240" cy="1005840"/>
          </a:xfrm>
          <a:prstGeom prst="roundRect">
            <a:avLst>
              <a:gd name="adj" fmla="val 7273"/>
            </a:avLst>
          </a:prstGeom>
          <a:solidFill>
            <a:schemeClr val="bg2"/>
          </a:solidFill>
          <a:ln/>
        </p:spPr>
      </p:sp>
      <p:sp>
        <p:nvSpPr>
          <p:cNvPr id="10" name="Text 8"/>
          <p:cNvSpPr txBox="1"/>
          <p:nvPr/>
        </p:nvSpPr>
        <p:spPr>
          <a:xfrm>
            <a:off x="640080" y="3383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1"/>
                </a:solidFill>
                <a:latin typeface="Cambria" pitchFamily="34" charset="0"/>
                <a:ea typeface="Cambria" pitchFamily="34" charset="-122"/>
                <a:cs typeface="Cambria" pitchFamily="34" charset="-120"/>
              </a:rPr>
              <a:t>4,2x</a:t>
            </a:r>
            <a:endParaRPr lang="en-US" sz="3000" dirty="0"/>
          </a:p>
        </p:txBody>
      </p:sp>
      <p:sp>
        <p:nvSpPr>
          <p:cNvPr id="11" name="Text 9"/>
          <p:cNvSpPr txBox="1"/>
          <p:nvPr/>
        </p:nvSpPr>
        <p:spPr>
          <a:xfrm>
            <a:off x="2194560" y="3383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en ventas por cada dólar invertido en medios pagados en el año</a:t>
            </a:r>
            <a:endParaRPr lang="en-US" sz="1200" dirty="0"/>
          </a:p>
        </p:txBody>
      </p:sp>
      <p:sp>
        <p:nvSpPr>
          <p:cNvPr id="12" name="AY card 1"/>
          <p:cNvSpPr/>
          <p:nvPr/>
        </p:nvSpPr>
        <p:spPr>
          <a:xfrm>
            <a:off x="5029200" y="1005840"/>
            <a:ext cx="1783080" cy="1554480"/>
          </a:xfrm>
          <a:prstGeom prst="roundRect">
            <a:avLst>
              <a:gd name="adj" fmla="val 4706"/>
            </a:avLst>
          </a:prstGeom>
          <a:solidFill>
            <a:schemeClr val="bg2"/>
          </a:solidFill>
          <a:ln/>
        </p:spPr>
      </p:sp>
      <p:sp>
        <p:nvSpPr>
          <p:cNvPr id="13" name="AY dot 1"/>
          <p:cNvSpPr/>
          <p:nvPr/>
        </p:nvSpPr>
        <p:spPr>
          <a:xfrm>
            <a:off x="5166360" y="1143000"/>
            <a:ext cx="256032" cy="256032"/>
          </a:xfrm>
          <a:prstGeom prst="ellipse">
            <a:avLst/>
          </a:prstGeom>
          <a:solidFill>
            <a:schemeClr val="accent2"/>
          </a:solidFill>
          <a:ln/>
        </p:spPr>
      </p:sp>
      <p:sp>
        <p:nvSpPr>
          <p:cNvPr id="14" name="Text 12"/>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Ticket más alto</a:t>
            </a:r>
            <a:endParaRPr lang="en-US" sz="1200" dirty="0"/>
          </a:p>
        </p:txBody>
      </p:sp>
      <p:sp>
        <p:nvSpPr>
          <p:cNvPr id="15" name="Text 13"/>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$91 promedio por orden, el más alto del portafolio</a:t>
            </a:r>
            <a:endParaRPr lang="en-US" sz="1100" dirty="0"/>
          </a:p>
        </p:txBody>
      </p:sp>
      <p:sp>
        <p:nvSpPr>
          <p:cNvPr id="16" name="AY card 2"/>
          <p:cNvSpPr/>
          <p:nvPr/>
        </p:nvSpPr>
        <p:spPr>
          <a:xfrm>
            <a:off x="6903720" y="1005840"/>
            <a:ext cx="1783080" cy="1554480"/>
          </a:xfrm>
          <a:prstGeom prst="roundRect">
            <a:avLst>
              <a:gd name="adj" fmla="val 4706"/>
            </a:avLst>
          </a:prstGeom>
          <a:solidFill>
            <a:schemeClr val="bg2"/>
          </a:solidFill>
          <a:ln/>
        </p:spPr>
      </p:sp>
      <p:sp>
        <p:nvSpPr>
          <p:cNvPr id="17" name="AY dot 2"/>
          <p:cNvSpPr/>
          <p:nvPr/>
        </p:nvSpPr>
        <p:spPr>
          <a:xfrm>
            <a:off x="7040880" y="1143000"/>
            <a:ext cx="256032" cy="256032"/>
          </a:xfrm>
          <a:prstGeom prst="ellipse">
            <a:avLst/>
          </a:prstGeom>
          <a:solidFill>
            <a:schemeClr val="accent2"/>
          </a:solidFill>
          <a:ln/>
        </p:spPr>
      </p:sp>
      <p:sp>
        <p:nvSpPr>
          <p:cNvPr id="18" name="Text 16"/>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Clientes nuevos</a:t>
            </a:r>
            <a:endParaRPr lang="en-US" sz="1200" dirty="0"/>
          </a:p>
        </p:txBody>
      </p:sp>
      <p:sp>
        <p:nvSpPr>
          <p:cNvPr id="19" name="Text 17"/>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523 en el año, a unos $49 cada uno</a:t>
            </a:r>
            <a:endParaRPr lang="en-US" sz="1100" dirty="0"/>
          </a:p>
        </p:txBody>
      </p:sp>
      <p:sp>
        <p:nvSpPr>
          <p:cNvPr id="20" name="AY card 3"/>
          <p:cNvSpPr/>
          <p:nvPr/>
        </p:nvSpPr>
        <p:spPr>
          <a:xfrm>
            <a:off x="5029200" y="2697480"/>
            <a:ext cx="1783080" cy="1554480"/>
          </a:xfrm>
          <a:prstGeom prst="roundRect">
            <a:avLst>
              <a:gd name="adj" fmla="val 4706"/>
            </a:avLst>
          </a:prstGeom>
          <a:solidFill>
            <a:schemeClr val="bg2"/>
          </a:solidFill>
          <a:ln/>
        </p:spPr>
      </p:sp>
      <p:sp>
        <p:nvSpPr>
          <p:cNvPr id="21" name="AY dot 3"/>
          <p:cNvSpPr/>
          <p:nvPr/>
        </p:nvSpPr>
        <p:spPr>
          <a:xfrm>
            <a:off x="5166360" y="2834640"/>
            <a:ext cx="256032" cy="256032"/>
          </a:xfrm>
          <a:prstGeom prst="ellipse">
            <a:avLst/>
          </a:prstGeom>
          <a:solidFill>
            <a:schemeClr val="accent2"/>
          </a:solidFill>
          <a:ln/>
        </p:spPr>
      </p:sp>
      <p:sp>
        <p:nvSpPr>
          <p:cNvPr id="22" name="Text 20"/>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Ventas sanas</a:t>
            </a:r>
            <a:endParaRPr lang="en-US" sz="1200" dirty="0"/>
          </a:p>
        </p:txBody>
      </p:sp>
      <p:sp>
        <p:nvSpPr>
          <p:cNvPr id="23" name="Text 21"/>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Descuentos de solo 5,7% y devoluciones de 3,5% sobre ventas</a:t>
            </a:r>
            <a:endParaRPr lang="en-US" sz="1100" dirty="0"/>
          </a:p>
        </p:txBody>
      </p:sp>
      <p:sp>
        <p:nvSpPr>
          <p:cNvPr id="24" name="AY card 4"/>
          <p:cNvSpPr/>
          <p:nvPr/>
        </p:nvSpPr>
        <p:spPr>
          <a:xfrm>
            <a:off x="6903720" y="2697480"/>
            <a:ext cx="1783080" cy="1554480"/>
          </a:xfrm>
          <a:prstGeom prst="roundRect">
            <a:avLst>
              <a:gd name="adj" fmla="val 4706"/>
            </a:avLst>
          </a:prstGeom>
          <a:solidFill>
            <a:schemeClr val="bg2"/>
          </a:solidFill>
          <a:ln/>
        </p:spPr>
      </p:sp>
      <p:sp>
        <p:nvSpPr>
          <p:cNvPr id="25" name="AY dot 4"/>
          <p:cNvSpPr/>
          <p:nvPr/>
        </p:nvSpPr>
        <p:spPr>
          <a:xfrm>
            <a:off x="7040880" y="2834640"/>
            <a:ext cx="256032" cy="256032"/>
          </a:xfrm>
          <a:prstGeom prst="ellipse">
            <a:avLst/>
          </a:prstGeom>
          <a:solidFill>
            <a:schemeClr val="accent2"/>
          </a:solidFill>
          <a:ln/>
        </p:spPr>
      </p:sp>
      <p:sp>
        <p:nvSpPr>
          <p:cNvPr id="26" name="Text 24"/>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Meta en octubre</a:t>
            </a:r>
            <a:endParaRPr lang="en-US" sz="1200" dirty="0"/>
          </a:p>
        </p:txBody>
      </p:sp>
      <p:sp>
        <p:nvSpPr>
          <p:cNvPr id="27" name="Text 25"/>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Clientes nuevos a $26 por compra, la campaña más eficiente del portafolio</a:t>
            </a:r>
            <a:endParaRPr lang="en-US" sz="1100" dirty="0"/>
          </a:p>
        </p:txBody>
      </p:sp>
      <p:sp>
        <p:nvSpPr>
          <p:cNvPr id="28" name="Text 26"/>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dashboard Shopify DTC de Ayoba (1 ene – 13 oct 2026) y Meta Ads Manager (6–13 oct).</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Ayoba: buen tráfico, el foco es Amazon</a:t>
            </a:r>
            <a:endParaRPr lang="en-US" sz="2600" dirty="0"/>
          </a:p>
        </p:txBody>
      </p:sp>
      <p:sp>
        <p:nvSpPr>
          <p:cNvPr id="3" name="AY now panel"/>
          <p:cNvSpPr/>
          <p:nvPr/>
        </p:nvSpPr>
        <p:spPr>
          <a:xfrm>
            <a:off x="457200" y="1005840"/>
            <a:ext cx="4023360" cy="3383280"/>
          </a:xfrm>
          <a:prstGeom prst="roundRect">
            <a:avLst>
              <a:gd name="adj" fmla="val 2162"/>
            </a:avLst>
          </a:prstGeom>
          <a:solidFill>
            <a:schemeClr val="bg2"/>
          </a:solidFill>
          <a:ln/>
        </p:spPr>
      </p:sp>
      <p:sp>
        <p:nvSpPr>
          <p:cNvPr id="4" name="AY next panel"/>
          <p:cNvSpPr/>
          <p:nvPr/>
        </p:nvSpPr>
        <p:spPr>
          <a:xfrm>
            <a:off x="4663440" y="1005840"/>
            <a:ext cx="4023360" cy="3383280"/>
          </a:xfrm>
          <a:prstGeom prst="roundRect">
            <a:avLst>
              <a:gd name="adj" fmla="val 2162"/>
            </a:avLst>
          </a:prstGeom>
          <a:solidFill>
            <a:schemeClr val="tx1"/>
          </a:solidFill>
          <a:ln/>
        </p:spPr>
      </p:sp>
      <p:sp>
        <p:nvSpPr>
          <p:cNvPr id="5" name="Text 3"/>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700" b="1" dirty="0">
                <a:solidFill>
                  <a:schemeClr val="accent1"/>
                </a:solidFill>
                <a:latin typeface="Cambria" pitchFamily="34" charset="0"/>
                <a:ea typeface="Cambria" pitchFamily="34" charset="-122"/>
                <a:cs typeface="Cambria" pitchFamily="34" charset="-120"/>
              </a:rPr>
              <a:t>Dónde estamos</a:t>
            </a:r>
            <a:endParaRPr lang="en-US" sz="1700" dirty="0"/>
          </a:p>
        </p:txBody>
      </p:sp>
      <p:sp>
        <p:nvSpPr>
          <p:cNvPr id="6" name="Text 4"/>
          <p:cNvSpPr txBox="1"/>
          <p:nvPr/>
        </p:nvSpPr>
        <p:spPr>
          <a:xfrm>
            <a:off x="4892040" y="1188720"/>
            <a:ext cx="3566160" cy="365760"/>
          </a:xfrm>
          <a:prstGeom prst="rect">
            <a:avLst/>
          </a:prstGeom>
          <a:noFill/>
          <a:ln/>
        </p:spPr>
        <p:txBody>
          <a:bodyPr wrap="square" lIns="0" tIns="0" rIns="0" bIns="0" rtlCol="0" anchor="ctr"/>
          <a:lstStyle/>
          <a:p>
            <a:pPr indent="0" marL="0">
              <a:buNone/>
            </a:pPr>
            <a:r>
              <a:rPr lang="en-US" sz="1700" b="1" dirty="0">
                <a:solidFill>
                  <a:schemeClr val="accent6"/>
                </a:solidFill>
                <a:latin typeface="Cambria" pitchFamily="34" charset="0"/>
                <a:ea typeface="Cambria" pitchFamily="34" charset="-122"/>
                <a:cs typeface="Cambria" pitchFamily="34" charset="-120"/>
              </a:rPr>
              <a:t>Hacia dónde vamos</a:t>
            </a:r>
            <a:endParaRPr lang="en-US" sz="1700" dirty="0"/>
          </a:p>
        </p:txBody>
      </p:sp>
      <p:sp>
        <p:nvSpPr>
          <p:cNvPr id="7" name="Text 5"/>
          <p:cNvSpPr txBox="1"/>
          <p:nvPr/>
        </p:nvSpPr>
        <p:spPr>
          <a:xfrm>
            <a:off x="68580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Vende muy poco en la web</a:t>
            </a:r>
            <a:endParaRPr lang="en-US" sz="1300" dirty="0"/>
          </a:p>
          <a:p>
            <a:pPr marL="342900" indent="-342900">
              <a:spcAft>
                <a:spcPts val="800"/>
              </a:spcAft>
              <a:buSzPct val="100000"/>
              <a:buChar char="•"/>
            </a:pPr>
            <a:r>
              <a:rPr lang="en-US" sz="1300" dirty="0">
                <a:solidFill>
                  <a:schemeClr val="tx1"/>
                </a:solidFill>
              </a:rPr>
              <a:t>El tráfico que llega es bueno, pero la experiencia de compra frena la conversión</a:t>
            </a:r>
            <a:endParaRPr lang="en-US" sz="1300" dirty="0"/>
          </a:p>
          <a:p>
            <a:pPr marL="342900" indent="-342900">
              <a:spcAft>
                <a:spcPts val="800"/>
              </a:spcAft>
              <a:buSzPct val="100000"/>
              <a:buChar char="•"/>
            </a:pPr>
            <a:r>
              <a:rPr lang="en-US" sz="1300" dirty="0">
                <a:solidFill>
                  <a:schemeClr val="tx1"/>
                </a:solidFill>
              </a:rPr>
              <a:t>Octubre: $3,1K en ventas con un retorno blended de 3,6x</a:t>
            </a:r>
            <a:endParaRPr lang="en-US" sz="1300" dirty="0"/>
          </a:p>
          <a:p>
            <a:pPr marL="342900" indent="-342900">
              <a:spcAft>
                <a:spcPts val="800"/>
              </a:spcAft>
              <a:buSzPct val="100000"/>
              <a:buChar char="•"/>
            </a:pPr>
            <a:r>
              <a:rPr lang="en-US" sz="1300" dirty="0">
                <a:solidFill>
                  <a:schemeClr val="tx1"/>
                </a:solidFill>
              </a:rPr>
              <a:t>58% de los clientes son recurrentes: el reto es el volumen de nuevos</a:t>
            </a:r>
            <a:endParaRPr lang="en-US" sz="1300" dirty="0"/>
          </a:p>
        </p:txBody>
      </p:sp>
      <p:sp>
        <p:nvSpPr>
          <p:cNvPr id="8" name="Text 6"/>
          <p:cNvSpPr txBox="1"/>
          <p:nvPr/>
        </p:nvSpPr>
        <p:spPr>
          <a:xfrm>
            <a:off x="489204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Test A/B: campaña de marca hacia Amazon para medir el resultado</a:t>
            </a:r>
            <a:endParaRPr lang="en-US" sz="1300" dirty="0"/>
          </a:p>
          <a:p>
            <a:pPr marL="342900" indent="-342900">
              <a:spcAft>
                <a:spcPts val="800"/>
              </a:spcAft>
              <a:buSzPct val="100000"/>
              <a:buChar char="•"/>
            </a:pPr>
            <a:r>
              <a:rPr lang="en-US" sz="1300" dirty="0">
                <a:solidFill>
                  <a:schemeClr val="bg1"/>
                </a:solidFill>
              </a:rPr>
              <a:t>Objetivo: sumar 10% a las ventas de Amazon (si vende $10K, +$1K)</a:t>
            </a:r>
            <a:endParaRPr lang="en-US" sz="1300" dirty="0"/>
          </a:p>
          <a:p>
            <a:pPr marL="342900" indent="-342900">
              <a:spcAft>
                <a:spcPts val="800"/>
              </a:spcAft>
              <a:buSzPct val="100000"/>
              <a:buChar char="•"/>
            </a:pPr>
            <a:r>
              <a:rPr lang="en-US" sz="1300" dirty="0">
                <a:solidFill>
                  <a:schemeClr val="bg1"/>
                </a:solidFill>
              </a:rPr>
              <a:t>Pauta web baja y optimizada por performance</a:t>
            </a:r>
            <a:endParaRPr lang="en-US" sz="1300" dirty="0"/>
          </a:p>
          <a:p>
            <a:pPr marL="342900" indent="-342900">
              <a:spcAft>
                <a:spcPts val="800"/>
              </a:spcAft>
              <a:buSzPct val="100000"/>
              <a:buChar char="•"/>
            </a:pPr>
            <a:r>
              <a:rPr lang="en-US" sz="1300" dirty="0">
                <a:solidFill>
                  <a:schemeClr val="bg1"/>
                </a:solidFill>
              </a:rPr>
              <a:t>Replicar la estrategia de Brooklyn: suscripción y recurrencia</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Lo que haremos esta semana</a:t>
            </a:r>
            <a:endParaRPr lang="en-US" sz="2600" dirty="0"/>
          </a:p>
        </p:txBody>
      </p:sp>
      <p:sp>
        <p:nvSpPr>
          <p:cNvPr id="3" name="Plan card 1"/>
          <p:cNvSpPr/>
          <p:nvPr/>
        </p:nvSpPr>
        <p:spPr>
          <a:xfrm>
            <a:off x="457200" y="1005840"/>
            <a:ext cx="2651760" cy="2377440"/>
          </a:xfrm>
          <a:prstGeom prst="roundRect">
            <a:avLst>
              <a:gd name="adj" fmla="val 3077"/>
            </a:avLst>
          </a:prstGeom>
          <a:solidFill>
            <a:schemeClr val="bg2"/>
          </a:solidFill>
          <a:ln/>
        </p:spPr>
      </p:sp>
      <p:sp>
        <p:nvSpPr>
          <p:cNvPr id="4" name="Plan dot 1"/>
          <p:cNvSpPr/>
          <p:nvPr/>
        </p:nvSpPr>
        <p:spPr>
          <a:xfrm>
            <a:off x="640080" y="1188720"/>
            <a:ext cx="274320" cy="274320"/>
          </a:xfrm>
          <a:prstGeom prst="ellipse">
            <a:avLst/>
          </a:prstGeom>
          <a:solidFill>
            <a:schemeClr val="accent1"/>
          </a:solidFill>
          <a:ln/>
        </p:spPr>
      </p:sp>
      <p:sp>
        <p:nvSpPr>
          <p:cNvPr id="5" name="Text 3"/>
          <p:cNvSpPr txBox="1"/>
          <p:nvPr/>
        </p:nvSpPr>
        <p:spPr>
          <a:xfrm>
            <a:off x="100584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Brooklyn Biltong</a:t>
            </a:r>
            <a:endParaRPr lang="en-US" sz="1500" dirty="0"/>
          </a:p>
        </p:txBody>
      </p:sp>
      <p:sp>
        <p:nvSpPr>
          <p:cNvPr id="6" name="Text 4"/>
          <p:cNvSpPr txBox="1"/>
          <p:nvPr/>
        </p:nvSpPr>
        <p:spPr>
          <a:xfrm>
            <a:off x="64008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Fast Sale: VIP 20% y lista 15% (15 oct), recordatorio el 16 y cierre el 18</a:t>
            </a:r>
            <a:endParaRPr lang="en-US" sz="1100" dirty="0"/>
          </a:p>
          <a:p>
            <a:pPr marL="342900" indent="-342900">
              <a:spcAft>
                <a:spcPts val="500"/>
              </a:spcAft>
              <a:buSzPct val="100000"/>
              <a:buChar char="•"/>
            </a:pPr>
            <a:r>
              <a:rPr lang="en-US" sz="1100" dirty="0">
                <a:solidFill>
                  <a:schemeClr val="tx1"/>
                </a:solidFill>
              </a:rPr>
              <a:t>Nuevos flujos y campañas hipersegmentadas desde esta semana</a:t>
            </a:r>
            <a:endParaRPr lang="en-US" sz="1100" dirty="0"/>
          </a:p>
          <a:p>
            <a:pPr marL="342900" indent="-342900">
              <a:spcAft>
                <a:spcPts val="500"/>
              </a:spcAft>
              <a:buSzPct val="100000"/>
              <a:buChar char="•"/>
            </a:pPr>
            <a:r>
              <a:rPr lang="en-US" sz="1100" dirty="0">
                <a:solidFill>
                  <a:schemeClr val="tx1"/>
                </a:solidFill>
              </a:rPr>
              <a:t>Crecer en ventas escalando retargeting y Smile</a:t>
            </a:r>
            <a:endParaRPr lang="en-US" sz="1100" dirty="0"/>
          </a:p>
        </p:txBody>
      </p:sp>
      <p:sp>
        <p:nvSpPr>
          <p:cNvPr id="7" name="Plan card 2"/>
          <p:cNvSpPr/>
          <p:nvPr/>
        </p:nvSpPr>
        <p:spPr>
          <a:xfrm>
            <a:off x="3246120" y="1005840"/>
            <a:ext cx="2651760" cy="2377440"/>
          </a:xfrm>
          <a:prstGeom prst="roundRect">
            <a:avLst>
              <a:gd name="adj" fmla="val 3077"/>
            </a:avLst>
          </a:prstGeom>
          <a:solidFill>
            <a:schemeClr val="bg2"/>
          </a:solidFill>
          <a:ln/>
        </p:spPr>
      </p:sp>
      <p:sp>
        <p:nvSpPr>
          <p:cNvPr id="8" name="Plan dot 2"/>
          <p:cNvSpPr/>
          <p:nvPr/>
        </p:nvSpPr>
        <p:spPr>
          <a:xfrm>
            <a:off x="3429000" y="1188720"/>
            <a:ext cx="274320" cy="274320"/>
          </a:xfrm>
          <a:prstGeom prst="ellipse">
            <a:avLst/>
          </a:prstGeom>
          <a:solidFill>
            <a:schemeClr val="tx2"/>
          </a:solidFill>
          <a:ln/>
        </p:spPr>
      </p:sp>
      <p:sp>
        <p:nvSpPr>
          <p:cNvPr id="9" name="Text 7"/>
          <p:cNvSpPr txBox="1"/>
          <p:nvPr/>
        </p:nvSpPr>
        <p:spPr>
          <a:xfrm>
            <a:off x="379476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Beg &amp; Barker</a:t>
            </a:r>
            <a:endParaRPr lang="en-US" sz="1500" dirty="0"/>
          </a:p>
        </p:txBody>
      </p:sp>
      <p:sp>
        <p:nvSpPr>
          <p:cNvPr id="10" name="Text 8"/>
          <p:cNvSpPr txBox="1"/>
          <p:nvPr/>
        </p:nvSpPr>
        <p:spPr>
          <a:xfrm>
            <a:off x="342900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Campañas de clientes nuevos con promo</a:t>
            </a:r>
            <a:endParaRPr lang="en-US" sz="1100" dirty="0"/>
          </a:p>
          <a:p>
            <a:pPr marL="342900" indent="-342900">
              <a:spcAft>
                <a:spcPts val="500"/>
              </a:spcAft>
              <a:buSzPct val="100000"/>
              <a:buChar char="•"/>
            </a:pPr>
            <a:r>
              <a:rPr lang="en-US" sz="1100" dirty="0">
                <a:solidFill>
                  <a:schemeClr val="tx1"/>
                </a:solidFill>
              </a:rPr>
              <a:t>Pauta hacia Amazon: página completa, catálogo y retargeting</a:t>
            </a:r>
            <a:endParaRPr lang="en-US" sz="1100" dirty="0"/>
          </a:p>
          <a:p>
            <a:pPr marL="342900" indent="-342900">
              <a:spcAft>
                <a:spcPts val="500"/>
              </a:spcAft>
              <a:buSzPct val="100000"/>
              <a:buChar char="•"/>
            </a:pPr>
            <a:r>
              <a:rPr lang="en-US" sz="1100" dirty="0">
                <a:solidFill>
                  <a:schemeClr val="tx1"/>
                </a:solidFill>
              </a:rPr>
              <a:t>Bajar Meta y monitorear su retorno indirecto</a:t>
            </a:r>
            <a:endParaRPr lang="en-US" sz="1100" dirty="0"/>
          </a:p>
        </p:txBody>
      </p:sp>
      <p:sp>
        <p:nvSpPr>
          <p:cNvPr id="11" name="Plan card 3"/>
          <p:cNvSpPr/>
          <p:nvPr/>
        </p:nvSpPr>
        <p:spPr>
          <a:xfrm>
            <a:off x="6035040" y="1005840"/>
            <a:ext cx="2651760" cy="2377440"/>
          </a:xfrm>
          <a:prstGeom prst="roundRect">
            <a:avLst>
              <a:gd name="adj" fmla="val 3077"/>
            </a:avLst>
          </a:prstGeom>
          <a:solidFill>
            <a:schemeClr val="bg2"/>
          </a:solidFill>
          <a:ln/>
        </p:spPr>
      </p:sp>
      <p:sp>
        <p:nvSpPr>
          <p:cNvPr id="12" name="Plan dot 3"/>
          <p:cNvSpPr/>
          <p:nvPr/>
        </p:nvSpPr>
        <p:spPr>
          <a:xfrm>
            <a:off x="6217920" y="1188720"/>
            <a:ext cx="274320" cy="274320"/>
          </a:xfrm>
          <a:prstGeom prst="ellipse">
            <a:avLst/>
          </a:prstGeom>
          <a:solidFill>
            <a:schemeClr val="tx2"/>
          </a:solidFill>
          <a:ln/>
        </p:spPr>
      </p:sp>
      <p:sp>
        <p:nvSpPr>
          <p:cNvPr id="13" name="Text 11"/>
          <p:cNvSpPr txBox="1"/>
          <p:nvPr/>
        </p:nvSpPr>
        <p:spPr>
          <a:xfrm>
            <a:off x="658368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Ayoba Foods</a:t>
            </a:r>
            <a:endParaRPr lang="en-US" sz="1500" dirty="0"/>
          </a:p>
        </p:txBody>
      </p:sp>
      <p:sp>
        <p:nvSpPr>
          <p:cNvPr id="14" name="Text 12"/>
          <p:cNvSpPr txBox="1"/>
          <p:nvPr/>
        </p:nvSpPr>
        <p:spPr>
          <a:xfrm>
            <a:off x="621792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Test A/B de campaña de marca hacia Amazon (+10%)</a:t>
            </a:r>
            <a:endParaRPr lang="en-US" sz="1100" dirty="0"/>
          </a:p>
          <a:p>
            <a:pPr marL="342900" indent="-342900">
              <a:spcAft>
                <a:spcPts val="500"/>
              </a:spcAft>
              <a:buSzPct val="100000"/>
              <a:buChar char="•"/>
            </a:pPr>
            <a:r>
              <a:rPr lang="en-US" sz="1100" dirty="0">
                <a:solidFill>
                  <a:schemeClr val="tx1"/>
                </a:solidFill>
              </a:rPr>
              <a:t>Replicar la estrategia de suscripción de Brooklyn</a:t>
            </a:r>
            <a:endParaRPr lang="en-US" sz="1100" dirty="0"/>
          </a:p>
          <a:p>
            <a:pPr marL="342900" indent="-342900">
              <a:spcAft>
                <a:spcPts val="500"/>
              </a:spcAft>
              <a:buSzPct val="100000"/>
              <a:buChar char="•"/>
            </a:pPr>
            <a:r>
              <a:rPr lang="en-US" sz="1100" dirty="0">
                <a:solidFill>
                  <a:schemeClr val="tx1"/>
                </a:solidFill>
              </a:rPr>
              <a:t>Campañas: Taco Night, Oktoberfest y Cabin Weekend</a:t>
            </a:r>
            <a:endParaRPr lang="en-US" sz="1100" dirty="0"/>
          </a:p>
        </p:txBody>
      </p:sp>
      <p:sp>
        <p:nvSpPr>
          <p:cNvPr id="15" name="Follow-up panel"/>
          <p:cNvSpPr/>
          <p:nvPr/>
        </p:nvSpPr>
        <p:spPr>
          <a:xfrm>
            <a:off x="457200" y="3566160"/>
            <a:ext cx="8229600" cy="960120"/>
          </a:xfrm>
          <a:prstGeom prst="roundRect">
            <a:avLst>
              <a:gd name="adj" fmla="val 7619"/>
            </a:avLst>
          </a:prstGeom>
          <a:solidFill>
            <a:schemeClr val="tx1"/>
          </a:solidFill>
          <a:ln/>
        </p:spPr>
      </p:sp>
      <p:sp>
        <p:nvSpPr>
          <p:cNvPr id="16" name="Text 14"/>
          <p:cNvSpPr txBox="1"/>
          <p:nvPr/>
        </p:nvSpPr>
        <p:spPr>
          <a:xfrm>
            <a:off x="685800" y="3657600"/>
            <a:ext cx="7772400" cy="320040"/>
          </a:xfrm>
          <a:prstGeom prst="rect">
            <a:avLst/>
          </a:prstGeom>
          <a:noFill/>
          <a:ln/>
        </p:spPr>
        <p:txBody>
          <a:bodyPr wrap="square" lIns="0" tIns="0" rIns="0" bIns="0" rtlCol="0" anchor="ctr"/>
          <a:lstStyle/>
          <a:p>
            <a:pPr indent="0" marL="0">
              <a:buNone/>
            </a:pPr>
            <a:r>
              <a:rPr lang="en-US" sz="1500" b="1" dirty="0">
                <a:solidFill>
                  <a:schemeClr val="bg1"/>
                </a:solidFill>
                <a:latin typeface="Cambria" pitchFamily="34" charset="0"/>
                <a:ea typeface="Cambria" pitchFamily="34" charset="-122"/>
                <a:cs typeface="Cambria" pitchFamily="34" charset="-120"/>
              </a:rPr>
              <a:t>Próximo seguimiento: 21 de octubre</a:t>
            </a:r>
            <a:endParaRPr lang="en-US" sz="1500" dirty="0"/>
          </a:p>
        </p:txBody>
      </p:sp>
      <p:sp>
        <p:nvSpPr>
          <p:cNvPr id="17" name="Text 15"/>
          <p:cNvSpPr txBox="1"/>
          <p:nvPr/>
        </p:nvSpPr>
        <p:spPr>
          <a:xfrm>
            <a:off x="685800" y="3995928"/>
            <a:ext cx="7772400" cy="457200"/>
          </a:xfrm>
          <a:prstGeom prst="rect">
            <a:avLst/>
          </a:prstGeom>
          <a:noFill/>
          <a:ln/>
        </p:spPr>
        <p:txBody>
          <a:bodyPr wrap="square" lIns="0" tIns="0" rIns="0" bIns="0" rtlCol="0" anchor="t"/>
          <a:lstStyle/>
          <a:p>
            <a:pPr indent="0" marL="0">
              <a:buNone/>
            </a:pPr>
            <a:r>
              <a:rPr lang="en-US" sz="1200" dirty="0">
                <a:solidFill>
                  <a:schemeClr val="accent6"/>
                </a:solidFill>
              </a:rPr>
              <a:t>Le compartiremos los resultados del Fast Sale de Brooklyn y la primera lectura de los tests hacia Amazon en Beg &amp; Barker y Ayoba.</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Lo comprometido el 9 de octubre: estado por marca</a:t>
            </a:r>
            <a:endParaRPr lang="en-US" sz="2600" dirty="0"/>
          </a:p>
        </p:txBody>
      </p:sp>
      <p:graphicFrame>
        <p:nvGraphicFramePr>
          <p:cNvPr id="13" name="Commitment tracker"/>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960120"/>
                <a:gridCol w="2240280"/>
                <a:gridCol w="777240"/>
                <a:gridCol w="42519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Marca</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Compromiso</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Estado</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Dónde está hoy</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Campaña de clientes nuevos en Meta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Activa desde el 5 oct. El 13 oct bajamos su presupuesto ($1.000 → $800) por costo por compra alto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Test A/B Oferta vs. Sin oferta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Cerrado el 6 oct; el 7 oct salieron los conjuntos de clientes nuevos con 10% de descuento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Programa Smile / W10</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Públicos de lista y similares activos en Meta; $210 invertidos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Game Day por email y SMS (11 oct)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Enviado a 6.770 correos y 308 SMS: 7 órdenes, $585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Fast Sale VIP 20% / lista 15%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En curso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C98418"/>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6 envíos armados: lanzamiento 15 oct, recordatorio 16 oct, último llamado 18 oct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Flujo Recurrente → Suscripción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En montaje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C7B70"/>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Construido y en pruebas; aún no está activo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Ayoba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Clientes nuevos + Smile10 en Meta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3 compras a $26 c/u: el costo por compra más bajo del portafolio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Beg &amp; Barker</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Clientes nuevos + nueva Welcome BARK15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Campaña activa desde el 7 oct (presupuesto $200 → $300); Welcome activa desde el 6 oct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Las 3 marcas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Retargeting dinámico (adicional)</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10 oct: anuncios de catálogo a quienes vieron o agregaron al carrito en 90 días, sin compradores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bl>
          </a:graphicData>
        </a:graphic>
      </p:graphicFrame>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Meta: más volumen, eficiencia todavía en construcción</a:t>
            </a:r>
            <a:endParaRPr lang="en-US" sz="2600" dirty="0"/>
          </a:p>
        </p:txBody>
      </p:sp>
      <p:graphicFrame>
        <p:nvGraphicFramePr>
          <p:cNvPr id="3" name="Purchases chart" descr=""/>
          <p:cNvGraphicFramePr/>
          <p:nvPr/>
        </p:nvGraphicFramePr>
        <p:xfrm>
          <a:off x="457200" y="960120"/>
          <a:ext cx="420624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937760" y="1005840"/>
            <a:ext cx="3749040" cy="320040"/>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Lo que funciona</a:t>
            </a:r>
            <a:endParaRPr lang="en-US" sz="1500" dirty="0"/>
          </a:p>
        </p:txBody>
      </p:sp>
      <p:sp>
        <p:nvSpPr>
          <p:cNvPr id="5" name="Text 2"/>
          <p:cNvSpPr txBox="1"/>
          <p:nvPr/>
        </p:nvSpPr>
        <p:spPr>
          <a:xfrm>
            <a:off x="4937760" y="1371600"/>
            <a:ext cx="3749040" cy="115214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Ayoba, clientes nuevos: $26 por compra, retorno 1,6x</a:t>
            </a:r>
            <a:endParaRPr lang="en-US" sz="1200" dirty="0"/>
          </a:p>
          <a:p>
            <a:pPr marL="342900" indent="-342900">
              <a:spcAft>
                <a:spcPts val="400"/>
              </a:spcAft>
              <a:buSzPct val="100000"/>
              <a:buChar char="•"/>
            </a:pPr>
            <a:r>
              <a:rPr lang="en-US" sz="1200" dirty="0">
                <a:solidFill>
                  <a:schemeClr val="tx1"/>
                </a:solidFill>
              </a:rPr>
              <a:t>Brooklyn, retargeting dinámico: $26 por compra, retorno 2,9x</a:t>
            </a:r>
            <a:endParaRPr lang="en-US" sz="1200" dirty="0"/>
          </a:p>
          <a:p>
            <a:pPr marL="342900" indent="-342900">
              <a:spcAft>
                <a:spcPts val="400"/>
              </a:spcAft>
              <a:buSzPct val="100000"/>
              <a:buChar char="•"/>
            </a:pPr>
            <a:r>
              <a:rPr lang="en-US" sz="1200" dirty="0">
                <a:solidFill>
                  <a:schemeClr val="tx1"/>
                </a:solidFill>
              </a:rPr>
              <a:t>Beg &amp; Barker, retargeting dinámico: retorno 3,1x</a:t>
            </a:r>
            <a:endParaRPr lang="en-US" sz="1200" dirty="0"/>
          </a:p>
        </p:txBody>
      </p:sp>
      <p:sp>
        <p:nvSpPr>
          <p:cNvPr id="6" name="Text 3"/>
          <p:cNvSpPr txBox="1"/>
          <p:nvPr/>
        </p:nvSpPr>
        <p:spPr>
          <a:xfrm>
            <a:off x="4937760" y="2697480"/>
            <a:ext cx="3749040" cy="320040"/>
          </a:xfrm>
          <a:prstGeom prst="rect">
            <a:avLst/>
          </a:prstGeom>
          <a:noFill/>
          <a:ln/>
        </p:spPr>
        <p:txBody>
          <a:bodyPr wrap="square" lIns="0" tIns="0" rIns="0" bIns="0" rtlCol="0" anchor="ctr"/>
          <a:lstStyle/>
          <a:p>
            <a:pPr indent="0" marL="0">
              <a:buNone/>
            </a:pPr>
            <a:r>
              <a:rPr lang="en-US" sz="1500" b="1" dirty="0">
                <a:solidFill>
                  <a:schemeClr val="accent1"/>
                </a:solidFill>
                <a:latin typeface="Cambria" pitchFamily="34" charset="0"/>
                <a:ea typeface="Cambria" pitchFamily="34" charset="-122"/>
                <a:cs typeface="Cambria" pitchFamily="34" charset="-120"/>
              </a:rPr>
              <a:t>Lo que estamos corrigiendo</a:t>
            </a:r>
            <a:endParaRPr lang="en-US" sz="1500" dirty="0"/>
          </a:p>
        </p:txBody>
      </p:sp>
      <p:sp>
        <p:nvSpPr>
          <p:cNvPr id="7" name="Text 4"/>
          <p:cNvSpPr txBox="1"/>
          <p:nvPr/>
        </p:nvSpPr>
        <p:spPr>
          <a:xfrm>
            <a:off x="4937760" y="3063240"/>
            <a:ext cx="3749040" cy="7680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Brooklyn, clientes nuevos: $170 por compra → presupuesto recortado el 13 oct</a:t>
            </a:r>
            <a:endParaRPr lang="en-US" sz="1200" dirty="0"/>
          </a:p>
          <a:p>
            <a:pPr marL="342900" indent="-342900">
              <a:spcAft>
                <a:spcPts val="400"/>
              </a:spcAft>
              <a:buSzPct val="100000"/>
              <a:buChar char="•"/>
            </a:pPr>
            <a:r>
              <a:rPr lang="en-US" sz="1200" dirty="0">
                <a:solidFill>
                  <a:schemeClr val="tx1"/>
                </a:solidFill>
              </a:rPr>
              <a:t>Retargeting nuevo (desde el 10 oct) aún en aprendizaje; le subimos presupuesto en Ayoba y Beg &amp; Barker</a:t>
            </a:r>
            <a:endParaRPr lang="en-US" sz="1200" dirty="0"/>
          </a:p>
        </p:txBody>
      </p:sp>
      <p:sp>
        <p:nvSpPr>
          <p:cNvPr id="8" name="Text 5"/>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Meta Ads Manager, compras y retorno atribuidos por la plataforma. No incluye Google Ads ni el total de ventas de la tienda (ver dashboards).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Stormberg Status">
  <a:themeElements>
    <a:clrScheme name="Stormberg Status">
      <a:dk1>
        <a:srgbClr val="2A1F1C"/>
      </a:dk1>
      <a:lt1>
        <a:srgbClr val="FFFFFF"/>
      </a:lt1>
      <a:dk2>
        <a:srgbClr val="5A3A2E"/>
      </a:dk2>
      <a:lt2>
        <a:srgbClr val="F3EEE9"/>
      </a:lt2>
      <a:accent1>
        <a:srgbClr val="B4472B"/>
      </a:accent1>
      <a:accent2>
        <a:srgbClr val="2E6B4F"/>
      </a:accent2>
      <a:accent3>
        <a:srgbClr val="C98418"/>
      </a:accent3>
      <a:accent4>
        <a:srgbClr val="8C7B70"/>
      </a:accent4>
      <a:accent5>
        <a:srgbClr val="6E2A1E"/>
      </a:accent5>
      <a:accent6>
        <a:srgbClr val="C9B8A6"/>
      </a:accent6>
      <a:hlink>
        <a:srgbClr val="B4472B"/>
      </a:hlink>
      <a:folHlink>
        <a:srgbClr val="6E2A1E"/>
      </a:folHlink>
    </a:clrScheme>
    <a:fontScheme name="Stormberg Statu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Stormberg Foods: avances de octubre</dc:title>
  <dc:subject>PptxGenJS Presentation</dc:subject>
  <dc:creator>Rebold</dc:creator>
  <cp:lastModifiedBy>Rebold</cp:lastModifiedBy>
  <cp:revision>1</cp:revision>
  <dcterms:created xsi:type="dcterms:W3CDTF">2026-10-14T16:27:16Z</dcterms:created>
  <dcterms:modified xsi:type="dcterms:W3CDTF">2026-10-14T16:27:16Z</dcterms:modified>
</cp:coreProperties>
</file>